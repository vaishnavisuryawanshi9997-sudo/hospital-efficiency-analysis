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7" r:id="rId3"/>
    <p:sldId id="277" r:id="rId4"/>
    <p:sldId id="259" r:id="rId5"/>
    <p:sldId id="260" r:id="rId6"/>
    <p:sldId id="261" r:id="rId7"/>
    <p:sldId id="278" r:id="rId8"/>
    <p:sldId id="279" r:id="rId9"/>
    <p:sldId id="262" r:id="rId10"/>
    <p:sldId id="263" r:id="rId11"/>
    <p:sldId id="264" r:id="rId12"/>
    <p:sldId id="266" r:id="rId13"/>
    <p:sldId id="274" r:id="rId14"/>
    <p:sldId id="275" r:id="rId15"/>
    <p:sldId id="276" r:id="rId16"/>
    <p:sldId id="270" r:id="rId17"/>
    <p:sldId id="271" r:id="rId18"/>
    <p:sldId id="272" r:id="rId19"/>
    <p:sldId id="27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Vaishnavi\Downloads\hospital%20datase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Vaishnavi\Downloads\hospital%20dataset.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Vaishnavi\Downloads\hospital%20dataset.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Vaishnavi\Downloads\hospital%20dataset.xlsx"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[hospital dataset.xlsx]Department vs avg_wait_time!PivotTable5</c:name>
    <c:fmtId val="20"/>
  </c:pivotSource>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'Department vs avg_wait_time'!$B$3</c:f>
              <c:strCache>
                <c:ptCount val="1"/>
                <c:pt idx="0">
                  <c:v>Total</c:v>
                </c:pt>
              </c:strCache>
            </c:strRef>
          </c:tx>
          <c:spPr>
            <a:solidFill>
              <a:schemeClr val="accent1"/>
            </a:solidFill>
            <a:ln>
              <a:noFill/>
            </a:ln>
            <a:effectLst/>
            <a:sp3d/>
          </c:spPr>
          <c:invertIfNegative val="0"/>
          <c:cat>
            <c:strRef>
              <c:f>'Department vs avg_wait_time'!$A$4:$A$7</c:f>
              <c:strCache>
                <c:ptCount val="3"/>
                <c:pt idx="0">
                  <c:v>Cardiology</c:v>
                </c:pt>
                <c:pt idx="1">
                  <c:v>Orthopedics</c:v>
                </c:pt>
                <c:pt idx="2">
                  <c:v>Radiology</c:v>
                </c:pt>
              </c:strCache>
            </c:strRef>
          </c:cat>
          <c:val>
            <c:numRef>
              <c:f>'Department vs avg_wait_time'!$B$4:$B$7</c:f>
              <c:numCache>
                <c:formatCode>@</c:formatCode>
                <c:ptCount val="3"/>
                <c:pt idx="0">
                  <c:v>28.3</c:v>
                </c:pt>
                <c:pt idx="1">
                  <c:v>56.2</c:v>
                </c:pt>
                <c:pt idx="2">
                  <c:v>44.6</c:v>
                </c:pt>
              </c:numCache>
            </c:numRef>
          </c:val>
          <c:extLst>
            <c:ext xmlns:c16="http://schemas.microsoft.com/office/drawing/2014/chart" uri="{C3380CC4-5D6E-409C-BE32-E72D297353CC}">
              <c16:uniqueId val="{00000000-FCC4-4D7D-9109-3D1496BDF4D2}"/>
            </c:ext>
          </c:extLst>
        </c:ser>
        <c:dLbls>
          <c:showLegendKey val="0"/>
          <c:showVal val="0"/>
          <c:showCatName val="0"/>
          <c:showSerName val="0"/>
          <c:showPercent val="0"/>
          <c:showBubbleSize val="0"/>
        </c:dLbls>
        <c:gapWidth val="150"/>
        <c:shape val="box"/>
        <c:axId val="362152544"/>
        <c:axId val="362153024"/>
        <c:axId val="0"/>
      </c:bar3DChart>
      <c:catAx>
        <c:axId val="362152544"/>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62153024"/>
        <c:crosses val="autoZero"/>
        <c:auto val="1"/>
        <c:lblAlgn val="ctr"/>
        <c:lblOffset val="100"/>
        <c:noMultiLvlLbl val="0"/>
      </c:catAx>
      <c:valAx>
        <c:axId val="362153024"/>
        <c:scaling>
          <c:orientation val="minMax"/>
        </c:scaling>
        <c:delete val="0"/>
        <c:axPos val="l"/>
        <c:majorGridlines>
          <c:spPr>
            <a:ln w="9525" cap="flat" cmpd="sng" algn="ctr">
              <a:solidFill>
                <a:schemeClr val="tx1">
                  <a:lumMod val="15000"/>
                  <a:lumOff val="85000"/>
                </a:schemeClr>
              </a:solidFill>
              <a:round/>
            </a:ln>
            <a:effectLst/>
          </c:spPr>
        </c:majorGridlines>
        <c:numFmt formatCode="@"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6215254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[hospital dataset.xlsx]registration vs avg_wait _time!PivotTable6</c:name>
    <c:fmtId val="9"/>
  </c:pivotSource>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'registration vs avg_wait _time'!$B$1</c:f>
              <c:strCache>
                <c:ptCount val="1"/>
                <c:pt idx="0">
                  <c:v>Total</c:v>
                </c:pt>
              </c:strCache>
            </c:strRef>
          </c:tx>
          <c:spPr>
            <a:solidFill>
              <a:schemeClr val="accent1"/>
            </a:solidFill>
            <a:ln>
              <a:noFill/>
            </a:ln>
            <a:effectLst/>
          </c:spPr>
          <c:invertIfNegative val="0"/>
          <c:cat>
            <c:strRef>
              <c:f>'registration vs avg_wait _time'!$A$2:$A$4</c:f>
              <c:strCache>
                <c:ptCount val="2"/>
                <c:pt idx="0">
                  <c:v>Digital</c:v>
                </c:pt>
                <c:pt idx="1">
                  <c:v>Manual</c:v>
                </c:pt>
              </c:strCache>
            </c:strRef>
          </c:cat>
          <c:val>
            <c:numRef>
              <c:f>'registration vs avg_wait _time'!$B$2:$B$4</c:f>
              <c:numCache>
                <c:formatCode>0.00</c:formatCode>
                <c:ptCount val="2"/>
                <c:pt idx="0">
                  <c:v>26.444444444444443</c:v>
                </c:pt>
                <c:pt idx="1">
                  <c:v>50.142857142857146</c:v>
                </c:pt>
              </c:numCache>
            </c:numRef>
          </c:val>
          <c:extLst>
            <c:ext xmlns:c16="http://schemas.microsoft.com/office/drawing/2014/chart" uri="{C3380CC4-5D6E-409C-BE32-E72D297353CC}">
              <c16:uniqueId val="{00000000-7184-4914-ACEB-726E9623AF6B}"/>
            </c:ext>
          </c:extLst>
        </c:ser>
        <c:dLbls>
          <c:showLegendKey val="0"/>
          <c:showVal val="0"/>
          <c:showCatName val="0"/>
          <c:showSerName val="0"/>
          <c:showPercent val="0"/>
          <c:showBubbleSize val="0"/>
        </c:dLbls>
        <c:gapWidth val="219"/>
        <c:overlap val="-27"/>
        <c:axId val="697294448"/>
        <c:axId val="697311248"/>
      </c:barChart>
      <c:catAx>
        <c:axId val="6972944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97311248"/>
        <c:crosses val="autoZero"/>
        <c:auto val="1"/>
        <c:lblAlgn val="ctr"/>
        <c:lblOffset val="100"/>
        <c:noMultiLvlLbl val="0"/>
      </c:catAx>
      <c:valAx>
        <c:axId val="697311248"/>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9729444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[hospital dataset.xlsx]Days vs time!PivotTable8</c:name>
    <c:fmtId val="21"/>
  </c:pivotSource>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15"/>
      <c:rotY val="2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line3DChart>
        <c:grouping val="standard"/>
        <c:varyColors val="0"/>
        <c:ser>
          <c:idx val="0"/>
          <c:order val="0"/>
          <c:tx>
            <c:strRef>
              <c:f>'Days vs time'!$B$3</c:f>
              <c:strCache>
                <c:ptCount val="1"/>
                <c:pt idx="0">
                  <c:v>Total</c:v>
                </c:pt>
              </c:strCache>
            </c:strRef>
          </c:tx>
          <c:spPr>
            <a:solidFill>
              <a:schemeClr val="accent1"/>
            </a:solidFill>
            <a:ln>
              <a:noFill/>
            </a:ln>
            <a:effectLst/>
            <a:sp3d/>
          </c:spPr>
          <c:cat>
            <c:strRef>
              <c:f>'Days vs time'!$A$4:$A$9</c:f>
              <c:strCache>
                <c:ptCount val="5"/>
                <c:pt idx="0">
                  <c:v>Monday</c:v>
                </c:pt>
                <c:pt idx="1">
                  <c:v>Tuesday</c:v>
                </c:pt>
                <c:pt idx="2">
                  <c:v>Wednesday</c:v>
                </c:pt>
                <c:pt idx="3">
                  <c:v>Thursday</c:v>
                </c:pt>
                <c:pt idx="4">
                  <c:v>Friday</c:v>
                </c:pt>
              </c:strCache>
            </c:strRef>
          </c:cat>
          <c:val>
            <c:numRef>
              <c:f>'Days vs time'!$B$4:$B$9</c:f>
              <c:numCache>
                <c:formatCode>0.00</c:formatCode>
                <c:ptCount val="5"/>
                <c:pt idx="0">
                  <c:v>42.333333333333336</c:v>
                </c:pt>
                <c:pt idx="1">
                  <c:v>42.833333333333336</c:v>
                </c:pt>
                <c:pt idx="2">
                  <c:v>43.333333333333336</c:v>
                </c:pt>
                <c:pt idx="3">
                  <c:v>42.333333333333336</c:v>
                </c:pt>
                <c:pt idx="4">
                  <c:v>44.333333333333336</c:v>
                </c:pt>
              </c:numCache>
            </c:numRef>
          </c:val>
          <c:smooth val="0"/>
          <c:extLst>
            <c:ext xmlns:c16="http://schemas.microsoft.com/office/drawing/2014/chart" uri="{C3380CC4-5D6E-409C-BE32-E72D297353CC}">
              <c16:uniqueId val="{00000000-BC28-40C0-8B9B-82B8C921A14A}"/>
            </c:ext>
          </c:extLst>
        </c:ser>
        <c:dLbls>
          <c:showLegendKey val="0"/>
          <c:showVal val="0"/>
          <c:showCatName val="0"/>
          <c:showSerName val="0"/>
          <c:showPercent val="0"/>
          <c:showBubbleSize val="0"/>
        </c:dLbls>
        <c:axId val="366611456"/>
        <c:axId val="1037431264"/>
        <c:axId val="773246576"/>
      </c:line3DChart>
      <c:catAx>
        <c:axId val="36661145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37431264"/>
        <c:crosses val="autoZero"/>
        <c:auto val="1"/>
        <c:lblAlgn val="ctr"/>
        <c:lblOffset val="100"/>
        <c:noMultiLvlLbl val="0"/>
      </c:catAx>
      <c:valAx>
        <c:axId val="1037431264"/>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66611456"/>
        <c:crosses val="autoZero"/>
        <c:crossBetween val="between"/>
      </c:valAx>
      <c:serAx>
        <c:axId val="773246576"/>
        <c:scaling>
          <c:orientation val="minMax"/>
        </c:scaling>
        <c:delete val="0"/>
        <c:axPos val="b"/>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37431264"/>
        <c:crosses val="autoZero"/>
      </c:ser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[hospital dataset.xlsx]Department vs Staff Available!PivotTable7</c:name>
    <c:fmtId val="15"/>
  </c:pivotSource>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bar"/>
        <c:grouping val="clustered"/>
        <c:varyColors val="0"/>
        <c:ser>
          <c:idx val="0"/>
          <c:order val="0"/>
          <c:tx>
            <c:strRef>
              <c:f>'Department vs Staff Available'!$B$3</c:f>
              <c:strCache>
                <c:ptCount val="1"/>
                <c:pt idx="0">
                  <c:v>Total</c:v>
                </c:pt>
              </c:strCache>
            </c:strRef>
          </c:tx>
          <c:spPr>
            <a:solidFill>
              <a:schemeClr val="accent1"/>
            </a:solidFill>
            <a:ln>
              <a:noFill/>
            </a:ln>
            <a:effectLst/>
            <a:sp3d/>
          </c:spPr>
          <c:invertIfNegative val="0"/>
          <c:cat>
            <c:strRef>
              <c:f>'Department vs Staff Available'!$A$4:$A$7</c:f>
              <c:strCache>
                <c:ptCount val="3"/>
                <c:pt idx="0">
                  <c:v>Cardiology</c:v>
                </c:pt>
                <c:pt idx="1">
                  <c:v>Orthopedics</c:v>
                </c:pt>
                <c:pt idx="2">
                  <c:v>Radiology</c:v>
                </c:pt>
              </c:strCache>
            </c:strRef>
          </c:cat>
          <c:val>
            <c:numRef>
              <c:f>'Department vs Staff Available'!$B$4:$B$7</c:f>
              <c:numCache>
                <c:formatCode>@</c:formatCode>
                <c:ptCount val="3"/>
                <c:pt idx="0">
                  <c:v>18</c:v>
                </c:pt>
                <c:pt idx="1">
                  <c:v>18</c:v>
                </c:pt>
                <c:pt idx="2">
                  <c:v>23</c:v>
                </c:pt>
              </c:numCache>
            </c:numRef>
          </c:val>
          <c:extLst>
            <c:ext xmlns:c16="http://schemas.microsoft.com/office/drawing/2014/chart" uri="{C3380CC4-5D6E-409C-BE32-E72D297353CC}">
              <c16:uniqueId val="{00000000-2AFE-4781-B3FF-3B4799FE90FA}"/>
            </c:ext>
          </c:extLst>
        </c:ser>
        <c:dLbls>
          <c:showLegendKey val="0"/>
          <c:showVal val="0"/>
          <c:showCatName val="0"/>
          <c:showSerName val="0"/>
          <c:showPercent val="0"/>
          <c:showBubbleSize val="0"/>
        </c:dLbls>
        <c:gapWidth val="150"/>
        <c:shape val="box"/>
        <c:axId val="362150144"/>
        <c:axId val="362148224"/>
        <c:axId val="0"/>
      </c:bar3DChart>
      <c:catAx>
        <c:axId val="362150144"/>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62148224"/>
        <c:crosses val="autoZero"/>
        <c:auto val="1"/>
        <c:lblAlgn val="ctr"/>
        <c:lblOffset val="100"/>
        <c:noMultiLvlLbl val="0"/>
      </c:catAx>
      <c:valAx>
        <c:axId val="362148224"/>
        <c:scaling>
          <c:orientation val="minMax"/>
        </c:scaling>
        <c:delete val="0"/>
        <c:axPos val="b"/>
        <c:majorGridlines>
          <c:spPr>
            <a:ln w="9525" cap="flat" cmpd="sng" algn="ctr">
              <a:solidFill>
                <a:schemeClr val="tx1">
                  <a:lumMod val="15000"/>
                  <a:lumOff val="85000"/>
                </a:schemeClr>
              </a:solidFill>
              <a:round/>
            </a:ln>
            <a:effectLst/>
          </c:spPr>
        </c:majorGridlines>
        <c:numFmt formatCode="@"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6215014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0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_rels/drawing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47ECA64-1AB6-45EE-A4B7-F1C4F67C8398}" type="doc">
      <dgm:prSet loTypeId="urn:microsoft.com/office/officeart/2005/8/layout/vProcess5" loCatId="process" qsTypeId="urn:microsoft.com/office/officeart/2005/8/quickstyle/simple1" qsCatId="simple" csTypeId="urn:microsoft.com/office/officeart/2018/5/colors/Iconchunking_neutralicon_colorful1" csCatId="colorful" phldr="1"/>
      <dgm:spPr/>
      <dgm:t>
        <a:bodyPr/>
        <a:lstStyle/>
        <a:p>
          <a:endParaRPr lang="en-US"/>
        </a:p>
      </dgm:t>
    </dgm:pt>
    <dgm:pt modelId="{417D238E-C9A6-4F3D-A61B-BC84C00781EA}">
      <dgm:prSet/>
      <dgm:spPr/>
      <dgm:t>
        <a:bodyPr/>
        <a:lstStyle/>
        <a:p>
          <a:pPr>
            <a:lnSpc>
              <a:spcPct val="100000"/>
            </a:lnSpc>
          </a:pPr>
          <a:r>
            <a:rPr lang="en-US" b="1"/>
            <a:t>Functional Requirements:-</a:t>
          </a:r>
          <a:endParaRPr lang="en-US"/>
        </a:p>
      </dgm:t>
    </dgm:pt>
    <dgm:pt modelId="{820B0D3F-AFC0-4A58-A4DA-EDDA327766F1}" type="parTrans" cxnId="{668564ED-8E68-4723-A212-0F581C074325}">
      <dgm:prSet/>
      <dgm:spPr/>
      <dgm:t>
        <a:bodyPr/>
        <a:lstStyle/>
        <a:p>
          <a:endParaRPr lang="en-US"/>
        </a:p>
      </dgm:t>
    </dgm:pt>
    <dgm:pt modelId="{4FF96E07-7CF7-450F-91AB-10D914FADAA2}" type="sibTrans" cxnId="{668564ED-8E68-4723-A212-0F581C074325}">
      <dgm:prSet/>
      <dgm:spPr/>
      <dgm:t>
        <a:bodyPr/>
        <a:lstStyle/>
        <a:p>
          <a:pPr>
            <a:lnSpc>
              <a:spcPct val="100000"/>
            </a:lnSpc>
          </a:pPr>
          <a:endParaRPr lang="en-US"/>
        </a:p>
      </dgm:t>
    </dgm:pt>
    <dgm:pt modelId="{91749410-5834-4470-AE0A-CC8BAA603BA5}">
      <dgm:prSet/>
      <dgm:spPr/>
      <dgm:t>
        <a:bodyPr/>
        <a:lstStyle/>
        <a:p>
          <a:pPr>
            <a:lnSpc>
              <a:spcPct val="100000"/>
            </a:lnSpc>
          </a:pPr>
          <a:r>
            <a:rPr lang="en-US" dirty="0"/>
            <a:t>FR1 – System should allow digital patient registration</a:t>
          </a:r>
        </a:p>
      </dgm:t>
    </dgm:pt>
    <dgm:pt modelId="{1A78D023-F21B-4D8F-8CAF-78D12E10CB8C}" type="parTrans" cxnId="{3F2BD218-8D21-49AB-B0DC-BAD3F0F04161}">
      <dgm:prSet/>
      <dgm:spPr/>
      <dgm:t>
        <a:bodyPr/>
        <a:lstStyle/>
        <a:p>
          <a:endParaRPr lang="en-US"/>
        </a:p>
      </dgm:t>
    </dgm:pt>
    <dgm:pt modelId="{1A6636F5-8109-4410-82BB-A9CDEDCB5B53}" type="sibTrans" cxnId="{3F2BD218-8D21-49AB-B0DC-BAD3F0F04161}">
      <dgm:prSet/>
      <dgm:spPr/>
      <dgm:t>
        <a:bodyPr/>
        <a:lstStyle/>
        <a:p>
          <a:pPr>
            <a:lnSpc>
              <a:spcPct val="100000"/>
            </a:lnSpc>
          </a:pPr>
          <a:endParaRPr lang="en-US"/>
        </a:p>
      </dgm:t>
    </dgm:pt>
    <dgm:pt modelId="{FB1C3B97-AB2C-4AF6-9220-E294F6C8CE5D}">
      <dgm:prSet/>
      <dgm:spPr/>
      <dgm:t>
        <a:bodyPr/>
        <a:lstStyle/>
        <a:p>
          <a:pPr>
            <a:lnSpc>
              <a:spcPct val="100000"/>
            </a:lnSpc>
          </a:pPr>
          <a:r>
            <a:rPr lang="en-US"/>
            <a:t>FR2 – System should allow appointment scheduling</a:t>
          </a:r>
          <a:br>
            <a:rPr lang="en-US"/>
          </a:br>
          <a:r>
            <a:rPr lang="en-US"/>
            <a:t>FR3 – System should notify departments when patient moves</a:t>
          </a:r>
        </a:p>
      </dgm:t>
    </dgm:pt>
    <dgm:pt modelId="{64E3E55B-6260-48DA-AE4D-6FE0052B1978}" type="parTrans" cxnId="{DA1DC44D-153A-4870-8B34-9E6D3EF405F0}">
      <dgm:prSet/>
      <dgm:spPr/>
      <dgm:t>
        <a:bodyPr/>
        <a:lstStyle/>
        <a:p>
          <a:endParaRPr lang="en-US"/>
        </a:p>
      </dgm:t>
    </dgm:pt>
    <dgm:pt modelId="{56AD0178-0007-4E80-BB83-7FFDEC8EAFAC}" type="sibTrans" cxnId="{DA1DC44D-153A-4870-8B34-9E6D3EF405F0}">
      <dgm:prSet/>
      <dgm:spPr/>
      <dgm:t>
        <a:bodyPr/>
        <a:lstStyle/>
        <a:p>
          <a:pPr>
            <a:lnSpc>
              <a:spcPct val="100000"/>
            </a:lnSpc>
          </a:pPr>
          <a:endParaRPr lang="en-US"/>
        </a:p>
      </dgm:t>
    </dgm:pt>
    <dgm:pt modelId="{15C8F293-6979-4DE5-8362-65DE6D5BADB9}">
      <dgm:prSet/>
      <dgm:spPr/>
      <dgm:t>
        <a:bodyPr/>
        <a:lstStyle/>
        <a:p>
          <a:pPr>
            <a:lnSpc>
              <a:spcPct val="100000"/>
            </a:lnSpc>
          </a:pPr>
          <a:r>
            <a:rPr lang="en-US" b="1"/>
            <a:t>Non-Functional Requirements :-</a:t>
          </a:r>
          <a:endParaRPr lang="en-US"/>
        </a:p>
      </dgm:t>
    </dgm:pt>
    <dgm:pt modelId="{094DC9E8-47F8-4EE9-BF2A-30195909DA82}" type="parTrans" cxnId="{160E1505-1C4D-471E-90C9-A641BDE4EBC6}">
      <dgm:prSet/>
      <dgm:spPr/>
      <dgm:t>
        <a:bodyPr/>
        <a:lstStyle/>
        <a:p>
          <a:endParaRPr lang="en-US"/>
        </a:p>
      </dgm:t>
    </dgm:pt>
    <dgm:pt modelId="{B7206432-1A1D-4D63-B25D-35C27115C75A}" type="sibTrans" cxnId="{160E1505-1C4D-471E-90C9-A641BDE4EBC6}">
      <dgm:prSet/>
      <dgm:spPr/>
      <dgm:t>
        <a:bodyPr/>
        <a:lstStyle/>
        <a:p>
          <a:pPr>
            <a:lnSpc>
              <a:spcPct val="100000"/>
            </a:lnSpc>
          </a:pPr>
          <a:endParaRPr lang="en-US"/>
        </a:p>
      </dgm:t>
    </dgm:pt>
    <dgm:pt modelId="{212F9E52-2DD1-4C19-B3EE-C6D99497BA99}">
      <dgm:prSet/>
      <dgm:spPr/>
      <dgm:t>
        <a:bodyPr/>
        <a:lstStyle/>
        <a:p>
          <a:pPr>
            <a:lnSpc>
              <a:spcPct val="100000"/>
            </a:lnSpc>
          </a:pPr>
          <a:r>
            <a:rPr lang="en-US"/>
            <a:t>NFR1 – System response time &lt; 2 seconds</a:t>
          </a:r>
          <a:br>
            <a:rPr lang="en-US"/>
          </a:br>
          <a:r>
            <a:rPr lang="en-US"/>
            <a:t>NFR2 – System availability 99%</a:t>
          </a:r>
          <a:br>
            <a:rPr lang="en-US"/>
          </a:br>
          <a:r>
            <a:rPr lang="en-US"/>
            <a:t>NFR3 – Patient data must be secure</a:t>
          </a:r>
        </a:p>
      </dgm:t>
    </dgm:pt>
    <dgm:pt modelId="{969556B1-0173-4C62-8582-8D55B27B3282}" type="parTrans" cxnId="{53625F75-73F3-4070-A379-0C36B1EC48FF}">
      <dgm:prSet/>
      <dgm:spPr/>
      <dgm:t>
        <a:bodyPr/>
        <a:lstStyle/>
        <a:p>
          <a:endParaRPr lang="en-US"/>
        </a:p>
      </dgm:t>
    </dgm:pt>
    <dgm:pt modelId="{A016569A-0E55-4F7B-8806-5E9148A19873}" type="sibTrans" cxnId="{53625F75-73F3-4070-A379-0C36B1EC48FF}">
      <dgm:prSet/>
      <dgm:spPr/>
      <dgm:t>
        <a:bodyPr/>
        <a:lstStyle/>
        <a:p>
          <a:endParaRPr lang="en-US"/>
        </a:p>
      </dgm:t>
    </dgm:pt>
    <dgm:pt modelId="{CB096C85-EA95-4FEC-9771-2CA2C7A9855E}" type="pres">
      <dgm:prSet presAssocID="{347ECA64-1AB6-45EE-A4B7-F1C4F67C8398}" presName="outerComposite" presStyleCnt="0">
        <dgm:presLayoutVars>
          <dgm:chMax val="5"/>
          <dgm:dir/>
          <dgm:resizeHandles val="exact"/>
        </dgm:presLayoutVars>
      </dgm:prSet>
      <dgm:spPr/>
    </dgm:pt>
    <dgm:pt modelId="{B377856A-EDE6-4893-AC9A-C3821820E415}" type="pres">
      <dgm:prSet presAssocID="{347ECA64-1AB6-45EE-A4B7-F1C4F67C8398}" presName="dummyMaxCanvas" presStyleCnt="0">
        <dgm:presLayoutVars/>
      </dgm:prSet>
      <dgm:spPr/>
    </dgm:pt>
    <dgm:pt modelId="{D15C6AFC-D3E1-452D-8602-792993310748}" type="pres">
      <dgm:prSet presAssocID="{347ECA64-1AB6-45EE-A4B7-F1C4F67C8398}" presName="FiveNodes_1" presStyleLbl="node1" presStyleIdx="0" presStyleCnt="5">
        <dgm:presLayoutVars>
          <dgm:bulletEnabled val="1"/>
        </dgm:presLayoutVars>
      </dgm:prSet>
      <dgm:spPr/>
    </dgm:pt>
    <dgm:pt modelId="{07D9D7A4-E08D-4CA0-9E49-9FB915E62F29}" type="pres">
      <dgm:prSet presAssocID="{347ECA64-1AB6-45EE-A4B7-F1C4F67C8398}" presName="FiveNodes_2" presStyleLbl="node1" presStyleIdx="1" presStyleCnt="5">
        <dgm:presLayoutVars>
          <dgm:bulletEnabled val="1"/>
        </dgm:presLayoutVars>
      </dgm:prSet>
      <dgm:spPr/>
    </dgm:pt>
    <dgm:pt modelId="{1C60CA21-91EE-4354-BE7D-76EA52293710}" type="pres">
      <dgm:prSet presAssocID="{347ECA64-1AB6-45EE-A4B7-F1C4F67C8398}" presName="FiveNodes_3" presStyleLbl="node1" presStyleIdx="2" presStyleCnt="5" custLinFactNeighborX="-2567" custLinFactNeighborY="-18924">
        <dgm:presLayoutVars>
          <dgm:bulletEnabled val="1"/>
        </dgm:presLayoutVars>
      </dgm:prSet>
      <dgm:spPr/>
    </dgm:pt>
    <dgm:pt modelId="{CE9859BB-B392-4EC2-9894-9DF0B660D940}" type="pres">
      <dgm:prSet presAssocID="{347ECA64-1AB6-45EE-A4B7-F1C4F67C8398}" presName="FiveNodes_4" presStyleLbl="node1" presStyleIdx="3" presStyleCnt="5">
        <dgm:presLayoutVars>
          <dgm:bulletEnabled val="1"/>
        </dgm:presLayoutVars>
      </dgm:prSet>
      <dgm:spPr/>
    </dgm:pt>
    <dgm:pt modelId="{46BC3EE4-A4D6-4D24-8BFC-B5A6C3FCDE39}" type="pres">
      <dgm:prSet presAssocID="{347ECA64-1AB6-45EE-A4B7-F1C4F67C8398}" presName="FiveNodes_5" presStyleLbl="node1" presStyleIdx="4" presStyleCnt="5">
        <dgm:presLayoutVars>
          <dgm:bulletEnabled val="1"/>
        </dgm:presLayoutVars>
      </dgm:prSet>
      <dgm:spPr/>
    </dgm:pt>
    <dgm:pt modelId="{D5A75E3A-9D24-44A7-8FD4-FC3948162838}" type="pres">
      <dgm:prSet presAssocID="{347ECA64-1AB6-45EE-A4B7-F1C4F67C8398}" presName="FiveConn_1-2" presStyleLbl="fgAccFollowNode1" presStyleIdx="0" presStyleCnt="4">
        <dgm:presLayoutVars>
          <dgm:bulletEnabled val="1"/>
        </dgm:presLayoutVars>
      </dgm:prSet>
      <dgm:spPr/>
    </dgm:pt>
    <dgm:pt modelId="{BA68EC8E-5E07-49F9-ACA6-551F36AF0264}" type="pres">
      <dgm:prSet presAssocID="{347ECA64-1AB6-45EE-A4B7-F1C4F67C8398}" presName="FiveConn_2-3" presStyleLbl="fgAccFollowNode1" presStyleIdx="1" presStyleCnt="4">
        <dgm:presLayoutVars>
          <dgm:bulletEnabled val="1"/>
        </dgm:presLayoutVars>
      </dgm:prSet>
      <dgm:spPr/>
    </dgm:pt>
    <dgm:pt modelId="{AA8134AC-95CA-4262-94A6-F4B76623BE31}" type="pres">
      <dgm:prSet presAssocID="{347ECA64-1AB6-45EE-A4B7-F1C4F67C8398}" presName="FiveConn_3-4" presStyleLbl="fgAccFollowNode1" presStyleIdx="2" presStyleCnt="4">
        <dgm:presLayoutVars>
          <dgm:bulletEnabled val="1"/>
        </dgm:presLayoutVars>
      </dgm:prSet>
      <dgm:spPr/>
    </dgm:pt>
    <dgm:pt modelId="{D61A1C4F-B9B1-4063-B322-FB2FA73555FF}" type="pres">
      <dgm:prSet presAssocID="{347ECA64-1AB6-45EE-A4B7-F1C4F67C8398}" presName="FiveConn_4-5" presStyleLbl="fgAccFollowNode1" presStyleIdx="3" presStyleCnt="4">
        <dgm:presLayoutVars>
          <dgm:bulletEnabled val="1"/>
        </dgm:presLayoutVars>
      </dgm:prSet>
      <dgm:spPr/>
    </dgm:pt>
    <dgm:pt modelId="{FE4CAFF9-5BA1-4529-A8DA-3996AF327256}" type="pres">
      <dgm:prSet presAssocID="{347ECA64-1AB6-45EE-A4B7-F1C4F67C8398}" presName="FiveNodes_1_text" presStyleLbl="node1" presStyleIdx="4" presStyleCnt="5">
        <dgm:presLayoutVars>
          <dgm:bulletEnabled val="1"/>
        </dgm:presLayoutVars>
      </dgm:prSet>
      <dgm:spPr/>
    </dgm:pt>
    <dgm:pt modelId="{371E01DB-BDA3-4ECC-83EA-638E3B4D928F}" type="pres">
      <dgm:prSet presAssocID="{347ECA64-1AB6-45EE-A4B7-F1C4F67C8398}" presName="FiveNodes_2_text" presStyleLbl="node1" presStyleIdx="4" presStyleCnt="5">
        <dgm:presLayoutVars>
          <dgm:bulletEnabled val="1"/>
        </dgm:presLayoutVars>
      </dgm:prSet>
      <dgm:spPr/>
    </dgm:pt>
    <dgm:pt modelId="{448795AD-0F23-4407-9065-464D7DAF559F}" type="pres">
      <dgm:prSet presAssocID="{347ECA64-1AB6-45EE-A4B7-F1C4F67C8398}" presName="FiveNodes_3_text" presStyleLbl="node1" presStyleIdx="4" presStyleCnt="5">
        <dgm:presLayoutVars>
          <dgm:bulletEnabled val="1"/>
        </dgm:presLayoutVars>
      </dgm:prSet>
      <dgm:spPr/>
    </dgm:pt>
    <dgm:pt modelId="{56B47099-8A15-42B8-9C42-0842BB3F975F}" type="pres">
      <dgm:prSet presAssocID="{347ECA64-1AB6-45EE-A4B7-F1C4F67C8398}" presName="FiveNodes_4_text" presStyleLbl="node1" presStyleIdx="4" presStyleCnt="5">
        <dgm:presLayoutVars>
          <dgm:bulletEnabled val="1"/>
        </dgm:presLayoutVars>
      </dgm:prSet>
      <dgm:spPr/>
    </dgm:pt>
    <dgm:pt modelId="{A5F225C1-1279-4DB4-9EDC-F70F5988C756}" type="pres">
      <dgm:prSet presAssocID="{347ECA64-1AB6-45EE-A4B7-F1C4F67C8398}" presName="FiveNodes_5_text" presStyleLbl="node1" presStyleIdx="4" presStyleCnt="5">
        <dgm:presLayoutVars>
          <dgm:bulletEnabled val="1"/>
        </dgm:presLayoutVars>
      </dgm:prSet>
      <dgm:spPr/>
    </dgm:pt>
  </dgm:ptLst>
  <dgm:cxnLst>
    <dgm:cxn modelId="{99700101-EA42-4029-824A-B5EE9DF10EEB}" type="presOf" srcId="{347ECA64-1AB6-45EE-A4B7-F1C4F67C8398}" destId="{CB096C85-EA95-4FEC-9771-2CA2C7A9855E}" srcOrd="0" destOrd="0" presId="urn:microsoft.com/office/officeart/2005/8/layout/vProcess5"/>
    <dgm:cxn modelId="{160E1505-1C4D-471E-90C9-A641BDE4EBC6}" srcId="{347ECA64-1AB6-45EE-A4B7-F1C4F67C8398}" destId="{15C8F293-6979-4DE5-8362-65DE6D5BADB9}" srcOrd="3" destOrd="0" parTransId="{094DC9E8-47F8-4EE9-BF2A-30195909DA82}" sibTransId="{B7206432-1A1D-4D63-B25D-35C27115C75A}"/>
    <dgm:cxn modelId="{47534B18-8AE6-4218-BBEF-8B95D1E15976}" type="presOf" srcId="{212F9E52-2DD1-4C19-B3EE-C6D99497BA99}" destId="{46BC3EE4-A4D6-4D24-8BFC-B5A6C3FCDE39}" srcOrd="0" destOrd="0" presId="urn:microsoft.com/office/officeart/2005/8/layout/vProcess5"/>
    <dgm:cxn modelId="{3F2BD218-8D21-49AB-B0DC-BAD3F0F04161}" srcId="{347ECA64-1AB6-45EE-A4B7-F1C4F67C8398}" destId="{91749410-5834-4470-AE0A-CC8BAA603BA5}" srcOrd="1" destOrd="0" parTransId="{1A78D023-F21B-4D8F-8CAF-78D12E10CB8C}" sibTransId="{1A6636F5-8109-4410-82BB-A9CDEDCB5B53}"/>
    <dgm:cxn modelId="{75D0442A-CC9E-4BF0-83CC-3BCB8CA04E9E}" type="presOf" srcId="{B7206432-1A1D-4D63-B25D-35C27115C75A}" destId="{D61A1C4F-B9B1-4063-B322-FB2FA73555FF}" srcOrd="0" destOrd="0" presId="urn:microsoft.com/office/officeart/2005/8/layout/vProcess5"/>
    <dgm:cxn modelId="{DD2BA22A-970E-4A30-9654-1389C9D6D7D5}" type="presOf" srcId="{4FF96E07-7CF7-450F-91AB-10D914FADAA2}" destId="{D5A75E3A-9D24-44A7-8FD4-FC3948162838}" srcOrd="0" destOrd="0" presId="urn:microsoft.com/office/officeart/2005/8/layout/vProcess5"/>
    <dgm:cxn modelId="{0143802E-1E27-47E6-95CB-ACAB6B3E43E4}" type="presOf" srcId="{FB1C3B97-AB2C-4AF6-9220-E294F6C8CE5D}" destId="{448795AD-0F23-4407-9065-464D7DAF559F}" srcOrd="1" destOrd="0" presId="urn:microsoft.com/office/officeart/2005/8/layout/vProcess5"/>
    <dgm:cxn modelId="{681C6E31-9BCF-45F4-AE45-E784429B9A8F}" type="presOf" srcId="{91749410-5834-4470-AE0A-CC8BAA603BA5}" destId="{07D9D7A4-E08D-4CA0-9E49-9FB915E62F29}" srcOrd="0" destOrd="0" presId="urn:microsoft.com/office/officeart/2005/8/layout/vProcess5"/>
    <dgm:cxn modelId="{DA1DC44D-153A-4870-8B34-9E6D3EF405F0}" srcId="{347ECA64-1AB6-45EE-A4B7-F1C4F67C8398}" destId="{FB1C3B97-AB2C-4AF6-9220-E294F6C8CE5D}" srcOrd="2" destOrd="0" parTransId="{64E3E55B-6260-48DA-AE4D-6FE0052B1978}" sibTransId="{56AD0178-0007-4E80-BB83-7FFDEC8EAFAC}"/>
    <dgm:cxn modelId="{0C678374-5AD2-4ABD-9EF4-7FEA4055E082}" type="presOf" srcId="{15C8F293-6979-4DE5-8362-65DE6D5BADB9}" destId="{56B47099-8A15-42B8-9C42-0842BB3F975F}" srcOrd="1" destOrd="0" presId="urn:microsoft.com/office/officeart/2005/8/layout/vProcess5"/>
    <dgm:cxn modelId="{53625F75-73F3-4070-A379-0C36B1EC48FF}" srcId="{347ECA64-1AB6-45EE-A4B7-F1C4F67C8398}" destId="{212F9E52-2DD1-4C19-B3EE-C6D99497BA99}" srcOrd="4" destOrd="0" parTransId="{969556B1-0173-4C62-8582-8D55B27B3282}" sibTransId="{A016569A-0E55-4F7B-8806-5E9148A19873}"/>
    <dgm:cxn modelId="{6B64CC77-0FDD-482A-8023-1062BE66E2CC}" type="presOf" srcId="{212F9E52-2DD1-4C19-B3EE-C6D99497BA99}" destId="{A5F225C1-1279-4DB4-9EDC-F70F5988C756}" srcOrd="1" destOrd="0" presId="urn:microsoft.com/office/officeart/2005/8/layout/vProcess5"/>
    <dgm:cxn modelId="{FB9CE47A-207B-4EF4-8618-29963C89BF0F}" type="presOf" srcId="{15C8F293-6979-4DE5-8362-65DE6D5BADB9}" destId="{CE9859BB-B392-4EC2-9894-9DF0B660D940}" srcOrd="0" destOrd="0" presId="urn:microsoft.com/office/officeart/2005/8/layout/vProcess5"/>
    <dgm:cxn modelId="{2FA2C18B-B593-4089-A9CC-DEBB0FEF83B0}" type="presOf" srcId="{56AD0178-0007-4E80-BB83-7FFDEC8EAFAC}" destId="{AA8134AC-95CA-4262-94A6-F4B76623BE31}" srcOrd="0" destOrd="0" presId="urn:microsoft.com/office/officeart/2005/8/layout/vProcess5"/>
    <dgm:cxn modelId="{9D477D9A-E532-47C8-AAAC-41A93002370C}" type="presOf" srcId="{1A6636F5-8109-4410-82BB-A9CDEDCB5B53}" destId="{BA68EC8E-5E07-49F9-ACA6-551F36AF0264}" srcOrd="0" destOrd="0" presId="urn:microsoft.com/office/officeart/2005/8/layout/vProcess5"/>
    <dgm:cxn modelId="{8B31FAAB-5299-4266-85D2-093A6A193621}" type="presOf" srcId="{417D238E-C9A6-4F3D-A61B-BC84C00781EA}" destId="{FE4CAFF9-5BA1-4529-A8DA-3996AF327256}" srcOrd="1" destOrd="0" presId="urn:microsoft.com/office/officeart/2005/8/layout/vProcess5"/>
    <dgm:cxn modelId="{1DBBA2B5-46EA-47A6-B024-8FB57DB783CD}" type="presOf" srcId="{91749410-5834-4470-AE0A-CC8BAA603BA5}" destId="{371E01DB-BDA3-4ECC-83EA-638E3B4D928F}" srcOrd="1" destOrd="0" presId="urn:microsoft.com/office/officeart/2005/8/layout/vProcess5"/>
    <dgm:cxn modelId="{9B0EDBC6-B389-43CD-93FA-665A8A3CA4F7}" type="presOf" srcId="{FB1C3B97-AB2C-4AF6-9220-E294F6C8CE5D}" destId="{1C60CA21-91EE-4354-BE7D-76EA52293710}" srcOrd="0" destOrd="0" presId="urn:microsoft.com/office/officeart/2005/8/layout/vProcess5"/>
    <dgm:cxn modelId="{743160D1-61FA-418A-99F2-1451EE4A6F97}" type="presOf" srcId="{417D238E-C9A6-4F3D-A61B-BC84C00781EA}" destId="{D15C6AFC-D3E1-452D-8602-792993310748}" srcOrd="0" destOrd="0" presId="urn:microsoft.com/office/officeart/2005/8/layout/vProcess5"/>
    <dgm:cxn modelId="{668564ED-8E68-4723-A212-0F581C074325}" srcId="{347ECA64-1AB6-45EE-A4B7-F1C4F67C8398}" destId="{417D238E-C9A6-4F3D-A61B-BC84C00781EA}" srcOrd="0" destOrd="0" parTransId="{820B0D3F-AFC0-4A58-A4DA-EDDA327766F1}" sibTransId="{4FF96E07-7CF7-450F-91AB-10D914FADAA2}"/>
    <dgm:cxn modelId="{8CC23E4E-4121-4A08-B533-11374400DA55}" type="presParOf" srcId="{CB096C85-EA95-4FEC-9771-2CA2C7A9855E}" destId="{B377856A-EDE6-4893-AC9A-C3821820E415}" srcOrd="0" destOrd="0" presId="urn:microsoft.com/office/officeart/2005/8/layout/vProcess5"/>
    <dgm:cxn modelId="{BE8B92C5-70E6-43CE-9B21-DBDD4288489F}" type="presParOf" srcId="{CB096C85-EA95-4FEC-9771-2CA2C7A9855E}" destId="{D15C6AFC-D3E1-452D-8602-792993310748}" srcOrd="1" destOrd="0" presId="urn:microsoft.com/office/officeart/2005/8/layout/vProcess5"/>
    <dgm:cxn modelId="{2D8D0BAD-F024-4954-A5F7-7996B5BF34BC}" type="presParOf" srcId="{CB096C85-EA95-4FEC-9771-2CA2C7A9855E}" destId="{07D9D7A4-E08D-4CA0-9E49-9FB915E62F29}" srcOrd="2" destOrd="0" presId="urn:microsoft.com/office/officeart/2005/8/layout/vProcess5"/>
    <dgm:cxn modelId="{09478901-A561-4791-830A-E538A307D125}" type="presParOf" srcId="{CB096C85-EA95-4FEC-9771-2CA2C7A9855E}" destId="{1C60CA21-91EE-4354-BE7D-76EA52293710}" srcOrd="3" destOrd="0" presId="urn:microsoft.com/office/officeart/2005/8/layout/vProcess5"/>
    <dgm:cxn modelId="{799A31FF-4995-4A6D-9F97-9A0BE4C72EE2}" type="presParOf" srcId="{CB096C85-EA95-4FEC-9771-2CA2C7A9855E}" destId="{CE9859BB-B392-4EC2-9894-9DF0B660D940}" srcOrd="4" destOrd="0" presId="urn:microsoft.com/office/officeart/2005/8/layout/vProcess5"/>
    <dgm:cxn modelId="{ED2A45BF-2735-4D3E-A0D0-20209955E83D}" type="presParOf" srcId="{CB096C85-EA95-4FEC-9771-2CA2C7A9855E}" destId="{46BC3EE4-A4D6-4D24-8BFC-B5A6C3FCDE39}" srcOrd="5" destOrd="0" presId="urn:microsoft.com/office/officeart/2005/8/layout/vProcess5"/>
    <dgm:cxn modelId="{D1AA2CBF-07A0-4077-9AEE-C3E0321731AB}" type="presParOf" srcId="{CB096C85-EA95-4FEC-9771-2CA2C7A9855E}" destId="{D5A75E3A-9D24-44A7-8FD4-FC3948162838}" srcOrd="6" destOrd="0" presId="urn:microsoft.com/office/officeart/2005/8/layout/vProcess5"/>
    <dgm:cxn modelId="{33F655D3-D394-4481-8098-DA0BB13393FE}" type="presParOf" srcId="{CB096C85-EA95-4FEC-9771-2CA2C7A9855E}" destId="{BA68EC8E-5E07-49F9-ACA6-551F36AF0264}" srcOrd="7" destOrd="0" presId="urn:microsoft.com/office/officeart/2005/8/layout/vProcess5"/>
    <dgm:cxn modelId="{645A008E-B406-41FA-B654-DDEB37C24242}" type="presParOf" srcId="{CB096C85-EA95-4FEC-9771-2CA2C7A9855E}" destId="{AA8134AC-95CA-4262-94A6-F4B76623BE31}" srcOrd="8" destOrd="0" presId="urn:microsoft.com/office/officeart/2005/8/layout/vProcess5"/>
    <dgm:cxn modelId="{033ADDF4-FCC9-4F3A-BF2E-BFBDD186F9FF}" type="presParOf" srcId="{CB096C85-EA95-4FEC-9771-2CA2C7A9855E}" destId="{D61A1C4F-B9B1-4063-B322-FB2FA73555FF}" srcOrd="9" destOrd="0" presId="urn:microsoft.com/office/officeart/2005/8/layout/vProcess5"/>
    <dgm:cxn modelId="{AA32E104-25F8-4930-BD9D-2B84415A4699}" type="presParOf" srcId="{CB096C85-EA95-4FEC-9771-2CA2C7A9855E}" destId="{FE4CAFF9-5BA1-4529-A8DA-3996AF327256}" srcOrd="10" destOrd="0" presId="urn:microsoft.com/office/officeart/2005/8/layout/vProcess5"/>
    <dgm:cxn modelId="{ADA47E14-8311-47DC-BE15-D4CE0C9CCF27}" type="presParOf" srcId="{CB096C85-EA95-4FEC-9771-2CA2C7A9855E}" destId="{371E01DB-BDA3-4ECC-83EA-638E3B4D928F}" srcOrd="11" destOrd="0" presId="urn:microsoft.com/office/officeart/2005/8/layout/vProcess5"/>
    <dgm:cxn modelId="{46DB69EF-313B-45FD-AB1B-DE3E020B33AB}" type="presParOf" srcId="{CB096C85-EA95-4FEC-9771-2CA2C7A9855E}" destId="{448795AD-0F23-4407-9065-464D7DAF559F}" srcOrd="12" destOrd="0" presId="urn:microsoft.com/office/officeart/2005/8/layout/vProcess5"/>
    <dgm:cxn modelId="{19703676-1C67-4C80-925C-EEA319A557CC}" type="presParOf" srcId="{CB096C85-EA95-4FEC-9771-2CA2C7A9855E}" destId="{56B47099-8A15-42B8-9C42-0842BB3F975F}" srcOrd="13" destOrd="0" presId="urn:microsoft.com/office/officeart/2005/8/layout/vProcess5"/>
    <dgm:cxn modelId="{92AA08E8-C1A8-4134-88F1-619B1A94585F}" type="presParOf" srcId="{CB096C85-EA95-4FEC-9771-2CA2C7A9855E}" destId="{A5F225C1-1279-4DB4-9EDC-F70F5988C756}"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18179F6-CE2B-4F9D-AF6C-FAF2866D9F5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7422B84A-8A98-41D2-922A-64D0093980FC}">
      <dgm:prSet/>
      <dgm:spPr/>
      <dgm:t>
        <a:bodyPr/>
        <a:lstStyle/>
        <a:p>
          <a:pPr>
            <a:lnSpc>
              <a:spcPct val="100000"/>
            </a:lnSpc>
          </a:pPr>
          <a:r>
            <a:rPr lang="en-US" b="1" dirty="0"/>
            <a:t>Risk Analysis</a:t>
          </a:r>
          <a:endParaRPr lang="en-US" dirty="0"/>
        </a:p>
      </dgm:t>
    </dgm:pt>
    <dgm:pt modelId="{FF825F6A-D6EC-42C2-B6B2-691FBB7224C0}" type="parTrans" cxnId="{3023FF86-16EF-4132-9326-766E06136565}">
      <dgm:prSet/>
      <dgm:spPr/>
      <dgm:t>
        <a:bodyPr/>
        <a:lstStyle/>
        <a:p>
          <a:endParaRPr lang="en-US"/>
        </a:p>
      </dgm:t>
    </dgm:pt>
    <dgm:pt modelId="{9F807859-8022-4906-9A56-719E029B105F}" type="sibTrans" cxnId="{3023FF86-16EF-4132-9326-766E06136565}">
      <dgm:prSet/>
      <dgm:spPr/>
      <dgm:t>
        <a:bodyPr/>
        <a:lstStyle/>
        <a:p>
          <a:endParaRPr lang="en-US"/>
        </a:p>
      </dgm:t>
    </dgm:pt>
    <dgm:pt modelId="{77AB7B47-18F1-4446-9C19-EEB61C9A0E85}">
      <dgm:prSet/>
      <dgm:spPr/>
      <dgm:t>
        <a:bodyPr/>
        <a:lstStyle/>
        <a:p>
          <a:pPr>
            <a:lnSpc>
              <a:spcPct val="100000"/>
            </a:lnSpc>
          </a:pPr>
          <a:r>
            <a:rPr lang="en-US"/>
            <a:t>During the implementation of the proposed digital workflow and scheduling system, several operational and technical risks may arise. These risks were identified and mitigation strategies were developed to ensure smooth adoption and minimal disruption to hospital operations.</a:t>
          </a:r>
        </a:p>
      </dgm:t>
    </dgm:pt>
    <dgm:pt modelId="{A1CCB08E-C932-4234-8B5F-2A2DBACED4BF}" type="parTrans" cxnId="{E3A7AF0E-DBF6-4CEA-992B-23F4024ADDA2}">
      <dgm:prSet/>
      <dgm:spPr/>
      <dgm:t>
        <a:bodyPr/>
        <a:lstStyle/>
        <a:p>
          <a:endParaRPr lang="en-US"/>
        </a:p>
      </dgm:t>
    </dgm:pt>
    <dgm:pt modelId="{3EC32C9A-A818-43E6-90E1-327E2A2B873B}" type="sibTrans" cxnId="{E3A7AF0E-DBF6-4CEA-992B-23F4024ADDA2}">
      <dgm:prSet/>
      <dgm:spPr/>
      <dgm:t>
        <a:bodyPr/>
        <a:lstStyle/>
        <a:p>
          <a:endParaRPr lang="en-US"/>
        </a:p>
      </dgm:t>
    </dgm:pt>
    <dgm:pt modelId="{A4C9307F-2829-4B90-997F-2784C92DDF62}" type="pres">
      <dgm:prSet presAssocID="{A18179F6-CE2B-4F9D-AF6C-FAF2866D9F5B}" presName="root" presStyleCnt="0">
        <dgm:presLayoutVars>
          <dgm:dir/>
          <dgm:resizeHandles val="exact"/>
        </dgm:presLayoutVars>
      </dgm:prSet>
      <dgm:spPr/>
    </dgm:pt>
    <dgm:pt modelId="{002AA707-98B7-446D-92A5-279156628A82}" type="pres">
      <dgm:prSet presAssocID="{7422B84A-8A98-41D2-922A-64D0093980FC}" presName="compNode" presStyleCnt="0"/>
      <dgm:spPr/>
    </dgm:pt>
    <dgm:pt modelId="{1C3C5FB3-6C5D-4CBC-B408-AE01E6DBD41C}" type="pres">
      <dgm:prSet presAssocID="{7422B84A-8A98-41D2-922A-64D0093980FC}" presName="bgRect" presStyleLbl="bgShp" presStyleIdx="0" presStyleCnt="2"/>
      <dgm:spPr/>
    </dgm:pt>
    <dgm:pt modelId="{4E2B984F-B32E-4542-93AC-554CCE729FC6}" type="pres">
      <dgm:prSet presAssocID="{7422B84A-8A98-41D2-922A-64D0093980FC}"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Warning"/>
        </a:ext>
      </dgm:extLst>
    </dgm:pt>
    <dgm:pt modelId="{2362C29E-C09B-4B7C-90BD-984FB01F1FE2}" type="pres">
      <dgm:prSet presAssocID="{7422B84A-8A98-41D2-922A-64D0093980FC}" presName="spaceRect" presStyleCnt="0"/>
      <dgm:spPr/>
    </dgm:pt>
    <dgm:pt modelId="{FE20BAA9-7A74-4D57-852D-31572A927679}" type="pres">
      <dgm:prSet presAssocID="{7422B84A-8A98-41D2-922A-64D0093980FC}" presName="parTx" presStyleLbl="revTx" presStyleIdx="0" presStyleCnt="2">
        <dgm:presLayoutVars>
          <dgm:chMax val="0"/>
          <dgm:chPref val="0"/>
        </dgm:presLayoutVars>
      </dgm:prSet>
      <dgm:spPr/>
    </dgm:pt>
    <dgm:pt modelId="{78402389-F3FC-47E0-9287-A69AE7315EF5}" type="pres">
      <dgm:prSet presAssocID="{9F807859-8022-4906-9A56-719E029B105F}" presName="sibTrans" presStyleCnt="0"/>
      <dgm:spPr/>
    </dgm:pt>
    <dgm:pt modelId="{0D4C833D-9429-47AE-AAC2-3B14DFEDCECD}" type="pres">
      <dgm:prSet presAssocID="{77AB7B47-18F1-4446-9C19-EEB61C9A0E85}" presName="compNode" presStyleCnt="0"/>
      <dgm:spPr/>
    </dgm:pt>
    <dgm:pt modelId="{6A7B78B7-4C61-47ED-A138-25E11F713D39}" type="pres">
      <dgm:prSet presAssocID="{77AB7B47-18F1-4446-9C19-EEB61C9A0E85}" presName="bgRect" presStyleLbl="bgShp" presStyleIdx="1" presStyleCnt="2"/>
      <dgm:spPr/>
    </dgm:pt>
    <dgm:pt modelId="{E29F8B69-0F6D-4989-A0F0-9EA253A0BE55}" type="pres">
      <dgm:prSet presAssocID="{77AB7B47-18F1-4446-9C19-EEB61C9A0E85}"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rocessor"/>
        </a:ext>
      </dgm:extLst>
    </dgm:pt>
    <dgm:pt modelId="{54C72546-B6DF-4BF2-9357-F9C5DD635FFD}" type="pres">
      <dgm:prSet presAssocID="{77AB7B47-18F1-4446-9C19-EEB61C9A0E85}" presName="spaceRect" presStyleCnt="0"/>
      <dgm:spPr/>
    </dgm:pt>
    <dgm:pt modelId="{D4B4E0C1-124F-4150-AF2C-89820D76DA41}" type="pres">
      <dgm:prSet presAssocID="{77AB7B47-18F1-4446-9C19-EEB61C9A0E85}" presName="parTx" presStyleLbl="revTx" presStyleIdx="1" presStyleCnt="2">
        <dgm:presLayoutVars>
          <dgm:chMax val="0"/>
          <dgm:chPref val="0"/>
        </dgm:presLayoutVars>
      </dgm:prSet>
      <dgm:spPr/>
    </dgm:pt>
  </dgm:ptLst>
  <dgm:cxnLst>
    <dgm:cxn modelId="{E3A7AF0E-DBF6-4CEA-992B-23F4024ADDA2}" srcId="{A18179F6-CE2B-4F9D-AF6C-FAF2866D9F5B}" destId="{77AB7B47-18F1-4446-9C19-EEB61C9A0E85}" srcOrd="1" destOrd="0" parTransId="{A1CCB08E-C932-4234-8B5F-2A2DBACED4BF}" sibTransId="{3EC32C9A-A818-43E6-90E1-327E2A2B873B}"/>
    <dgm:cxn modelId="{30AA2854-B3AE-403A-90A1-1AE6DC922B53}" type="presOf" srcId="{77AB7B47-18F1-4446-9C19-EEB61C9A0E85}" destId="{D4B4E0C1-124F-4150-AF2C-89820D76DA41}" srcOrd="0" destOrd="0" presId="urn:microsoft.com/office/officeart/2018/2/layout/IconVerticalSolidList"/>
    <dgm:cxn modelId="{3023FF86-16EF-4132-9326-766E06136565}" srcId="{A18179F6-CE2B-4F9D-AF6C-FAF2866D9F5B}" destId="{7422B84A-8A98-41D2-922A-64D0093980FC}" srcOrd="0" destOrd="0" parTransId="{FF825F6A-D6EC-42C2-B6B2-691FBB7224C0}" sibTransId="{9F807859-8022-4906-9A56-719E029B105F}"/>
    <dgm:cxn modelId="{05B5AB9D-5BA0-4056-A590-0E56DA01F2BB}" type="presOf" srcId="{A18179F6-CE2B-4F9D-AF6C-FAF2866D9F5B}" destId="{A4C9307F-2829-4B90-997F-2784C92DDF62}" srcOrd="0" destOrd="0" presId="urn:microsoft.com/office/officeart/2018/2/layout/IconVerticalSolidList"/>
    <dgm:cxn modelId="{6CBD07BA-05F4-49C3-ABB7-6B851D2E4704}" type="presOf" srcId="{7422B84A-8A98-41D2-922A-64D0093980FC}" destId="{FE20BAA9-7A74-4D57-852D-31572A927679}" srcOrd="0" destOrd="0" presId="urn:microsoft.com/office/officeart/2018/2/layout/IconVerticalSolidList"/>
    <dgm:cxn modelId="{F6A54E37-D871-4BEC-8344-3AA45274EF57}" type="presParOf" srcId="{A4C9307F-2829-4B90-997F-2784C92DDF62}" destId="{002AA707-98B7-446D-92A5-279156628A82}" srcOrd="0" destOrd="0" presId="urn:microsoft.com/office/officeart/2018/2/layout/IconVerticalSolidList"/>
    <dgm:cxn modelId="{6CCB93EB-C367-470B-9AFA-89F65DDAA2E9}" type="presParOf" srcId="{002AA707-98B7-446D-92A5-279156628A82}" destId="{1C3C5FB3-6C5D-4CBC-B408-AE01E6DBD41C}" srcOrd="0" destOrd="0" presId="urn:microsoft.com/office/officeart/2018/2/layout/IconVerticalSolidList"/>
    <dgm:cxn modelId="{847856A4-2644-450D-8DEA-9FE5975E87DC}" type="presParOf" srcId="{002AA707-98B7-446D-92A5-279156628A82}" destId="{4E2B984F-B32E-4542-93AC-554CCE729FC6}" srcOrd="1" destOrd="0" presId="urn:microsoft.com/office/officeart/2018/2/layout/IconVerticalSolidList"/>
    <dgm:cxn modelId="{7DE7A036-A144-43EB-8E94-E9F32A63BBB5}" type="presParOf" srcId="{002AA707-98B7-446D-92A5-279156628A82}" destId="{2362C29E-C09B-4B7C-90BD-984FB01F1FE2}" srcOrd="2" destOrd="0" presId="urn:microsoft.com/office/officeart/2018/2/layout/IconVerticalSolidList"/>
    <dgm:cxn modelId="{839A3570-DB80-4C9D-BF94-1BB699C1540A}" type="presParOf" srcId="{002AA707-98B7-446D-92A5-279156628A82}" destId="{FE20BAA9-7A74-4D57-852D-31572A927679}" srcOrd="3" destOrd="0" presId="urn:microsoft.com/office/officeart/2018/2/layout/IconVerticalSolidList"/>
    <dgm:cxn modelId="{4F7E4D37-5EDD-4A56-9875-80E61F62C0A1}" type="presParOf" srcId="{A4C9307F-2829-4B90-997F-2784C92DDF62}" destId="{78402389-F3FC-47E0-9287-A69AE7315EF5}" srcOrd="1" destOrd="0" presId="urn:microsoft.com/office/officeart/2018/2/layout/IconVerticalSolidList"/>
    <dgm:cxn modelId="{4D79FF9F-E763-4810-9053-B2F327BB8CEE}" type="presParOf" srcId="{A4C9307F-2829-4B90-997F-2784C92DDF62}" destId="{0D4C833D-9429-47AE-AAC2-3B14DFEDCECD}" srcOrd="2" destOrd="0" presId="urn:microsoft.com/office/officeart/2018/2/layout/IconVerticalSolidList"/>
    <dgm:cxn modelId="{5DFC9098-3CE1-498F-842B-7A5576D8FD38}" type="presParOf" srcId="{0D4C833D-9429-47AE-AAC2-3B14DFEDCECD}" destId="{6A7B78B7-4C61-47ED-A138-25E11F713D39}" srcOrd="0" destOrd="0" presId="urn:microsoft.com/office/officeart/2018/2/layout/IconVerticalSolidList"/>
    <dgm:cxn modelId="{D472FC42-80F6-46B7-88DD-75CDC4BB927E}" type="presParOf" srcId="{0D4C833D-9429-47AE-AAC2-3B14DFEDCECD}" destId="{E29F8B69-0F6D-4989-A0F0-9EA253A0BE55}" srcOrd="1" destOrd="0" presId="urn:microsoft.com/office/officeart/2018/2/layout/IconVerticalSolidList"/>
    <dgm:cxn modelId="{76AE44AA-355C-4C16-9EE8-CB97A558F800}" type="presParOf" srcId="{0D4C833D-9429-47AE-AAC2-3B14DFEDCECD}" destId="{54C72546-B6DF-4BF2-9357-F9C5DD635FFD}" srcOrd="2" destOrd="0" presId="urn:microsoft.com/office/officeart/2018/2/layout/IconVerticalSolidList"/>
    <dgm:cxn modelId="{4B5B6722-64F5-44A8-93A6-28996D9A5323}" type="presParOf" srcId="{0D4C833D-9429-47AE-AAC2-3B14DFEDCECD}" destId="{D4B4E0C1-124F-4150-AF2C-89820D76DA4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5C6AFC-D3E1-452D-8602-792993310748}">
      <dsp:nvSpPr>
        <dsp:cNvPr id="0" name=""/>
        <dsp:cNvSpPr/>
      </dsp:nvSpPr>
      <dsp:spPr>
        <a:xfrm>
          <a:off x="0" y="0"/>
          <a:ext cx="8097012" cy="713831"/>
        </a:xfrm>
        <a:prstGeom prst="roundRect">
          <a:avLst>
            <a:gd name="adj" fmla="val 10000"/>
          </a:avLst>
        </a:prstGeom>
        <a:solidFill>
          <a:schemeClr val="bg1">
            <a:hueOff val="0"/>
            <a:satOff val="0"/>
            <a:lumOff val="0"/>
            <a:alphaOff val="0"/>
          </a:schemeClr>
        </a:solid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100000"/>
            </a:lnSpc>
            <a:spcBef>
              <a:spcPct val="0"/>
            </a:spcBef>
            <a:spcAft>
              <a:spcPct val="35000"/>
            </a:spcAft>
            <a:buNone/>
          </a:pPr>
          <a:r>
            <a:rPr lang="en-US" sz="1200" b="1" kern="1200"/>
            <a:t>Functional Requirements:-</a:t>
          </a:r>
          <a:endParaRPr lang="en-US" sz="1200" kern="1200"/>
        </a:p>
      </dsp:txBody>
      <dsp:txXfrm>
        <a:off x="20907" y="20907"/>
        <a:ext cx="7243214" cy="672017"/>
      </dsp:txXfrm>
    </dsp:sp>
    <dsp:sp modelId="{07D9D7A4-E08D-4CA0-9E49-9FB915E62F29}">
      <dsp:nvSpPr>
        <dsp:cNvPr id="0" name=""/>
        <dsp:cNvSpPr/>
      </dsp:nvSpPr>
      <dsp:spPr>
        <a:xfrm>
          <a:off x="604647" y="812974"/>
          <a:ext cx="8097012" cy="713831"/>
        </a:xfrm>
        <a:prstGeom prst="roundRect">
          <a:avLst>
            <a:gd name="adj" fmla="val 10000"/>
          </a:avLst>
        </a:prstGeom>
        <a:solidFill>
          <a:schemeClr val="bg1">
            <a:hueOff val="0"/>
            <a:satOff val="0"/>
            <a:lumOff val="0"/>
            <a:alphaOff val="0"/>
          </a:schemeClr>
        </a:solid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100000"/>
            </a:lnSpc>
            <a:spcBef>
              <a:spcPct val="0"/>
            </a:spcBef>
            <a:spcAft>
              <a:spcPct val="35000"/>
            </a:spcAft>
            <a:buNone/>
          </a:pPr>
          <a:r>
            <a:rPr lang="en-US" sz="1200" kern="1200" dirty="0"/>
            <a:t>FR1 – System should allow digital patient registration</a:t>
          </a:r>
        </a:p>
      </dsp:txBody>
      <dsp:txXfrm>
        <a:off x="625554" y="833881"/>
        <a:ext cx="6986560" cy="672017"/>
      </dsp:txXfrm>
    </dsp:sp>
    <dsp:sp modelId="{1C60CA21-91EE-4354-BE7D-76EA52293710}">
      <dsp:nvSpPr>
        <dsp:cNvPr id="0" name=""/>
        <dsp:cNvSpPr/>
      </dsp:nvSpPr>
      <dsp:spPr>
        <a:xfrm>
          <a:off x="1001443" y="1490863"/>
          <a:ext cx="8097012" cy="713831"/>
        </a:xfrm>
        <a:prstGeom prst="roundRect">
          <a:avLst>
            <a:gd name="adj" fmla="val 10000"/>
          </a:avLst>
        </a:prstGeom>
        <a:solidFill>
          <a:schemeClr val="bg1">
            <a:hueOff val="0"/>
            <a:satOff val="0"/>
            <a:lumOff val="0"/>
            <a:alphaOff val="0"/>
          </a:schemeClr>
        </a:solid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100000"/>
            </a:lnSpc>
            <a:spcBef>
              <a:spcPct val="0"/>
            </a:spcBef>
            <a:spcAft>
              <a:spcPct val="35000"/>
            </a:spcAft>
            <a:buNone/>
          </a:pPr>
          <a:r>
            <a:rPr lang="en-US" sz="1200" kern="1200"/>
            <a:t>FR2 – System should allow appointment scheduling</a:t>
          </a:r>
          <a:br>
            <a:rPr lang="en-US" sz="1200" kern="1200"/>
          </a:br>
          <a:r>
            <a:rPr lang="en-US" sz="1200" kern="1200"/>
            <a:t>FR3 – System should notify departments when patient moves</a:t>
          </a:r>
        </a:p>
      </dsp:txBody>
      <dsp:txXfrm>
        <a:off x="1022350" y="1511770"/>
        <a:ext cx="6986560" cy="672017"/>
      </dsp:txXfrm>
    </dsp:sp>
    <dsp:sp modelId="{CE9859BB-B392-4EC2-9894-9DF0B660D940}">
      <dsp:nvSpPr>
        <dsp:cNvPr id="0" name=""/>
        <dsp:cNvSpPr/>
      </dsp:nvSpPr>
      <dsp:spPr>
        <a:xfrm>
          <a:off x="1813940" y="2438923"/>
          <a:ext cx="8097012" cy="713831"/>
        </a:xfrm>
        <a:prstGeom prst="roundRect">
          <a:avLst>
            <a:gd name="adj" fmla="val 10000"/>
          </a:avLst>
        </a:prstGeom>
        <a:solidFill>
          <a:schemeClr val="bg1">
            <a:hueOff val="0"/>
            <a:satOff val="0"/>
            <a:lumOff val="0"/>
            <a:alphaOff val="0"/>
          </a:schemeClr>
        </a:solid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100000"/>
            </a:lnSpc>
            <a:spcBef>
              <a:spcPct val="0"/>
            </a:spcBef>
            <a:spcAft>
              <a:spcPct val="35000"/>
            </a:spcAft>
            <a:buNone/>
          </a:pPr>
          <a:r>
            <a:rPr lang="en-US" sz="1200" b="1" kern="1200"/>
            <a:t>Non-Functional Requirements :-</a:t>
          </a:r>
          <a:endParaRPr lang="en-US" sz="1200" kern="1200"/>
        </a:p>
      </dsp:txBody>
      <dsp:txXfrm>
        <a:off x="1834847" y="2459830"/>
        <a:ext cx="6986560" cy="672017"/>
      </dsp:txXfrm>
    </dsp:sp>
    <dsp:sp modelId="{46BC3EE4-A4D6-4D24-8BFC-B5A6C3FCDE39}">
      <dsp:nvSpPr>
        <dsp:cNvPr id="0" name=""/>
        <dsp:cNvSpPr/>
      </dsp:nvSpPr>
      <dsp:spPr>
        <a:xfrm>
          <a:off x="2418587" y="3251898"/>
          <a:ext cx="8097012" cy="713831"/>
        </a:xfrm>
        <a:prstGeom prst="roundRect">
          <a:avLst>
            <a:gd name="adj" fmla="val 10000"/>
          </a:avLst>
        </a:prstGeom>
        <a:solidFill>
          <a:schemeClr val="bg1">
            <a:hueOff val="0"/>
            <a:satOff val="0"/>
            <a:lumOff val="0"/>
            <a:alphaOff val="0"/>
          </a:schemeClr>
        </a:solid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100000"/>
            </a:lnSpc>
            <a:spcBef>
              <a:spcPct val="0"/>
            </a:spcBef>
            <a:spcAft>
              <a:spcPct val="35000"/>
            </a:spcAft>
            <a:buNone/>
          </a:pPr>
          <a:r>
            <a:rPr lang="en-US" sz="1200" kern="1200"/>
            <a:t>NFR1 – System response time &lt; 2 seconds</a:t>
          </a:r>
          <a:br>
            <a:rPr lang="en-US" sz="1200" kern="1200"/>
          </a:br>
          <a:r>
            <a:rPr lang="en-US" sz="1200" kern="1200"/>
            <a:t>NFR2 – System availability 99%</a:t>
          </a:r>
          <a:br>
            <a:rPr lang="en-US" sz="1200" kern="1200"/>
          </a:br>
          <a:r>
            <a:rPr lang="en-US" sz="1200" kern="1200"/>
            <a:t>NFR3 – Patient data must be secure</a:t>
          </a:r>
        </a:p>
      </dsp:txBody>
      <dsp:txXfrm>
        <a:off x="2439494" y="3272805"/>
        <a:ext cx="6986560" cy="672017"/>
      </dsp:txXfrm>
    </dsp:sp>
    <dsp:sp modelId="{D5A75E3A-9D24-44A7-8FD4-FC3948162838}">
      <dsp:nvSpPr>
        <dsp:cNvPr id="0" name=""/>
        <dsp:cNvSpPr/>
      </dsp:nvSpPr>
      <dsp:spPr>
        <a:xfrm>
          <a:off x="7633021" y="521493"/>
          <a:ext cx="463990" cy="463990"/>
        </a:xfrm>
        <a:prstGeom prst="downArrow">
          <a:avLst>
            <a:gd name="adj1" fmla="val 55000"/>
            <a:gd name="adj2" fmla="val 45000"/>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100000"/>
            </a:lnSpc>
            <a:spcBef>
              <a:spcPct val="0"/>
            </a:spcBef>
            <a:spcAft>
              <a:spcPct val="35000"/>
            </a:spcAft>
            <a:buNone/>
          </a:pPr>
          <a:endParaRPr lang="en-US" sz="1900" kern="1200"/>
        </a:p>
      </dsp:txBody>
      <dsp:txXfrm>
        <a:off x="7737419" y="521493"/>
        <a:ext cx="255194" cy="349152"/>
      </dsp:txXfrm>
    </dsp:sp>
    <dsp:sp modelId="{BA68EC8E-5E07-49F9-ACA6-551F36AF0264}">
      <dsp:nvSpPr>
        <dsp:cNvPr id="0" name=""/>
        <dsp:cNvSpPr/>
      </dsp:nvSpPr>
      <dsp:spPr>
        <a:xfrm>
          <a:off x="8237668" y="1334468"/>
          <a:ext cx="463990" cy="463990"/>
        </a:xfrm>
        <a:prstGeom prst="downArrow">
          <a:avLst>
            <a:gd name="adj1" fmla="val 55000"/>
            <a:gd name="adj2" fmla="val 45000"/>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100000"/>
            </a:lnSpc>
            <a:spcBef>
              <a:spcPct val="0"/>
            </a:spcBef>
            <a:spcAft>
              <a:spcPct val="35000"/>
            </a:spcAft>
            <a:buNone/>
          </a:pPr>
          <a:endParaRPr lang="en-US" sz="1900" kern="1200"/>
        </a:p>
      </dsp:txBody>
      <dsp:txXfrm>
        <a:off x="8342066" y="1334468"/>
        <a:ext cx="255194" cy="349152"/>
      </dsp:txXfrm>
    </dsp:sp>
    <dsp:sp modelId="{AA8134AC-95CA-4262-94A6-F4B76623BE31}">
      <dsp:nvSpPr>
        <dsp:cNvPr id="0" name=""/>
        <dsp:cNvSpPr/>
      </dsp:nvSpPr>
      <dsp:spPr>
        <a:xfrm>
          <a:off x="8842315" y="2135545"/>
          <a:ext cx="463990" cy="463990"/>
        </a:xfrm>
        <a:prstGeom prst="downArrow">
          <a:avLst>
            <a:gd name="adj1" fmla="val 55000"/>
            <a:gd name="adj2" fmla="val 45000"/>
          </a:avLst>
        </a:prstGeom>
        <a:solidFill>
          <a:schemeClr val="accent4">
            <a:tint val="40000"/>
            <a:alpha val="90000"/>
            <a:hueOff val="0"/>
            <a:satOff val="0"/>
            <a:lumOff val="0"/>
            <a:alphaOff val="0"/>
          </a:schemeClr>
        </a:solidFill>
        <a:ln w="1905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100000"/>
            </a:lnSpc>
            <a:spcBef>
              <a:spcPct val="0"/>
            </a:spcBef>
            <a:spcAft>
              <a:spcPct val="35000"/>
            </a:spcAft>
            <a:buNone/>
          </a:pPr>
          <a:endParaRPr lang="en-US" sz="1900" kern="1200"/>
        </a:p>
      </dsp:txBody>
      <dsp:txXfrm>
        <a:off x="8946713" y="2135545"/>
        <a:ext cx="255194" cy="349152"/>
      </dsp:txXfrm>
    </dsp:sp>
    <dsp:sp modelId="{D61A1C4F-B9B1-4063-B322-FB2FA73555FF}">
      <dsp:nvSpPr>
        <dsp:cNvPr id="0" name=""/>
        <dsp:cNvSpPr/>
      </dsp:nvSpPr>
      <dsp:spPr>
        <a:xfrm>
          <a:off x="9446962" y="2956451"/>
          <a:ext cx="463990" cy="463990"/>
        </a:xfrm>
        <a:prstGeom prst="downArrow">
          <a:avLst>
            <a:gd name="adj1" fmla="val 55000"/>
            <a:gd name="adj2" fmla="val 45000"/>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100000"/>
            </a:lnSpc>
            <a:spcBef>
              <a:spcPct val="0"/>
            </a:spcBef>
            <a:spcAft>
              <a:spcPct val="35000"/>
            </a:spcAft>
            <a:buNone/>
          </a:pPr>
          <a:endParaRPr lang="en-US" sz="1900" kern="1200"/>
        </a:p>
      </dsp:txBody>
      <dsp:txXfrm>
        <a:off x="9551360" y="2956451"/>
        <a:ext cx="255194" cy="34915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3C5FB3-6C5D-4CBC-B408-AE01E6DBD41C}">
      <dsp:nvSpPr>
        <dsp:cNvPr id="0" name=""/>
        <dsp:cNvSpPr/>
      </dsp:nvSpPr>
      <dsp:spPr>
        <a:xfrm>
          <a:off x="0" y="420346"/>
          <a:ext cx="6326620" cy="14093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E2B984F-B32E-4542-93AC-554CCE729FC6}">
      <dsp:nvSpPr>
        <dsp:cNvPr id="0" name=""/>
        <dsp:cNvSpPr/>
      </dsp:nvSpPr>
      <dsp:spPr>
        <a:xfrm>
          <a:off x="426342" y="737460"/>
          <a:ext cx="775167" cy="77516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E20BAA9-7A74-4D57-852D-31572A927679}">
      <dsp:nvSpPr>
        <dsp:cNvPr id="0" name=""/>
        <dsp:cNvSpPr/>
      </dsp:nvSpPr>
      <dsp:spPr>
        <a:xfrm>
          <a:off x="1627852" y="420346"/>
          <a:ext cx="4698767" cy="14093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161" tIns="149161" rIns="149161" bIns="149161" numCol="1" spcCol="1270" anchor="ctr" anchorCtr="0">
          <a:noAutofit/>
        </a:bodyPr>
        <a:lstStyle/>
        <a:p>
          <a:pPr marL="0" lvl="0" indent="0" algn="l" defTabSz="622300">
            <a:lnSpc>
              <a:spcPct val="100000"/>
            </a:lnSpc>
            <a:spcBef>
              <a:spcPct val="0"/>
            </a:spcBef>
            <a:spcAft>
              <a:spcPct val="35000"/>
            </a:spcAft>
            <a:buNone/>
          </a:pPr>
          <a:r>
            <a:rPr lang="en-US" sz="1400" b="1" kern="1200" dirty="0"/>
            <a:t>Risk Analysis</a:t>
          </a:r>
          <a:endParaRPr lang="en-US" sz="1400" kern="1200" dirty="0"/>
        </a:p>
      </dsp:txBody>
      <dsp:txXfrm>
        <a:off x="1627852" y="420346"/>
        <a:ext cx="4698767" cy="1409396"/>
      </dsp:txXfrm>
    </dsp:sp>
    <dsp:sp modelId="{6A7B78B7-4C61-47ED-A138-25E11F713D39}">
      <dsp:nvSpPr>
        <dsp:cNvPr id="0" name=""/>
        <dsp:cNvSpPr/>
      </dsp:nvSpPr>
      <dsp:spPr>
        <a:xfrm>
          <a:off x="0" y="2126457"/>
          <a:ext cx="6326620" cy="14093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29F8B69-0F6D-4989-A0F0-9EA253A0BE55}">
      <dsp:nvSpPr>
        <dsp:cNvPr id="0" name=""/>
        <dsp:cNvSpPr/>
      </dsp:nvSpPr>
      <dsp:spPr>
        <a:xfrm>
          <a:off x="426342" y="2443571"/>
          <a:ext cx="775167" cy="77516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4B4E0C1-124F-4150-AF2C-89820D76DA41}">
      <dsp:nvSpPr>
        <dsp:cNvPr id="0" name=""/>
        <dsp:cNvSpPr/>
      </dsp:nvSpPr>
      <dsp:spPr>
        <a:xfrm>
          <a:off x="1627852" y="2126457"/>
          <a:ext cx="4698767" cy="14093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161" tIns="149161" rIns="149161" bIns="149161" numCol="1" spcCol="1270" anchor="ctr" anchorCtr="0">
          <a:noAutofit/>
        </a:bodyPr>
        <a:lstStyle/>
        <a:p>
          <a:pPr marL="0" lvl="0" indent="0" algn="l" defTabSz="622300">
            <a:lnSpc>
              <a:spcPct val="100000"/>
            </a:lnSpc>
            <a:spcBef>
              <a:spcPct val="0"/>
            </a:spcBef>
            <a:spcAft>
              <a:spcPct val="35000"/>
            </a:spcAft>
            <a:buNone/>
          </a:pPr>
          <a:r>
            <a:rPr lang="en-US" sz="1400" kern="1200"/>
            <a:t>During the implementation of the proposed digital workflow and scheduling system, several operational and technical risks may arise. These risks were identified and mitigation strategies were developed to ensure smooth adoption and minimal disruption to hospital operations.</a:t>
          </a:r>
        </a:p>
      </dsp:txBody>
      <dsp:txXfrm>
        <a:off x="1627852" y="2126457"/>
        <a:ext cx="4698767" cy="1409396"/>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0CF187-4166-49B1-A0D5-EEA681208997}" type="datetimeFigureOut">
              <a:rPr lang="en-US" smtClean="0"/>
              <a:t>3/16/2026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03F0EF-8AD7-4450-A706-062C48D164BD}" type="slidenum">
              <a:rPr lang="en-US" smtClean="0"/>
              <a:t>‹#›</a:t>
            </a:fld>
            <a:endParaRPr lang="en-US"/>
          </a:p>
        </p:txBody>
      </p:sp>
    </p:spTree>
    <p:extLst>
      <p:ext uri="{BB962C8B-B14F-4D97-AF65-F5344CB8AC3E}">
        <p14:creationId xmlns:p14="http://schemas.microsoft.com/office/powerpoint/2010/main" val="23139384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F7E2C-9176-41A6-556E-41006DE67B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3898F16-430E-D758-6C2E-E9F25A96402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8596728-7138-155C-18C2-1DA865F7794D}"/>
              </a:ext>
            </a:extLst>
          </p:cNvPr>
          <p:cNvSpPr>
            <a:spLocks noGrp="1"/>
          </p:cNvSpPr>
          <p:nvPr>
            <p:ph type="dt" sz="half" idx="10"/>
          </p:nvPr>
        </p:nvSpPr>
        <p:spPr/>
        <p:txBody>
          <a:bodyPr/>
          <a:lstStyle/>
          <a:p>
            <a:fld id="{5D731225-7482-4AF5-BA25-34C9739D96CB}" type="datetimeFigureOut">
              <a:rPr lang="en-US" smtClean="0"/>
              <a:t>3/16/2026</a:t>
            </a:fld>
            <a:endParaRPr lang="en-US"/>
          </a:p>
        </p:txBody>
      </p:sp>
      <p:sp>
        <p:nvSpPr>
          <p:cNvPr id="5" name="Footer Placeholder 4">
            <a:extLst>
              <a:ext uri="{FF2B5EF4-FFF2-40B4-BE49-F238E27FC236}">
                <a16:creationId xmlns:a16="http://schemas.microsoft.com/office/drawing/2014/main" id="{336A705E-E935-C5CD-DC51-923FC4AA0D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313854-87C1-10A5-C977-B1795649F347}"/>
              </a:ext>
            </a:extLst>
          </p:cNvPr>
          <p:cNvSpPr>
            <a:spLocks noGrp="1"/>
          </p:cNvSpPr>
          <p:nvPr>
            <p:ph type="sldNum" sz="quarter" idx="12"/>
          </p:nvPr>
        </p:nvSpPr>
        <p:spPr/>
        <p:txBody>
          <a:bodyPr/>
          <a:lstStyle/>
          <a:p>
            <a:fld id="{3601F530-7132-47EB-8AFA-7239D51633D3}" type="slidenum">
              <a:rPr lang="en-US" smtClean="0"/>
              <a:t>‹#›</a:t>
            </a:fld>
            <a:endParaRPr lang="en-US"/>
          </a:p>
        </p:txBody>
      </p:sp>
    </p:spTree>
    <p:extLst>
      <p:ext uri="{BB962C8B-B14F-4D97-AF65-F5344CB8AC3E}">
        <p14:creationId xmlns:p14="http://schemas.microsoft.com/office/powerpoint/2010/main" val="12631320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3E995-4634-7430-C5EF-A73E17898FD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A6396E-180C-1316-A500-F5715B36975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56BB76-D951-4B0D-55C7-90239242AE4B}"/>
              </a:ext>
            </a:extLst>
          </p:cNvPr>
          <p:cNvSpPr>
            <a:spLocks noGrp="1"/>
          </p:cNvSpPr>
          <p:nvPr>
            <p:ph type="dt" sz="half" idx="10"/>
          </p:nvPr>
        </p:nvSpPr>
        <p:spPr/>
        <p:txBody>
          <a:bodyPr/>
          <a:lstStyle/>
          <a:p>
            <a:fld id="{5D731225-7482-4AF5-BA25-34C9739D96CB}" type="datetimeFigureOut">
              <a:rPr lang="en-US" smtClean="0"/>
              <a:t>3/16/2026</a:t>
            </a:fld>
            <a:endParaRPr lang="en-US"/>
          </a:p>
        </p:txBody>
      </p:sp>
      <p:sp>
        <p:nvSpPr>
          <p:cNvPr id="5" name="Footer Placeholder 4">
            <a:extLst>
              <a:ext uri="{FF2B5EF4-FFF2-40B4-BE49-F238E27FC236}">
                <a16:creationId xmlns:a16="http://schemas.microsoft.com/office/drawing/2014/main" id="{65756F90-FFC5-75AD-851F-53A8F86075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05A740-00D6-E91F-3031-66C2A075B3FD}"/>
              </a:ext>
            </a:extLst>
          </p:cNvPr>
          <p:cNvSpPr>
            <a:spLocks noGrp="1"/>
          </p:cNvSpPr>
          <p:nvPr>
            <p:ph type="sldNum" sz="quarter" idx="12"/>
          </p:nvPr>
        </p:nvSpPr>
        <p:spPr/>
        <p:txBody>
          <a:bodyPr/>
          <a:lstStyle/>
          <a:p>
            <a:fld id="{3601F530-7132-47EB-8AFA-7239D51633D3}" type="slidenum">
              <a:rPr lang="en-US" smtClean="0"/>
              <a:t>‹#›</a:t>
            </a:fld>
            <a:endParaRPr lang="en-US"/>
          </a:p>
        </p:txBody>
      </p:sp>
    </p:spTree>
    <p:extLst>
      <p:ext uri="{BB962C8B-B14F-4D97-AF65-F5344CB8AC3E}">
        <p14:creationId xmlns:p14="http://schemas.microsoft.com/office/powerpoint/2010/main" val="20250594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7B527-8DE2-DD7D-E75E-77D257ED73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B888AB8-B9A0-DF53-8B2B-1179DC7D227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A85E998-B0D2-9652-D4F8-38D1F3C87840}"/>
              </a:ext>
            </a:extLst>
          </p:cNvPr>
          <p:cNvSpPr>
            <a:spLocks noGrp="1"/>
          </p:cNvSpPr>
          <p:nvPr>
            <p:ph type="dt" sz="half" idx="10"/>
          </p:nvPr>
        </p:nvSpPr>
        <p:spPr/>
        <p:txBody>
          <a:bodyPr/>
          <a:lstStyle/>
          <a:p>
            <a:fld id="{5D731225-7482-4AF5-BA25-34C9739D96CB}" type="datetimeFigureOut">
              <a:rPr lang="en-US" smtClean="0"/>
              <a:t>3/16/2026</a:t>
            </a:fld>
            <a:endParaRPr lang="en-US"/>
          </a:p>
        </p:txBody>
      </p:sp>
      <p:sp>
        <p:nvSpPr>
          <p:cNvPr id="5" name="Footer Placeholder 4">
            <a:extLst>
              <a:ext uri="{FF2B5EF4-FFF2-40B4-BE49-F238E27FC236}">
                <a16:creationId xmlns:a16="http://schemas.microsoft.com/office/drawing/2014/main" id="{72BAE149-FAF9-120B-C885-0340D48DEC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5EA1A1-2675-77FF-7834-274279E537B2}"/>
              </a:ext>
            </a:extLst>
          </p:cNvPr>
          <p:cNvSpPr>
            <a:spLocks noGrp="1"/>
          </p:cNvSpPr>
          <p:nvPr>
            <p:ph type="sldNum" sz="quarter" idx="12"/>
          </p:nvPr>
        </p:nvSpPr>
        <p:spPr/>
        <p:txBody>
          <a:bodyPr/>
          <a:lstStyle/>
          <a:p>
            <a:fld id="{3601F530-7132-47EB-8AFA-7239D51633D3}" type="slidenum">
              <a:rPr lang="en-US" smtClean="0"/>
              <a:t>‹#›</a:t>
            </a:fld>
            <a:endParaRPr lang="en-US"/>
          </a:p>
        </p:txBody>
      </p:sp>
    </p:spTree>
    <p:extLst>
      <p:ext uri="{BB962C8B-B14F-4D97-AF65-F5344CB8AC3E}">
        <p14:creationId xmlns:p14="http://schemas.microsoft.com/office/powerpoint/2010/main" val="32793799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A7D47-5530-48F8-07CB-4134FF4E80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2E203A-C1AD-1ED6-4ABD-E74A22122F4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EFB2119-BEBE-0331-51F4-F161AA8DC95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485A766-01AF-7AF8-B35B-CFD36E09CEB9}"/>
              </a:ext>
            </a:extLst>
          </p:cNvPr>
          <p:cNvSpPr>
            <a:spLocks noGrp="1"/>
          </p:cNvSpPr>
          <p:nvPr>
            <p:ph type="dt" sz="half" idx="10"/>
          </p:nvPr>
        </p:nvSpPr>
        <p:spPr/>
        <p:txBody>
          <a:bodyPr/>
          <a:lstStyle/>
          <a:p>
            <a:fld id="{5D731225-7482-4AF5-BA25-34C9739D96CB}" type="datetimeFigureOut">
              <a:rPr lang="en-US" smtClean="0"/>
              <a:t>3/16/2026</a:t>
            </a:fld>
            <a:endParaRPr lang="en-US"/>
          </a:p>
        </p:txBody>
      </p:sp>
      <p:sp>
        <p:nvSpPr>
          <p:cNvPr id="6" name="Footer Placeholder 5">
            <a:extLst>
              <a:ext uri="{FF2B5EF4-FFF2-40B4-BE49-F238E27FC236}">
                <a16:creationId xmlns:a16="http://schemas.microsoft.com/office/drawing/2014/main" id="{B5B6A774-F5CD-E596-E300-CE75349497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148581-D8BF-06E2-FC65-4F92A15BF36C}"/>
              </a:ext>
            </a:extLst>
          </p:cNvPr>
          <p:cNvSpPr>
            <a:spLocks noGrp="1"/>
          </p:cNvSpPr>
          <p:nvPr>
            <p:ph type="sldNum" sz="quarter" idx="12"/>
          </p:nvPr>
        </p:nvSpPr>
        <p:spPr/>
        <p:txBody>
          <a:bodyPr/>
          <a:lstStyle/>
          <a:p>
            <a:fld id="{3601F530-7132-47EB-8AFA-7239D51633D3}" type="slidenum">
              <a:rPr lang="en-US" smtClean="0"/>
              <a:t>‹#›</a:t>
            </a:fld>
            <a:endParaRPr lang="en-US"/>
          </a:p>
        </p:txBody>
      </p:sp>
    </p:spTree>
    <p:extLst>
      <p:ext uri="{BB962C8B-B14F-4D97-AF65-F5344CB8AC3E}">
        <p14:creationId xmlns:p14="http://schemas.microsoft.com/office/powerpoint/2010/main" val="3952006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13495-1A7C-DD6E-901B-0CCCA249C5A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4233B55-F604-6A11-5212-56A8B890E4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34E7A5-650E-6B85-F889-AC1D38E517E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7ED5392-06AE-561F-AAEA-675563541B9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40F6BC3-CC61-22DD-F8C7-161CF2CE61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7B7BE62-DE48-60D7-9195-27D276C5409E}"/>
              </a:ext>
            </a:extLst>
          </p:cNvPr>
          <p:cNvSpPr>
            <a:spLocks noGrp="1"/>
          </p:cNvSpPr>
          <p:nvPr>
            <p:ph type="dt" sz="half" idx="10"/>
          </p:nvPr>
        </p:nvSpPr>
        <p:spPr/>
        <p:txBody>
          <a:bodyPr/>
          <a:lstStyle/>
          <a:p>
            <a:fld id="{5D731225-7482-4AF5-BA25-34C9739D96CB}" type="datetimeFigureOut">
              <a:rPr lang="en-US" smtClean="0"/>
              <a:t>3/16/2026</a:t>
            </a:fld>
            <a:endParaRPr lang="en-US"/>
          </a:p>
        </p:txBody>
      </p:sp>
      <p:sp>
        <p:nvSpPr>
          <p:cNvPr id="8" name="Footer Placeholder 7">
            <a:extLst>
              <a:ext uri="{FF2B5EF4-FFF2-40B4-BE49-F238E27FC236}">
                <a16:creationId xmlns:a16="http://schemas.microsoft.com/office/drawing/2014/main" id="{2E779A20-0800-A7C3-4BA3-CD7B010D3E7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04D76C9-EF78-DD5E-B606-0714296FDBB4}"/>
              </a:ext>
            </a:extLst>
          </p:cNvPr>
          <p:cNvSpPr>
            <a:spLocks noGrp="1"/>
          </p:cNvSpPr>
          <p:nvPr>
            <p:ph type="sldNum" sz="quarter" idx="12"/>
          </p:nvPr>
        </p:nvSpPr>
        <p:spPr/>
        <p:txBody>
          <a:bodyPr/>
          <a:lstStyle/>
          <a:p>
            <a:fld id="{3601F530-7132-47EB-8AFA-7239D51633D3}" type="slidenum">
              <a:rPr lang="en-US" smtClean="0"/>
              <a:t>‹#›</a:t>
            </a:fld>
            <a:endParaRPr lang="en-US"/>
          </a:p>
        </p:txBody>
      </p:sp>
    </p:spTree>
    <p:extLst>
      <p:ext uri="{BB962C8B-B14F-4D97-AF65-F5344CB8AC3E}">
        <p14:creationId xmlns:p14="http://schemas.microsoft.com/office/powerpoint/2010/main" val="2076359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D51B5-64B4-9370-D620-B7299386A6B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98BE74C-261B-47B1-E0F9-A814B39C8280}"/>
              </a:ext>
            </a:extLst>
          </p:cNvPr>
          <p:cNvSpPr>
            <a:spLocks noGrp="1"/>
          </p:cNvSpPr>
          <p:nvPr>
            <p:ph type="dt" sz="half" idx="10"/>
          </p:nvPr>
        </p:nvSpPr>
        <p:spPr/>
        <p:txBody>
          <a:bodyPr/>
          <a:lstStyle/>
          <a:p>
            <a:fld id="{5D731225-7482-4AF5-BA25-34C9739D96CB}" type="datetimeFigureOut">
              <a:rPr lang="en-US" smtClean="0"/>
              <a:t>3/16/2026</a:t>
            </a:fld>
            <a:endParaRPr lang="en-US"/>
          </a:p>
        </p:txBody>
      </p:sp>
      <p:sp>
        <p:nvSpPr>
          <p:cNvPr id="4" name="Footer Placeholder 3">
            <a:extLst>
              <a:ext uri="{FF2B5EF4-FFF2-40B4-BE49-F238E27FC236}">
                <a16:creationId xmlns:a16="http://schemas.microsoft.com/office/drawing/2014/main" id="{0BB500A5-FC9C-5420-25F9-856DB733061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4A8E181-4E6F-A321-5FC9-778F74369981}"/>
              </a:ext>
            </a:extLst>
          </p:cNvPr>
          <p:cNvSpPr>
            <a:spLocks noGrp="1"/>
          </p:cNvSpPr>
          <p:nvPr>
            <p:ph type="sldNum" sz="quarter" idx="12"/>
          </p:nvPr>
        </p:nvSpPr>
        <p:spPr/>
        <p:txBody>
          <a:bodyPr/>
          <a:lstStyle/>
          <a:p>
            <a:fld id="{3601F530-7132-47EB-8AFA-7239D51633D3}" type="slidenum">
              <a:rPr lang="en-US" smtClean="0"/>
              <a:t>‹#›</a:t>
            </a:fld>
            <a:endParaRPr lang="en-US"/>
          </a:p>
        </p:txBody>
      </p:sp>
    </p:spTree>
    <p:extLst>
      <p:ext uri="{BB962C8B-B14F-4D97-AF65-F5344CB8AC3E}">
        <p14:creationId xmlns:p14="http://schemas.microsoft.com/office/powerpoint/2010/main" val="12274056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58CC55B-AFC5-82DF-6E89-615DBC642EF6}"/>
              </a:ext>
            </a:extLst>
          </p:cNvPr>
          <p:cNvSpPr>
            <a:spLocks noGrp="1"/>
          </p:cNvSpPr>
          <p:nvPr>
            <p:ph type="dt" sz="half" idx="10"/>
          </p:nvPr>
        </p:nvSpPr>
        <p:spPr/>
        <p:txBody>
          <a:bodyPr/>
          <a:lstStyle/>
          <a:p>
            <a:fld id="{5D731225-7482-4AF5-BA25-34C9739D96CB}" type="datetimeFigureOut">
              <a:rPr lang="en-US" smtClean="0"/>
              <a:t>3/16/2026</a:t>
            </a:fld>
            <a:endParaRPr lang="en-US"/>
          </a:p>
        </p:txBody>
      </p:sp>
      <p:sp>
        <p:nvSpPr>
          <p:cNvPr id="3" name="Footer Placeholder 2">
            <a:extLst>
              <a:ext uri="{FF2B5EF4-FFF2-40B4-BE49-F238E27FC236}">
                <a16:creationId xmlns:a16="http://schemas.microsoft.com/office/drawing/2014/main" id="{09AD3903-0938-EFAF-D9F2-8157BE913F1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3BC9409-AB06-A5B4-FA97-F43A1BDCB311}"/>
              </a:ext>
            </a:extLst>
          </p:cNvPr>
          <p:cNvSpPr>
            <a:spLocks noGrp="1"/>
          </p:cNvSpPr>
          <p:nvPr>
            <p:ph type="sldNum" sz="quarter" idx="12"/>
          </p:nvPr>
        </p:nvSpPr>
        <p:spPr/>
        <p:txBody>
          <a:bodyPr/>
          <a:lstStyle/>
          <a:p>
            <a:fld id="{3601F530-7132-47EB-8AFA-7239D51633D3}" type="slidenum">
              <a:rPr lang="en-US" smtClean="0"/>
              <a:t>‹#›</a:t>
            </a:fld>
            <a:endParaRPr lang="en-US"/>
          </a:p>
        </p:txBody>
      </p:sp>
    </p:spTree>
    <p:extLst>
      <p:ext uri="{BB962C8B-B14F-4D97-AF65-F5344CB8AC3E}">
        <p14:creationId xmlns:p14="http://schemas.microsoft.com/office/powerpoint/2010/main" val="8692422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7A904-ADAB-CEBE-923D-33A0344049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5B5E770-137D-92C1-7271-8467E14F37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6F6A434-E99C-D6AE-A697-E4484A7B5F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BE3F8B-43A0-F888-C84E-D37857162D71}"/>
              </a:ext>
            </a:extLst>
          </p:cNvPr>
          <p:cNvSpPr>
            <a:spLocks noGrp="1"/>
          </p:cNvSpPr>
          <p:nvPr>
            <p:ph type="dt" sz="half" idx="10"/>
          </p:nvPr>
        </p:nvSpPr>
        <p:spPr/>
        <p:txBody>
          <a:bodyPr/>
          <a:lstStyle/>
          <a:p>
            <a:fld id="{5D731225-7482-4AF5-BA25-34C9739D96CB}" type="datetimeFigureOut">
              <a:rPr lang="en-US" smtClean="0"/>
              <a:t>3/16/2026</a:t>
            </a:fld>
            <a:endParaRPr lang="en-US"/>
          </a:p>
        </p:txBody>
      </p:sp>
      <p:sp>
        <p:nvSpPr>
          <p:cNvPr id="6" name="Footer Placeholder 5">
            <a:extLst>
              <a:ext uri="{FF2B5EF4-FFF2-40B4-BE49-F238E27FC236}">
                <a16:creationId xmlns:a16="http://schemas.microsoft.com/office/drawing/2014/main" id="{C4124138-FD84-2A40-5E7E-DF91967D3A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EB6DDD-AF36-8967-2112-6AF502A35D36}"/>
              </a:ext>
            </a:extLst>
          </p:cNvPr>
          <p:cNvSpPr>
            <a:spLocks noGrp="1"/>
          </p:cNvSpPr>
          <p:nvPr>
            <p:ph type="sldNum" sz="quarter" idx="12"/>
          </p:nvPr>
        </p:nvSpPr>
        <p:spPr/>
        <p:txBody>
          <a:bodyPr/>
          <a:lstStyle/>
          <a:p>
            <a:fld id="{3601F530-7132-47EB-8AFA-7239D51633D3}" type="slidenum">
              <a:rPr lang="en-US" smtClean="0"/>
              <a:t>‹#›</a:t>
            </a:fld>
            <a:endParaRPr lang="en-US"/>
          </a:p>
        </p:txBody>
      </p:sp>
    </p:spTree>
    <p:extLst>
      <p:ext uri="{BB962C8B-B14F-4D97-AF65-F5344CB8AC3E}">
        <p14:creationId xmlns:p14="http://schemas.microsoft.com/office/powerpoint/2010/main" val="22268371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4B244-DC97-4993-5D01-FB6AC73DFB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FD7F019-53B1-BB1E-4DC6-F875B4C8FD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A5B1C15-2FE1-9FFA-21CB-FB894E8ED4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ACB5B4-31BE-D74B-70F2-B4EC8DA04D1E}"/>
              </a:ext>
            </a:extLst>
          </p:cNvPr>
          <p:cNvSpPr>
            <a:spLocks noGrp="1"/>
          </p:cNvSpPr>
          <p:nvPr>
            <p:ph type="dt" sz="half" idx="10"/>
          </p:nvPr>
        </p:nvSpPr>
        <p:spPr/>
        <p:txBody>
          <a:bodyPr/>
          <a:lstStyle/>
          <a:p>
            <a:fld id="{5D731225-7482-4AF5-BA25-34C9739D96CB}" type="datetimeFigureOut">
              <a:rPr lang="en-US" smtClean="0"/>
              <a:t>3/16/2026</a:t>
            </a:fld>
            <a:endParaRPr lang="en-US"/>
          </a:p>
        </p:txBody>
      </p:sp>
      <p:sp>
        <p:nvSpPr>
          <p:cNvPr id="6" name="Footer Placeholder 5">
            <a:extLst>
              <a:ext uri="{FF2B5EF4-FFF2-40B4-BE49-F238E27FC236}">
                <a16:creationId xmlns:a16="http://schemas.microsoft.com/office/drawing/2014/main" id="{47E05707-38C2-DEF7-6A47-58FC34BDD8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10D447-0FA4-95C4-3969-692D54C77AE8}"/>
              </a:ext>
            </a:extLst>
          </p:cNvPr>
          <p:cNvSpPr>
            <a:spLocks noGrp="1"/>
          </p:cNvSpPr>
          <p:nvPr>
            <p:ph type="sldNum" sz="quarter" idx="12"/>
          </p:nvPr>
        </p:nvSpPr>
        <p:spPr/>
        <p:txBody>
          <a:bodyPr/>
          <a:lstStyle/>
          <a:p>
            <a:fld id="{3601F530-7132-47EB-8AFA-7239D51633D3}" type="slidenum">
              <a:rPr lang="en-US" smtClean="0"/>
              <a:t>‹#›</a:t>
            </a:fld>
            <a:endParaRPr lang="en-US"/>
          </a:p>
        </p:txBody>
      </p:sp>
    </p:spTree>
    <p:extLst>
      <p:ext uri="{BB962C8B-B14F-4D97-AF65-F5344CB8AC3E}">
        <p14:creationId xmlns:p14="http://schemas.microsoft.com/office/powerpoint/2010/main" val="37621133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E3711-16F1-C209-062D-5510E6B33B6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BFE0518-5458-BFA9-858D-94332137869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14681A-7783-9633-3A6F-AC518B27E989}"/>
              </a:ext>
            </a:extLst>
          </p:cNvPr>
          <p:cNvSpPr>
            <a:spLocks noGrp="1"/>
          </p:cNvSpPr>
          <p:nvPr>
            <p:ph type="dt" sz="half" idx="10"/>
          </p:nvPr>
        </p:nvSpPr>
        <p:spPr/>
        <p:txBody>
          <a:bodyPr/>
          <a:lstStyle/>
          <a:p>
            <a:fld id="{5D731225-7482-4AF5-BA25-34C9739D96CB}" type="datetimeFigureOut">
              <a:rPr lang="en-US" smtClean="0"/>
              <a:t>3/16/2026</a:t>
            </a:fld>
            <a:endParaRPr lang="en-US"/>
          </a:p>
        </p:txBody>
      </p:sp>
      <p:sp>
        <p:nvSpPr>
          <p:cNvPr id="5" name="Footer Placeholder 4">
            <a:extLst>
              <a:ext uri="{FF2B5EF4-FFF2-40B4-BE49-F238E27FC236}">
                <a16:creationId xmlns:a16="http://schemas.microsoft.com/office/drawing/2014/main" id="{1DD2B5E6-4129-AAA3-D278-15C38B809E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85BACC-EF8C-B46E-7A5F-285BEC90644F}"/>
              </a:ext>
            </a:extLst>
          </p:cNvPr>
          <p:cNvSpPr>
            <a:spLocks noGrp="1"/>
          </p:cNvSpPr>
          <p:nvPr>
            <p:ph type="sldNum" sz="quarter" idx="12"/>
          </p:nvPr>
        </p:nvSpPr>
        <p:spPr/>
        <p:txBody>
          <a:bodyPr/>
          <a:lstStyle/>
          <a:p>
            <a:fld id="{3601F530-7132-47EB-8AFA-7239D51633D3}" type="slidenum">
              <a:rPr lang="en-US" smtClean="0"/>
              <a:t>‹#›</a:t>
            </a:fld>
            <a:endParaRPr lang="en-US"/>
          </a:p>
        </p:txBody>
      </p:sp>
    </p:spTree>
    <p:extLst>
      <p:ext uri="{BB962C8B-B14F-4D97-AF65-F5344CB8AC3E}">
        <p14:creationId xmlns:p14="http://schemas.microsoft.com/office/powerpoint/2010/main" val="22857881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7FC1DA5-B694-2224-665C-D96700EBD8C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D6D22A-D098-D3F1-A5D5-B8A1732C149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4FB759-EE1F-F553-E224-71E10BCA0CDF}"/>
              </a:ext>
            </a:extLst>
          </p:cNvPr>
          <p:cNvSpPr>
            <a:spLocks noGrp="1"/>
          </p:cNvSpPr>
          <p:nvPr>
            <p:ph type="dt" sz="half" idx="10"/>
          </p:nvPr>
        </p:nvSpPr>
        <p:spPr/>
        <p:txBody>
          <a:bodyPr/>
          <a:lstStyle/>
          <a:p>
            <a:fld id="{5D731225-7482-4AF5-BA25-34C9739D96CB}" type="datetimeFigureOut">
              <a:rPr lang="en-US" smtClean="0"/>
              <a:t>3/16/2026</a:t>
            </a:fld>
            <a:endParaRPr lang="en-US"/>
          </a:p>
        </p:txBody>
      </p:sp>
      <p:sp>
        <p:nvSpPr>
          <p:cNvPr id="5" name="Footer Placeholder 4">
            <a:extLst>
              <a:ext uri="{FF2B5EF4-FFF2-40B4-BE49-F238E27FC236}">
                <a16:creationId xmlns:a16="http://schemas.microsoft.com/office/drawing/2014/main" id="{80690E6E-31AF-278E-070D-88C379824E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BBAFB1-EA89-26B8-E7C8-5FE01353AC4C}"/>
              </a:ext>
            </a:extLst>
          </p:cNvPr>
          <p:cNvSpPr>
            <a:spLocks noGrp="1"/>
          </p:cNvSpPr>
          <p:nvPr>
            <p:ph type="sldNum" sz="quarter" idx="12"/>
          </p:nvPr>
        </p:nvSpPr>
        <p:spPr/>
        <p:txBody>
          <a:bodyPr/>
          <a:lstStyle/>
          <a:p>
            <a:fld id="{3601F530-7132-47EB-8AFA-7239D51633D3}" type="slidenum">
              <a:rPr lang="en-US" smtClean="0"/>
              <a:t>‹#›</a:t>
            </a:fld>
            <a:endParaRPr lang="en-US"/>
          </a:p>
        </p:txBody>
      </p:sp>
    </p:spTree>
    <p:extLst>
      <p:ext uri="{BB962C8B-B14F-4D97-AF65-F5344CB8AC3E}">
        <p14:creationId xmlns:p14="http://schemas.microsoft.com/office/powerpoint/2010/main" val="6777747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9F9A4A7-D9E4-6689-0AD6-F473D73889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0EB22B1-F92F-5FD3-7C29-DECE192AD8D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EBF1AF-E249-4C98-CA5F-7DDF3AA3D7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D731225-7482-4AF5-BA25-34C9739D96CB}" type="datetimeFigureOut">
              <a:rPr lang="en-US" smtClean="0"/>
              <a:t>3/16/2026</a:t>
            </a:fld>
            <a:endParaRPr lang="en-US"/>
          </a:p>
        </p:txBody>
      </p:sp>
      <p:sp>
        <p:nvSpPr>
          <p:cNvPr id="5" name="Footer Placeholder 4">
            <a:extLst>
              <a:ext uri="{FF2B5EF4-FFF2-40B4-BE49-F238E27FC236}">
                <a16:creationId xmlns:a16="http://schemas.microsoft.com/office/drawing/2014/main" id="{DAAB42A8-CDFC-D254-F616-565BA253A96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E961BD8-55BA-1AD7-C1DB-ABB423CE51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601F530-7132-47EB-8AFA-7239D51633D3}" type="slidenum">
              <a:rPr lang="en-US" smtClean="0"/>
              <a:t>‹#›</a:t>
            </a:fld>
            <a:endParaRPr lang="en-US"/>
          </a:p>
        </p:txBody>
      </p:sp>
    </p:spTree>
    <p:extLst>
      <p:ext uri="{BB962C8B-B14F-4D97-AF65-F5344CB8AC3E}">
        <p14:creationId xmlns:p14="http://schemas.microsoft.com/office/powerpoint/2010/main" val="10449591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DF05ACD0-FF4A-4F8F-B5C5-6A4EBD0D1B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4C9AFA28-B5ED-4346-9AF7-68A157F16C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2" name="Title 1">
            <a:extLst>
              <a:ext uri="{FF2B5EF4-FFF2-40B4-BE49-F238E27FC236}">
                <a16:creationId xmlns:a16="http://schemas.microsoft.com/office/drawing/2014/main" id="{20802299-E730-54C6-755E-4D148DB2448A}"/>
              </a:ext>
            </a:extLst>
          </p:cNvPr>
          <p:cNvSpPr>
            <a:spLocks noGrp="1"/>
          </p:cNvSpPr>
          <p:nvPr>
            <p:ph type="ctrTitle"/>
          </p:nvPr>
        </p:nvSpPr>
        <p:spPr>
          <a:xfrm>
            <a:off x="1472608" y="1380564"/>
            <a:ext cx="4561369" cy="2346229"/>
          </a:xfrm>
        </p:spPr>
        <p:txBody>
          <a:bodyPr anchor="b">
            <a:normAutofit/>
          </a:bodyPr>
          <a:lstStyle/>
          <a:p>
            <a:r>
              <a:rPr lang="en-US" sz="3200" b="1">
                <a:solidFill>
                  <a:srgbClr val="595959"/>
                </a:solidFill>
              </a:rPr>
              <a:t>Enhancing Operational Efficiency in a Multispecialty Hospital</a:t>
            </a:r>
          </a:p>
        </p:txBody>
      </p:sp>
      <p:sp>
        <p:nvSpPr>
          <p:cNvPr id="3" name="Subtitle 2">
            <a:extLst>
              <a:ext uri="{FF2B5EF4-FFF2-40B4-BE49-F238E27FC236}">
                <a16:creationId xmlns:a16="http://schemas.microsoft.com/office/drawing/2014/main" id="{311F689F-B2E3-54A1-A17E-25737E5D728D}"/>
              </a:ext>
            </a:extLst>
          </p:cNvPr>
          <p:cNvSpPr>
            <a:spLocks noGrp="1"/>
          </p:cNvSpPr>
          <p:nvPr>
            <p:ph type="subTitle" idx="1"/>
          </p:nvPr>
        </p:nvSpPr>
        <p:spPr>
          <a:xfrm>
            <a:off x="1472608" y="4061345"/>
            <a:ext cx="4561369" cy="1416090"/>
          </a:xfrm>
        </p:spPr>
        <p:txBody>
          <a:bodyPr anchor="t">
            <a:normAutofit/>
          </a:bodyPr>
          <a:lstStyle/>
          <a:p>
            <a:r>
              <a:rPr lang="en-US" sz="1400" dirty="0">
                <a:solidFill>
                  <a:srgbClr val="595959"/>
                </a:solidFill>
              </a:rPr>
              <a:t>Name- Vaishnavi Suryawanshi </a:t>
            </a:r>
          </a:p>
          <a:p>
            <a:r>
              <a:rPr lang="en-US" sz="1400" dirty="0">
                <a:solidFill>
                  <a:srgbClr val="595959"/>
                </a:solidFill>
              </a:rPr>
              <a:t>Role- Business Analysts(Academic Project)</a:t>
            </a:r>
          </a:p>
          <a:p>
            <a:r>
              <a:rPr lang="en-US" sz="1400" dirty="0">
                <a:solidFill>
                  <a:srgbClr val="595959"/>
                </a:solidFill>
              </a:rPr>
              <a:t>Tools Used- Microsoft Excel  , </a:t>
            </a:r>
            <a:r>
              <a:rPr lang="en-US" sz="1400" dirty="0" err="1">
                <a:solidFill>
                  <a:srgbClr val="595959"/>
                </a:solidFill>
              </a:rPr>
              <a:t>Lucidchart</a:t>
            </a:r>
            <a:endParaRPr lang="en-US" sz="1400" dirty="0">
              <a:solidFill>
                <a:srgbClr val="595959"/>
              </a:solidFill>
            </a:endParaRPr>
          </a:p>
          <a:p>
            <a:endParaRPr lang="en-US" sz="1400" dirty="0">
              <a:solidFill>
                <a:srgbClr val="595959"/>
              </a:solidFill>
            </a:endParaRPr>
          </a:p>
        </p:txBody>
      </p:sp>
      <p:pic>
        <p:nvPicPr>
          <p:cNvPr id="7" name="Graphic 6" descr="Stethoscope">
            <a:extLst>
              <a:ext uri="{FF2B5EF4-FFF2-40B4-BE49-F238E27FC236}">
                <a16:creationId xmlns:a16="http://schemas.microsoft.com/office/drawing/2014/main" id="{82E18A4E-4860-7192-3A2F-D190258D8A5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10935" y="1419785"/>
            <a:ext cx="4018430" cy="4018430"/>
          </a:xfrm>
          <a:prstGeom prst="rect">
            <a:avLst/>
          </a:prstGeom>
        </p:spPr>
      </p:pic>
    </p:spTree>
    <p:extLst>
      <p:ext uri="{BB962C8B-B14F-4D97-AF65-F5344CB8AC3E}">
        <p14:creationId xmlns:p14="http://schemas.microsoft.com/office/powerpoint/2010/main" val="4050237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7" name="Rectangle 46">
            <a:extLst>
              <a:ext uri="{FF2B5EF4-FFF2-40B4-BE49-F238E27FC236}">
                <a16:creationId xmlns:a16="http://schemas.microsoft.com/office/drawing/2014/main" id="{27250CB5-9DDC-48C3-9D2D-C15BFFF4F3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C38FEF35-B9B3-413E-A8C4-9FF5A15A4E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71601" y="1371600"/>
            <a:ext cx="6770084" cy="41148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145C07-AD3E-3AA8-0101-F1E5AF9A2969}"/>
              </a:ext>
            </a:extLst>
          </p:cNvPr>
          <p:cNvSpPr>
            <a:spLocks noGrp="1"/>
          </p:cNvSpPr>
          <p:nvPr>
            <p:ph type="title"/>
          </p:nvPr>
        </p:nvSpPr>
        <p:spPr>
          <a:xfrm>
            <a:off x="2149522" y="2043753"/>
            <a:ext cx="5281684" cy="2770494"/>
          </a:xfrm>
        </p:spPr>
        <p:txBody>
          <a:bodyPr vert="horz" lIns="91440" tIns="45720" rIns="91440" bIns="45720" rtlCol="0" anchor="ctr">
            <a:normAutofit/>
          </a:bodyPr>
          <a:lstStyle/>
          <a:p>
            <a:pPr algn="ctr"/>
            <a:r>
              <a:rPr lang="en-US" sz="2500" b="1" kern="1200">
                <a:solidFill>
                  <a:srgbClr val="595959"/>
                </a:solidFill>
                <a:latin typeface="+mj-lt"/>
                <a:ea typeface="+mj-ea"/>
                <a:cs typeface="+mj-cs"/>
              </a:rPr>
              <a:t>Project Overview:-</a:t>
            </a:r>
            <a:br>
              <a:rPr lang="en-US" sz="2500" kern="1200">
                <a:solidFill>
                  <a:srgbClr val="595959"/>
                </a:solidFill>
                <a:latin typeface="+mj-lt"/>
                <a:ea typeface="+mj-ea"/>
                <a:cs typeface="+mj-cs"/>
              </a:rPr>
            </a:br>
            <a:r>
              <a:rPr lang="en-US" sz="2500" kern="1200">
                <a:solidFill>
                  <a:srgbClr val="595959"/>
                </a:solidFill>
                <a:latin typeface="+mj-lt"/>
                <a:ea typeface="+mj-ea"/>
                <a:cs typeface="+mj-cs"/>
              </a:rPr>
              <a:t>This project analyzes operational inefficiencies in a multispecialty hospital and proposes digital workflow solutions to reduce patient wait times and improve resource utilization.</a:t>
            </a:r>
            <a:br>
              <a:rPr lang="en-US" sz="2500" kern="1200">
                <a:solidFill>
                  <a:srgbClr val="595959"/>
                </a:solidFill>
                <a:latin typeface="+mj-lt"/>
                <a:ea typeface="+mj-ea"/>
                <a:cs typeface="+mj-cs"/>
              </a:rPr>
            </a:br>
            <a:endParaRPr lang="en-US" sz="2500" kern="1200">
              <a:solidFill>
                <a:srgbClr val="595959"/>
              </a:solidFill>
              <a:latin typeface="+mj-lt"/>
              <a:ea typeface="+mj-ea"/>
              <a:cs typeface="+mj-cs"/>
            </a:endParaRPr>
          </a:p>
        </p:txBody>
      </p:sp>
      <p:sp>
        <p:nvSpPr>
          <p:cNvPr id="51" name="Rectangle 50">
            <a:extLst>
              <a:ext uri="{FF2B5EF4-FFF2-40B4-BE49-F238E27FC236}">
                <a16:creationId xmlns:a16="http://schemas.microsoft.com/office/drawing/2014/main" id="{A7ECB318-89A9-43A0-BC79-4B763473F8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41685" y="1371600"/>
            <a:ext cx="2704023" cy="4114800"/>
          </a:xfrm>
          <a:prstGeom prst="rect">
            <a:avLst/>
          </a:prstGeom>
          <a:solidFill>
            <a:schemeClr val="accent2">
              <a:lumMod val="20000"/>
              <a:lumOff val="80000"/>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91675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299CAB-C506-454B-90FC-406572829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8D99311-F254-40F1-8AB5-EE3E7B9B68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1758576"/>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D89E3CB-00ED-4691-9F0F-F23EA35647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016" y="2444376"/>
            <a:ext cx="10824184" cy="3727824"/>
          </a:xfrm>
          <a:prstGeom prst="rect">
            <a:avLst/>
          </a:prstGeom>
          <a:solidFill>
            <a:schemeClr val="accent2">
              <a:lumMod val="20000"/>
              <a:lumOff val="80000"/>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C4BD443-6EF3-662F-F496-49741D32612A}"/>
              </a:ext>
            </a:extLst>
          </p:cNvPr>
          <p:cNvSpPr txBox="1"/>
          <p:nvPr/>
        </p:nvSpPr>
        <p:spPr>
          <a:xfrm>
            <a:off x="1614162" y="2165420"/>
            <a:ext cx="8959892" cy="2828543"/>
          </a:xfrm>
          <a:prstGeom prst="rect">
            <a:avLst/>
          </a:prstGeom>
        </p:spPr>
        <p:txBody>
          <a:bodyPr vert="horz" lIns="91440" tIns="45720" rIns="91440" bIns="45720" rtlCol="0" anchor="t">
            <a:normAutofit/>
          </a:bodyPr>
          <a:lstStyle/>
          <a:p>
            <a:pPr>
              <a:lnSpc>
                <a:spcPct val="90000"/>
              </a:lnSpc>
              <a:spcAft>
                <a:spcPts val="600"/>
              </a:spcAft>
            </a:pPr>
            <a:r>
              <a:rPr lang="en-US" sz="2400" b="1" dirty="0">
                <a:solidFill>
                  <a:schemeClr val="tx1">
                    <a:lumMod val="65000"/>
                    <a:lumOff val="35000"/>
                  </a:schemeClr>
                </a:solidFill>
              </a:rPr>
              <a:t>Business Problem:-</a:t>
            </a:r>
            <a:endParaRPr lang="en-US" sz="2400" dirty="0">
              <a:solidFill>
                <a:schemeClr val="tx1">
                  <a:lumMod val="65000"/>
                  <a:lumOff val="35000"/>
                </a:schemeClr>
              </a:solidFill>
            </a:endParaRPr>
          </a:p>
          <a:p>
            <a:pPr indent="-228600">
              <a:lnSpc>
                <a:spcPct val="90000"/>
              </a:lnSpc>
              <a:spcAft>
                <a:spcPts val="600"/>
              </a:spcAft>
              <a:buFont typeface="Arial" panose="020B0604020202020204" pitchFamily="34" charset="0"/>
              <a:buChar char="•"/>
            </a:pPr>
            <a:r>
              <a:rPr lang="en-US" sz="2000" dirty="0">
                <a:solidFill>
                  <a:schemeClr val="tx1">
                    <a:lumMod val="65000"/>
                    <a:lumOff val="35000"/>
                  </a:schemeClr>
                </a:solidFill>
              </a:rPr>
              <a:t>Rising patient waiting times due to inefficient scheduling and workflow bottlenecks across hospital departments.</a:t>
            </a:r>
          </a:p>
          <a:p>
            <a:pPr indent="-228600">
              <a:lnSpc>
                <a:spcPct val="90000"/>
              </a:lnSpc>
              <a:spcAft>
                <a:spcPts val="600"/>
              </a:spcAft>
              <a:buFont typeface="Arial" panose="020B0604020202020204" pitchFamily="34" charset="0"/>
              <a:buChar char="•"/>
            </a:pPr>
            <a:r>
              <a:rPr lang="en-US" sz="2000" dirty="0">
                <a:solidFill>
                  <a:schemeClr val="tx1">
                    <a:lumMod val="65000"/>
                    <a:lumOff val="35000"/>
                  </a:schemeClr>
                </a:solidFill>
              </a:rPr>
              <a:t>Limited visibility into </a:t>
            </a:r>
            <a:r>
              <a:rPr lang="en-US" sz="2000" b="1" dirty="0">
                <a:solidFill>
                  <a:schemeClr val="tx1">
                    <a:lumMod val="65000"/>
                    <a:lumOff val="35000"/>
                  </a:schemeClr>
                </a:solidFill>
              </a:rPr>
              <a:t>staff availability and patient flow</a:t>
            </a:r>
            <a:r>
              <a:rPr lang="en-US" sz="2000" dirty="0">
                <a:solidFill>
                  <a:schemeClr val="tx1">
                    <a:lumMod val="65000"/>
                    <a:lumOff val="35000"/>
                  </a:schemeClr>
                </a:solidFill>
              </a:rPr>
              <a:t>, leading to delays in service delivery.</a:t>
            </a:r>
          </a:p>
          <a:p>
            <a:pPr indent="-228600">
              <a:lnSpc>
                <a:spcPct val="90000"/>
              </a:lnSpc>
              <a:spcAft>
                <a:spcPts val="600"/>
              </a:spcAft>
              <a:buFont typeface="Arial" panose="020B0604020202020204" pitchFamily="34" charset="0"/>
              <a:buChar char="•"/>
            </a:pPr>
            <a:r>
              <a:rPr lang="en-US" sz="2000" dirty="0">
                <a:solidFill>
                  <a:schemeClr val="tx1">
                    <a:lumMod val="65000"/>
                    <a:lumOff val="35000"/>
                  </a:schemeClr>
                </a:solidFill>
              </a:rPr>
              <a:t>Manual processes in patient registration and administrative workflows contributing to longer queues and operational inefficiencies.</a:t>
            </a:r>
          </a:p>
        </p:txBody>
      </p:sp>
    </p:spTree>
    <p:extLst>
      <p:ext uri="{BB962C8B-B14F-4D97-AF65-F5344CB8AC3E}">
        <p14:creationId xmlns:p14="http://schemas.microsoft.com/office/powerpoint/2010/main" val="17375363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DE274A2-9566-7D57-AF9E-7ECC4122DC80}"/>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B299CAB-C506-454B-90FC-406572829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8D99311-F254-40F1-8AB5-EE3E7B9B68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1758576"/>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EF5A92-566C-FDCD-EF02-362F20C67550}"/>
              </a:ext>
            </a:extLst>
          </p:cNvPr>
          <p:cNvSpPr>
            <a:spLocks noGrp="1"/>
          </p:cNvSpPr>
          <p:nvPr>
            <p:ph type="ctrTitle"/>
          </p:nvPr>
        </p:nvSpPr>
        <p:spPr>
          <a:xfrm>
            <a:off x="1616054" y="1070149"/>
            <a:ext cx="8959893" cy="1004836"/>
          </a:xfrm>
        </p:spPr>
        <p:txBody>
          <a:bodyPr vert="horz" lIns="91440" tIns="45720" rIns="91440" bIns="45720" rtlCol="0" anchor="ctr">
            <a:normAutofit/>
          </a:bodyPr>
          <a:lstStyle/>
          <a:p>
            <a:r>
              <a:rPr lang="en-US" sz="3200" b="1" kern="1200" dirty="0">
                <a:solidFill>
                  <a:srgbClr val="595959"/>
                </a:solidFill>
                <a:latin typeface="+mj-lt"/>
                <a:ea typeface="+mj-ea"/>
                <a:cs typeface="+mj-cs"/>
              </a:rPr>
              <a:t>Business Objectives:-</a:t>
            </a:r>
          </a:p>
        </p:txBody>
      </p:sp>
      <p:sp>
        <p:nvSpPr>
          <p:cNvPr id="13" name="Rectangle 12">
            <a:extLst>
              <a:ext uri="{FF2B5EF4-FFF2-40B4-BE49-F238E27FC236}">
                <a16:creationId xmlns:a16="http://schemas.microsoft.com/office/drawing/2014/main" id="{7D89E3CB-00ED-4691-9F0F-F23EA35647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016" y="2444376"/>
            <a:ext cx="10824184" cy="3727824"/>
          </a:xfrm>
          <a:prstGeom prst="rect">
            <a:avLst/>
          </a:prstGeom>
          <a:solidFill>
            <a:schemeClr val="accent2">
              <a:lumMod val="20000"/>
              <a:lumOff val="80000"/>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1F45221B-020D-EE98-2B59-A558FA0E3E01}"/>
              </a:ext>
            </a:extLst>
          </p:cNvPr>
          <p:cNvSpPr>
            <a:spLocks noGrp="1" noChangeArrowheads="1"/>
          </p:cNvSpPr>
          <p:nvPr>
            <p:ph type="subTitle" idx="1"/>
          </p:nvPr>
        </p:nvSpPr>
        <p:spPr bwMode="auto">
          <a:xfrm>
            <a:off x="1616054" y="2768321"/>
            <a:ext cx="8959892" cy="282854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p>
            <a:pPr marL="0" marR="0" lvl="0" indent="-228600" algn="l" fontAlgn="base">
              <a:spcBef>
                <a:spcPct val="0"/>
              </a:spcBef>
              <a:spcAft>
                <a:spcPts val="600"/>
              </a:spcAft>
              <a:buClrTx/>
              <a:buSzTx/>
              <a:buFont typeface="Arial" panose="020B0604020202020204" pitchFamily="34" charset="0"/>
              <a:buChar char="•"/>
              <a:tabLst/>
            </a:pPr>
            <a:r>
              <a:rPr kumimoji="0" lang="en-US" altLang="en-US" sz="2000" b="1" i="0" u="none" strike="noStrike" cap="none" normalizeH="0" baseline="0">
                <a:ln>
                  <a:noFill/>
                </a:ln>
                <a:solidFill>
                  <a:schemeClr val="tx1">
                    <a:lumMod val="65000"/>
                    <a:lumOff val="35000"/>
                  </a:schemeClr>
                </a:solidFill>
                <a:effectLst/>
              </a:rPr>
              <a:t>Reduce patient waiting time by 20–30%</a:t>
            </a:r>
            <a:r>
              <a:rPr kumimoji="0" lang="en-US" altLang="en-US" sz="2000" b="0" i="0" u="none" strike="noStrike" cap="none" normalizeH="0" baseline="0">
                <a:ln>
                  <a:noFill/>
                </a:ln>
                <a:solidFill>
                  <a:schemeClr val="tx1">
                    <a:lumMod val="65000"/>
                    <a:lumOff val="35000"/>
                  </a:schemeClr>
                </a:solidFill>
                <a:effectLst/>
              </a:rPr>
              <a:t> across key hospital processes </a:t>
            </a:r>
            <a:endParaRPr lang="en-US" altLang="en-US" sz="2000">
              <a:solidFill>
                <a:schemeClr val="tx1">
                  <a:lumMod val="65000"/>
                  <a:lumOff val="35000"/>
                </a:schemeClr>
              </a:solidFill>
            </a:endParaRPr>
          </a:p>
          <a:p>
            <a:pPr marL="0" marR="0" lvl="0" indent="-228600" algn="l" fontAlgn="base">
              <a:spcBef>
                <a:spcPct val="0"/>
              </a:spcBef>
              <a:spcAft>
                <a:spcPts val="600"/>
              </a:spcAft>
              <a:buClrTx/>
              <a:buSzTx/>
              <a:buFont typeface="Arial" panose="020B0604020202020204" pitchFamily="34" charset="0"/>
              <a:buChar char="•"/>
              <a:tabLst/>
            </a:pPr>
            <a:r>
              <a:rPr lang="en-US" altLang="en-US" sz="2000">
                <a:solidFill>
                  <a:schemeClr val="tx1">
                    <a:lumMod val="65000"/>
                    <a:lumOff val="35000"/>
                  </a:schemeClr>
                </a:solidFill>
              </a:rPr>
              <a:t>Improve Staff Scheduling efficiency by aligning staff availability with peak patient demand</a:t>
            </a:r>
          </a:p>
          <a:p>
            <a:pPr marL="0" marR="0" lvl="0" indent="-228600" algn="l" fontAlgn="base">
              <a:spcBef>
                <a:spcPct val="0"/>
              </a:spcBef>
              <a:spcAft>
                <a:spcPts val="600"/>
              </a:spcAft>
              <a:buClrTx/>
              <a:buSzTx/>
              <a:buFont typeface="Arial" panose="020B0604020202020204" pitchFamily="34" charset="0"/>
              <a:buChar char="•"/>
              <a:tabLst/>
            </a:pPr>
            <a:r>
              <a:rPr kumimoji="0" lang="en-US" altLang="en-US" sz="2000" b="0" i="0" u="none" strike="noStrike" cap="none" normalizeH="0" baseline="0">
                <a:ln>
                  <a:noFill/>
                </a:ln>
                <a:solidFill>
                  <a:schemeClr val="tx1">
                    <a:lumMod val="65000"/>
                    <a:lumOff val="35000"/>
                  </a:schemeClr>
                </a:solidFill>
                <a:effectLst/>
              </a:rPr>
              <a:t>Reduce manual paperwork by implementing digital patient registration systems</a:t>
            </a:r>
          </a:p>
          <a:p>
            <a:pPr marL="0" marR="0" lvl="0" indent="-228600" algn="l" fontAlgn="base">
              <a:spcBef>
                <a:spcPct val="0"/>
              </a:spcBef>
              <a:spcAft>
                <a:spcPts val="600"/>
              </a:spcAft>
              <a:buClrTx/>
              <a:buSzTx/>
              <a:buFont typeface="Arial" panose="020B0604020202020204" pitchFamily="34" charset="0"/>
              <a:buChar char="•"/>
              <a:tabLst/>
            </a:pPr>
            <a:r>
              <a:rPr lang="en-US" altLang="en-US" sz="2000">
                <a:solidFill>
                  <a:schemeClr val="tx1">
                    <a:lumMod val="65000"/>
                    <a:lumOff val="35000"/>
                  </a:schemeClr>
                </a:solidFill>
              </a:rPr>
              <a:t>Improve patient flow across department to reduce operational delays</a:t>
            </a:r>
          </a:p>
          <a:p>
            <a:pPr marL="0" marR="0" lvl="0" indent="-228600" algn="l" fontAlgn="base">
              <a:spcBef>
                <a:spcPct val="0"/>
              </a:spcBef>
              <a:spcAft>
                <a:spcPts val="600"/>
              </a:spcAft>
              <a:buClrTx/>
              <a:buSzTx/>
              <a:buFont typeface="Arial" panose="020B0604020202020204" pitchFamily="34" charset="0"/>
              <a:buChar char="•"/>
              <a:tabLst/>
            </a:pPr>
            <a:r>
              <a:rPr kumimoji="0" lang="en-US" altLang="en-US" sz="2000" b="0" i="0" u="none" strike="noStrike" cap="none" normalizeH="0" baseline="0">
                <a:ln>
                  <a:noFill/>
                </a:ln>
                <a:solidFill>
                  <a:schemeClr val="tx1">
                    <a:lumMod val="65000"/>
                    <a:lumOff val="35000"/>
                  </a:schemeClr>
                </a:solidFill>
                <a:effectLst/>
              </a:rPr>
              <a:t>Enhance overall patient experience through faster and more efficient hospital services</a:t>
            </a:r>
          </a:p>
        </p:txBody>
      </p:sp>
    </p:spTree>
    <p:extLst>
      <p:ext uri="{BB962C8B-B14F-4D97-AF65-F5344CB8AC3E}">
        <p14:creationId xmlns:p14="http://schemas.microsoft.com/office/powerpoint/2010/main" val="5224792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7" name="Rectangle 56">
            <a:extLst>
              <a:ext uri="{FF2B5EF4-FFF2-40B4-BE49-F238E27FC236}">
                <a16:creationId xmlns:a16="http://schemas.microsoft.com/office/drawing/2014/main" id="{DF05ACD0-FF4A-4F8F-B5C5-6A4EBD0D1B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4C9AFA28-B5ED-4346-9AF7-68A157F16C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2" name="Title 1">
            <a:extLst>
              <a:ext uri="{FF2B5EF4-FFF2-40B4-BE49-F238E27FC236}">
                <a16:creationId xmlns:a16="http://schemas.microsoft.com/office/drawing/2014/main" id="{AD115DED-E444-948F-561A-BF7E6D982D99}"/>
              </a:ext>
            </a:extLst>
          </p:cNvPr>
          <p:cNvSpPr>
            <a:spLocks noGrp="1"/>
          </p:cNvSpPr>
          <p:nvPr>
            <p:ph type="ctrTitle"/>
          </p:nvPr>
        </p:nvSpPr>
        <p:spPr>
          <a:xfrm>
            <a:off x="1472608" y="1380564"/>
            <a:ext cx="4561369" cy="2346229"/>
          </a:xfrm>
        </p:spPr>
        <p:txBody>
          <a:bodyPr anchor="b">
            <a:normAutofit/>
          </a:bodyPr>
          <a:lstStyle/>
          <a:p>
            <a:r>
              <a:rPr lang="en-US" sz="3200" b="1">
                <a:solidFill>
                  <a:srgbClr val="595959"/>
                </a:solidFill>
              </a:rPr>
              <a:t>Stakeholder Analysis:-</a:t>
            </a:r>
          </a:p>
        </p:txBody>
      </p:sp>
      <p:graphicFrame>
        <p:nvGraphicFramePr>
          <p:cNvPr id="4" name="Table 3">
            <a:extLst>
              <a:ext uri="{FF2B5EF4-FFF2-40B4-BE49-F238E27FC236}">
                <a16:creationId xmlns:a16="http://schemas.microsoft.com/office/drawing/2014/main" id="{256FB397-86F2-A0CB-9980-CA0CDB5284E0}"/>
              </a:ext>
            </a:extLst>
          </p:cNvPr>
          <p:cNvGraphicFramePr>
            <a:graphicFrameLocks noGrp="1"/>
          </p:cNvGraphicFramePr>
          <p:nvPr>
            <p:extLst>
              <p:ext uri="{D42A27DB-BD31-4B8C-83A1-F6EECF244321}">
                <p14:modId xmlns:p14="http://schemas.microsoft.com/office/powerpoint/2010/main" val="2791520506"/>
              </p:ext>
            </p:extLst>
          </p:nvPr>
        </p:nvGraphicFramePr>
        <p:xfrm>
          <a:off x="6810935" y="2025834"/>
          <a:ext cx="4018431" cy="2806336"/>
        </p:xfrm>
        <a:graphic>
          <a:graphicData uri="http://schemas.openxmlformats.org/drawingml/2006/table">
            <a:tbl>
              <a:tblPr firstRow="1" bandRow="1">
                <a:solidFill>
                  <a:schemeClr val="bg1">
                    <a:lumMod val="95000"/>
                  </a:schemeClr>
                </a:solidFill>
                <a:tableStyleId>{9D7B26C5-4107-4FEC-AEDC-1716B250A1EF}</a:tableStyleId>
              </a:tblPr>
              <a:tblGrid>
                <a:gridCol w="2047465">
                  <a:extLst>
                    <a:ext uri="{9D8B030D-6E8A-4147-A177-3AD203B41FA5}">
                      <a16:colId xmlns:a16="http://schemas.microsoft.com/office/drawing/2014/main" val="701393801"/>
                    </a:ext>
                  </a:extLst>
                </a:gridCol>
                <a:gridCol w="1970966">
                  <a:extLst>
                    <a:ext uri="{9D8B030D-6E8A-4147-A177-3AD203B41FA5}">
                      <a16:colId xmlns:a16="http://schemas.microsoft.com/office/drawing/2014/main" val="3891498190"/>
                    </a:ext>
                  </a:extLst>
                </a:gridCol>
              </a:tblGrid>
              <a:tr h="696896">
                <a:tc>
                  <a:txBody>
                    <a:bodyPr/>
                    <a:lstStyle/>
                    <a:p>
                      <a:r>
                        <a:rPr lang="en-US" sz="1600" b="1" cap="none" spc="0">
                          <a:solidFill>
                            <a:schemeClr val="tx1"/>
                          </a:solidFill>
                        </a:rPr>
                        <a:t>                            Stakeholders</a:t>
                      </a:r>
                    </a:p>
                  </a:txBody>
                  <a:tcPr marL="65627" marR="117850" marT="18751" marB="140629"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r>
                        <a:rPr lang="en-US" sz="1600" b="1" cap="none" spc="0">
                          <a:solidFill>
                            <a:schemeClr val="tx1"/>
                          </a:solidFill>
                        </a:rPr>
                        <a:t>             Role</a:t>
                      </a:r>
                    </a:p>
                  </a:txBody>
                  <a:tcPr marL="65627" marR="117850" marT="18751" marB="140629" anchor="b">
                    <a:lnL w="12700" cmpd="sng">
                      <a:noFill/>
                    </a:lnL>
                    <a:lnR w="12700" cmpd="sng">
                      <a:noFill/>
                    </a:lnR>
                    <a:lnT w="9525" cap="flat" cmpd="sng" algn="ctr">
                      <a:noFill/>
                      <a:prstDash val="solid"/>
                    </a:lnT>
                    <a:lnB w="38100" cmpd="sng">
                      <a:noFill/>
                    </a:lnB>
                    <a:solidFill>
                      <a:schemeClr val="bg1">
                        <a:lumMod val="95000"/>
                      </a:schemeClr>
                    </a:solidFill>
                  </a:tcPr>
                </a:tc>
                <a:extLst>
                  <a:ext uri="{0D108BD9-81ED-4DB2-BD59-A6C34878D82A}">
                    <a16:rowId xmlns:a16="http://schemas.microsoft.com/office/drawing/2014/main" val="2478077215"/>
                  </a:ext>
                </a:extLst>
              </a:tr>
              <a:tr h="384387">
                <a:tc>
                  <a:txBody>
                    <a:bodyPr/>
                    <a:lstStyle/>
                    <a:p>
                      <a:r>
                        <a:rPr lang="en-US" sz="1200" cap="none" spc="0">
                          <a:solidFill>
                            <a:schemeClr val="tx1"/>
                          </a:solidFill>
                        </a:rPr>
                        <a:t>               Hospital Admin </a:t>
                      </a:r>
                      <a:endParaRPr lang="en-US" sz="1200" cap="none" spc="0">
                        <a:solidFill>
                          <a:schemeClr val="tx1"/>
                        </a:solidFill>
                        <a:latin typeface="+mn-lt"/>
                      </a:endParaRPr>
                    </a:p>
                  </a:txBody>
                  <a:tcPr marL="65627" marR="117850" marT="18751" marB="140629">
                    <a:lnL w="12700" cap="flat" cmpd="sng" algn="ctr">
                      <a:solidFill>
                        <a:schemeClr val="accent1"/>
                      </a:solidFill>
                      <a:prstDash val="solid"/>
                    </a:lnL>
                    <a:lnR w="12700" cmpd="sng">
                      <a:noFill/>
                      <a:prstDash val="solid"/>
                    </a:lnR>
                    <a:lnT w="38100" cmpd="sng">
                      <a:noFill/>
                    </a:lnT>
                    <a:lnB w="9525" cap="flat" cmpd="sng" algn="ctr">
                      <a:noFill/>
                      <a:prstDash val="solid"/>
                    </a:lnB>
                    <a:solidFill>
                      <a:schemeClr val="bg1">
                        <a:lumMod val="95000"/>
                      </a:schemeClr>
                    </a:solidFill>
                  </a:tcPr>
                </a:tc>
                <a:tc>
                  <a:txBody>
                    <a:bodyPr/>
                    <a:lstStyle/>
                    <a:p>
                      <a:r>
                        <a:rPr lang="en-US" sz="1200" cap="none" spc="0">
                          <a:solidFill>
                            <a:schemeClr val="tx1"/>
                          </a:solidFill>
                        </a:rPr>
                        <a:t>   Decision Making </a:t>
                      </a:r>
                      <a:endParaRPr lang="en-US" sz="1200" cap="none" spc="0">
                        <a:solidFill>
                          <a:schemeClr val="tx1"/>
                        </a:solidFill>
                        <a:latin typeface="+mn-lt"/>
                      </a:endParaRPr>
                    </a:p>
                  </a:txBody>
                  <a:tcPr marL="65627" marR="117850" marT="18751" marB="140629">
                    <a:lnL w="12700" cmpd="sng">
                      <a:noFill/>
                      <a:prstDash val="solid"/>
                    </a:lnL>
                    <a:lnR w="12700" cmpd="sng">
                      <a:noFill/>
                      <a:prstDash val="solid"/>
                    </a:lnR>
                    <a:lnT w="38100" cmpd="sng">
                      <a:noFill/>
                    </a:lnT>
                    <a:lnB w="9525" cap="flat" cmpd="sng" algn="ctr">
                      <a:noFill/>
                      <a:prstDash val="solid"/>
                    </a:lnB>
                    <a:solidFill>
                      <a:schemeClr val="bg1">
                        <a:lumMod val="95000"/>
                      </a:schemeClr>
                    </a:solidFill>
                  </a:tcPr>
                </a:tc>
                <a:extLst>
                  <a:ext uri="{0D108BD9-81ED-4DB2-BD59-A6C34878D82A}">
                    <a16:rowId xmlns:a16="http://schemas.microsoft.com/office/drawing/2014/main" val="1670117192"/>
                  </a:ext>
                </a:extLst>
              </a:tr>
              <a:tr h="384387">
                <a:tc>
                  <a:txBody>
                    <a:bodyPr/>
                    <a:lstStyle/>
                    <a:p>
                      <a:r>
                        <a:rPr lang="en-US" sz="1200" cap="none" spc="0">
                          <a:solidFill>
                            <a:schemeClr val="tx1"/>
                          </a:solidFill>
                        </a:rPr>
                        <a:t>                 Doctors</a:t>
                      </a:r>
                      <a:endParaRPr lang="en-US" sz="1200" cap="none" spc="0">
                        <a:solidFill>
                          <a:schemeClr val="tx1"/>
                        </a:solidFill>
                        <a:latin typeface="+mn-lt"/>
                      </a:endParaRPr>
                    </a:p>
                  </a:txBody>
                  <a:tcPr marL="65627" marR="117850" marT="18751" marB="140629">
                    <a:lnL w="12700" cap="flat" cmpd="sng" algn="ctr">
                      <a:solidFill>
                        <a:schemeClr val="accent1"/>
                      </a:solid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r>
                        <a:rPr lang="en-US" sz="1200" cap="none" spc="0">
                          <a:solidFill>
                            <a:schemeClr val="tx1"/>
                          </a:solidFill>
                        </a:rPr>
                        <a:t>   Patient Care</a:t>
                      </a:r>
                      <a:endParaRPr lang="en-US" sz="1200" cap="none" spc="0">
                        <a:solidFill>
                          <a:schemeClr val="tx1"/>
                        </a:solidFill>
                        <a:latin typeface="+mn-lt"/>
                      </a:endParaRPr>
                    </a:p>
                  </a:txBody>
                  <a:tcPr marL="65627" marR="117850" marT="18751" marB="140629">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extLst>
                  <a:ext uri="{0D108BD9-81ED-4DB2-BD59-A6C34878D82A}">
                    <a16:rowId xmlns:a16="http://schemas.microsoft.com/office/drawing/2014/main" val="2736282438"/>
                  </a:ext>
                </a:extLst>
              </a:tr>
              <a:tr h="571892">
                <a:tc>
                  <a:txBody>
                    <a:bodyPr/>
                    <a:lstStyle/>
                    <a:p>
                      <a:r>
                        <a:rPr lang="en-US" sz="1200" cap="none" spc="0">
                          <a:solidFill>
                            <a:schemeClr val="tx1"/>
                          </a:solidFill>
                        </a:rPr>
                        <a:t>               Administrative Staff</a:t>
                      </a:r>
                      <a:endParaRPr lang="en-US" sz="1200" cap="none" spc="0">
                        <a:solidFill>
                          <a:schemeClr val="tx1"/>
                        </a:solidFill>
                        <a:latin typeface="+mn-lt"/>
                      </a:endParaRPr>
                    </a:p>
                  </a:txBody>
                  <a:tcPr marL="65627" marR="117850" marT="18751" marB="140629">
                    <a:lnL w="12700" cap="flat" cmpd="sng" algn="ctr">
                      <a:solidFill>
                        <a:schemeClr val="accent1"/>
                      </a:solidFill>
                      <a:prstDash val="solid"/>
                    </a:lnL>
                    <a:lnR w="12700" cmpd="sng">
                      <a:noFill/>
                      <a:prstDash val="solid"/>
                    </a:lnR>
                    <a:lnT w="12700" cmpd="sng">
                      <a:noFill/>
                      <a:prstDash val="solid"/>
                    </a:lnT>
                    <a:lnB w="9525" cap="flat" cmpd="sng" algn="ctr">
                      <a:noFill/>
                      <a:prstDash val="solid"/>
                    </a:lnB>
                    <a:solidFill>
                      <a:schemeClr val="bg1">
                        <a:lumMod val="95000"/>
                      </a:schemeClr>
                    </a:solidFill>
                  </a:tcPr>
                </a:tc>
                <a:tc>
                  <a:txBody>
                    <a:bodyPr/>
                    <a:lstStyle/>
                    <a:p>
                      <a:r>
                        <a:rPr lang="en-US" sz="1200" cap="none" spc="0">
                          <a:solidFill>
                            <a:schemeClr val="tx1"/>
                          </a:solidFill>
                        </a:rPr>
                        <a:t> Registration &amp;scheduling</a:t>
                      </a:r>
                      <a:endParaRPr lang="en-US" sz="1200" cap="none" spc="0">
                        <a:solidFill>
                          <a:schemeClr val="tx1"/>
                        </a:solidFill>
                        <a:latin typeface="+mn-lt"/>
                      </a:endParaRPr>
                    </a:p>
                  </a:txBody>
                  <a:tcPr marL="65627" marR="117850" marT="18751" marB="140629">
                    <a:lnL w="12700" cmpd="sng">
                      <a:noFill/>
                      <a:prstDash val="solid"/>
                    </a:lnL>
                    <a:lnR w="12700" cmpd="sng">
                      <a:noFill/>
                      <a:prstDash val="solid"/>
                    </a:lnR>
                    <a:lnT w="12700" cmpd="sng">
                      <a:noFill/>
                      <a:prstDash val="solid"/>
                    </a:lnT>
                    <a:lnB w="9525" cap="flat" cmpd="sng" algn="ctr">
                      <a:noFill/>
                      <a:prstDash val="solid"/>
                    </a:lnB>
                    <a:solidFill>
                      <a:schemeClr val="bg1">
                        <a:lumMod val="95000"/>
                      </a:schemeClr>
                    </a:solidFill>
                  </a:tcPr>
                </a:tc>
                <a:extLst>
                  <a:ext uri="{0D108BD9-81ED-4DB2-BD59-A6C34878D82A}">
                    <a16:rowId xmlns:a16="http://schemas.microsoft.com/office/drawing/2014/main" val="3586302652"/>
                  </a:ext>
                </a:extLst>
              </a:tr>
              <a:tr h="384387">
                <a:tc>
                  <a:txBody>
                    <a:bodyPr/>
                    <a:lstStyle/>
                    <a:p>
                      <a:r>
                        <a:rPr lang="en-US" sz="1200" cap="none" spc="0">
                          <a:solidFill>
                            <a:schemeClr val="tx1"/>
                          </a:solidFill>
                        </a:rPr>
                        <a:t>               IT Department</a:t>
                      </a:r>
                      <a:endParaRPr lang="en-US" sz="1200" cap="none" spc="0">
                        <a:solidFill>
                          <a:schemeClr val="tx1"/>
                        </a:solidFill>
                        <a:latin typeface="+mn-lt"/>
                      </a:endParaRPr>
                    </a:p>
                  </a:txBody>
                  <a:tcPr marL="65627" marR="117850" marT="18751" marB="140629">
                    <a:lnL w="12700" cap="flat" cmpd="sng" algn="ctr">
                      <a:solidFill>
                        <a:schemeClr val="accent1"/>
                      </a:solid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a:buNone/>
                      </a:pPr>
                      <a:r>
                        <a:rPr lang="en-US" sz="1200" cap="none" spc="0">
                          <a:solidFill>
                            <a:schemeClr val="tx1"/>
                          </a:solidFill>
                        </a:rPr>
                        <a:t> System Implementation</a:t>
                      </a:r>
                      <a:endParaRPr lang="en-US" sz="1200" cap="none" spc="0">
                        <a:solidFill>
                          <a:schemeClr val="tx1"/>
                        </a:solidFill>
                        <a:latin typeface="+mn-lt"/>
                      </a:endParaRPr>
                    </a:p>
                  </a:txBody>
                  <a:tcPr marL="65627" marR="117850" marT="18751" marB="140629"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extLst>
                  <a:ext uri="{0D108BD9-81ED-4DB2-BD59-A6C34878D82A}">
                    <a16:rowId xmlns:a16="http://schemas.microsoft.com/office/drawing/2014/main" val="632365121"/>
                  </a:ext>
                </a:extLst>
              </a:tr>
              <a:tr h="384387">
                <a:tc>
                  <a:txBody>
                    <a:bodyPr/>
                    <a:lstStyle/>
                    <a:p>
                      <a:r>
                        <a:rPr lang="en-US" sz="1200" cap="none" spc="0">
                          <a:solidFill>
                            <a:schemeClr val="tx1"/>
                          </a:solidFill>
                        </a:rPr>
                        <a:t>                Patients</a:t>
                      </a:r>
                      <a:endParaRPr lang="en-US" sz="1200" cap="none" spc="0">
                        <a:solidFill>
                          <a:schemeClr val="tx1"/>
                        </a:solidFill>
                        <a:latin typeface="+mn-lt"/>
                      </a:endParaRPr>
                    </a:p>
                  </a:txBody>
                  <a:tcPr marL="65627" marR="117850" marT="18751" marB="140629">
                    <a:lnL w="12700" cap="flat" cmpd="sng" algn="ctr">
                      <a:solidFill>
                        <a:schemeClr val="accent1"/>
                      </a:solid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1200" cap="none" spc="0">
                          <a:solidFill>
                            <a:schemeClr val="tx1"/>
                          </a:solidFill>
                        </a:rPr>
                        <a:t>      End User</a:t>
                      </a:r>
                      <a:endParaRPr lang="en-US" sz="1200" cap="none" spc="0">
                        <a:solidFill>
                          <a:schemeClr val="tx1"/>
                        </a:solidFill>
                        <a:latin typeface="+mn-lt"/>
                      </a:endParaRPr>
                    </a:p>
                  </a:txBody>
                  <a:tcPr marL="65627" marR="117850" marT="18751" marB="140629">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2275417183"/>
                  </a:ext>
                </a:extLst>
              </a:tr>
            </a:tbl>
          </a:graphicData>
        </a:graphic>
      </p:graphicFrame>
    </p:spTree>
    <p:extLst>
      <p:ext uri="{BB962C8B-B14F-4D97-AF65-F5344CB8AC3E}">
        <p14:creationId xmlns:p14="http://schemas.microsoft.com/office/powerpoint/2010/main" val="11205819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7FCAADA2-14BE-41D0-AAB5-63CE70589D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04AB8356-CBDE-4DFD-A0D1-05042859B7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1"/>
            <a:ext cx="7434727" cy="6857999"/>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EC02101-A358-4503-9755-19E25B531D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7464" y="685798"/>
            <a:ext cx="6074336"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8336F3-736D-458A-9006-6599AF621613}"/>
              </a:ext>
            </a:extLst>
          </p:cNvPr>
          <p:cNvSpPr>
            <a:spLocks noGrp="1"/>
          </p:cNvSpPr>
          <p:nvPr>
            <p:ph type="title"/>
          </p:nvPr>
        </p:nvSpPr>
        <p:spPr>
          <a:xfrm>
            <a:off x="1561332" y="1673841"/>
            <a:ext cx="4344935" cy="3510314"/>
          </a:xfrm>
        </p:spPr>
        <p:txBody>
          <a:bodyPr vert="horz" lIns="91440" tIns="45720" rIns="91440" bIns="45720" rtlCol="0" anchor="ctr">
            <a:normAutofit/>
          </a:bodyPr>
          <a:lstStyle/>
          <a:p>
            <a:pPr algn="ctr"/>
            <a:r>
              <a:rPr lang="en-US" sz="3200" b="1" kern="1200">
                <a:solidFill>
                  <a:schemeClr val="tx1">
                    <a:lumMod val="65000"/>
                    <a:lumOff val="35000"/>
                  </a:schemeClr>
                </a:solidFill>
                <a:latin typeface="+mj-lt"/>
                <a:ea typeface="+mj-ea"/>
                <a:cs typeface="+mj-cs"/>
              </a:rPr>
              <a:t>Scope Management Plan</a:t>
            </a:r>
          </a:p>
        </p:txBody>
      </p:sp>
      <p:sp>
        <p:nvSpPr>
          <p:cNvPr id="31" name="Rectangle 30">
            <a:extLst>
              <a:ext uri="{FF2B5EF4-FFF2-40B4-BE49-F238E27FC236}">
                <a16:creationId xmlns:a16="http://schemas.microsoft.com/office/drawing/2014/main" id="{CEF3B455-556F-48DE-8356-331B00ACD5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34729" y="-1"/>
            <a:ext cx="4757271" cy="6857999"/>
          </a:xfrm>
          <a:prstGeom prst="rect">
            <a:avLst/>
          </a:prstGeom>
          <a:solidFill>
            <a:schemeClr val="accent2">
              <a:lumMod val="20000"/>
              <a:lumOff val="80000"/>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98794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B299CAB-C506-454B-90FC-406572829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8D99311-F254-40F1-8AB5-EE3E7B9B68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1758576"/>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D89E3CB-00ED-4691-9F0F-F23EA35647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016" y="2444376"/>
            <a:ext cx="10824184" cy="3727824"/>
          </a:xfrm>
          <a:prstGeom prst="rect">
            <a:avLst/>
          </a:prstGeom>
          <a:solidFill>
            <a:schemeClr val="accent2">
              <a:lumMod val="20000"/>
              <a:lumOff val="80000"/>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90B15E3C-9FE5-75AB-7553-9930A883CDB0}"/>
              </a:ext>
            </a:extLst>
          </p:cNvPr>
          <p:cNvSpPr>
            <a:spLocks noChangeArrowheads="1"/>
          </p:cNvSpPr>
          <p:nvPr/>
        </p:nvSpPr>
        <p:spPr bwMode="auto">
          <a:xfrm>
            <a:off x="1616054" y="2768321"/>
            <a:ext cx="8959892" cy="282854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lumMod val="65000"/>
                    <a:lumOff val="35000"/>
                  </a:schemeClr>
                </a:solidFill>
                <a:effectLst/>
              </a:rPr>
              <a:t>Analyze current hospital workflows from </a:t>
            </a:r>
            <a:r>
              <a:rPr kumimoji="0" lang="en-US" altLang="en-US" sz="1600" b="1" i="0" u="none" strike="noStrike" cap="none" normalizeH="0" baseline="0" dirty="0">
                <a:ln>
                  <a:noFill/>
                </a:ln>
                <a:solidFill>
                  <a:schemeClr val="tx1">
                    <a:lumMod val="65000"/>
                    <a:lumOff val="35000"/>
                  </a:schemeClr>
                </a:solidFill>
                <a:effectLst/>
              </a:rPr>
              <a:t>patient registration to discharge</a:t>
            </a:r>
            <a:r>
              <a:rPr kumimoji="0" lang="en-US" altLang="en-US" sz="1600" b="0" i="0" u="none" strike="noStrike" cap="none" normalizeH="0" baseline="0" dirty="0">
                <a:ln>
                  <a:noFill/>
                </a:ln>
                <a:solidFill>
                  <a:schemeClr val="tx1">
                    <a:lumMod val="65000"/>
                    <a:lumOff val="35000"/>
                  </a:schemeClr>
                </a:solidFill>
                <a:effectLst/>
              </a:rPr>
              <a:t> to identify operational inefficiencies.</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lumMod val="65000"/>
                    <a:lumOff val="35000"/>
                  </a:schemeClr>
                </a:solidFill>
                <a:effectLst/>
              </a:rPr>
              <a:t>Collect and analyze data related to </a:t>
            </a:r>
            <a:r>
              <a:rPr kumimoji="0" lang="en-US" altLang="en-US" sz="1600" b="1" i="0" u="none" strike="noStrike" cap="none" normalizeH="0" baseline="0" dirty="0">
                <a:ln>
                  <a:noFill/>
                </a:ln>
                <a:solidFill>
                  <a:schemeClr val="tx1">
                    <a:lumMod val="65000"/>
                    <a:lumOff val="35000"/>
                  </a:schemeClr>
                </a:solidFill>
                <a:effectLst/>
              </a:rPr>
              <a:t>patient wait times, staff availability, and registration processes</a:t>
            </a:r>
            <a:r>
              <a:rPr kumimoji="0" lang="en-US" altLang="en-US" sz="1600" b="0" i="0" u="none" strike="noStrike" cap="none" normalizeH="0" baseline="0" dirty="0">
                <a:ln>
                  <a:noFill/>
                </a:ln>
                <a:solidFill>
                  <a:schemeClr val="tx1">
                    <a:lumMod val="65000"/>
                    <a:lumOff val="35000"/>
                  </a:schemeClr>
                </a:solidFill>
                <a:effectLst/>
              </a:rPr>
              <a:t>.</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lumMod val="65000"/>
                    <a:lumOff val="35000"/>
                  </a:schemeClr>
                </a:solidFill>
                <a:effectLst/>
              </a:rPr>
              <a:t>Identify workflow bottlenecks affecting </a:t>
            </a:r>
            <a:r>
              <a:rPr kumimoji="0" lang="en-US" altLang="en-US" sz="1600" b="1" i="0" u="none" strike="noStrike" cap="none" normalizeH="0" baseline="0" dirty="0">
                <a:ln>
                  <a:noFill/>
                </a:ln>
                <a:solidFill>
                  <a:schemeClr val="tx1">
                    <a:lumMod val="65000"/>
                    <a:lumOff val="35000"/>
                  </a:schemeClr>
                </a:solidFill>
                <a:effectLst/>
              </a:rPr>
              <a:t>patient flow and operational efficiency</a:t>
            </a:r>
            <a:r>
              <a:rPr kumimoji="0" lang="en-US" altLang="en-US" sz="1600" b="0" i="0" u="none" strike="noStrike" cap="none" normalizeH="0" baseline="0" dirty="0">
                <a:ln>
                  <a:noFill/>
                </a:ln>
                <a:solidFill>
                  <a:schemeClr val="tx1">
                    <a:lumMod val="65000"/>
                    <a:lumOff val="35000"/>
                  </a:schemeClr>
                </a:solidFill>
                <a:effectLst/>
              </a:rPr>
              <a:t>.</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lumMod val="65000"/>
                    <a:lumOff val="35000"/>
                  </a:schemeClr>
                </a:solidFill>
                <a:effectLst/>
              </a:rPr>
              <a:t>Map and compare </a:t>
            </a:r>
            <a:r>
              <a:rPr kumimoji="0" lang="en-US" altLang="en-US" sz="1600" b="1" i="0" u="none" strike="noStrike" cap="none" normalizeH="0" baseline="0" dirty="0">
                <a:ln>
                  <a:noFill/>
                </a:ln>
                <a:solidFill>
                  <a:schemeClr val="tx1">
                    <a:lumMod val="65000"/>
                    <a:lumOff val="35000"/>
                  </a:schemeClr>
                </a:solidFill>
                <a:effectLst/>
              </a:rPr>
              <a:t>AS-IS and TO-BE business processes</a:t>
            </a:r>
            <a:r>
              <a:rPr kumimoji="0" lang="en-US" altLang="en-US" sz="1600" b="0" i="0" u="none" strike="noStrike" cap="none" normalizeH="0" baseline="0" dirty="0">
                <a:ln>
                  <a:noFill/>
                </a:ln>
                <a:solidFill>
                  <a:schemeClr val="tx1">
                    <a:lumMod val="65000"/>
                    <a:lumOff val="35000"/>
                  </a:schemeClr>
                </a:solidFill>
                <a:effectLst/>
              </a:rPr>
              <a:t> to highlight improvement opportunities.</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lumMod val="65000"/>
                    <a:lumOff val="35000"/>
                  </a:schemeClr>
                </a:solidFill>
                <a:effectLst/>
              </a:rPr>
              <a:t>Recommend </a:t>
            </a:r>
            <a:r>
              <a:rPr kumimoji="0" lang="en-US" altLang="en-US" sz="1600" b="1" i="0" u="none" strike="noStrike" cap="none" normalizeH="0" baseline="0" dirty="0">
                <a:ln>
                  <a:noFill/>
                </a:ln>
                <a:solidFill>
                  <a:schemeClr val="tx1">
                    <a:lumMod val="65000"/>
                    <a:lumOff val="35000"/>
                  </a:schemeClr>
                </a:solidFill>
                <a:effectLst/>
              </a:rPr>
              <a:t>digital solutions such as automated scheduling and digital patient registration</a:t>
            </a:r>
            <a:r>
              <a:rPr kumimoji="0" lang="en-US" altLang="en-US" sz="1600" b="0" i="0" u="none" strike="noStrike" cap="none" normalizeH="0" baseline="0" dirty="0">
                <a:ln>
                  <a:noFill/>
                </a:ln>
                <a:solidFill>
                  <a:schemeClr val="tx1">
                    <a:lumMod val="65000"/>
                    <a:lumOff val="35000"/>
                  </a:schemeClr>
                </a:solidFill>
                <a:effectLst/>
              </a:rPr>
              <a:t> to improve hospital workflow.</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lumMod val="65000"/>
                    <a:lumOff val="35000"/>
                  </a:schemeClr>
                </a:solidFill>
                <a:effectLst/>
              </a:rPr>
              <a:t>Evaluate potential improvements using </a:t>
            </a:r>
            <a:r>
              <a:rPr kumimoji="0" lang="en-US" altLang="en-US" sz="1600" b="1" i="0" u="none" strike="noStrike" cap="none" normalizeH="0" baseline="0" dirty="0">
                <a:ln>
                  <a:noFill/>
                </a:ln>
                <a:solidFill>
                  <a:schemeClr val="tx1">
                    <a:lumMod val="65000"/>
                    <a:lumOff val="35000"/>
                  </a:schemeClr>
                </a:solidFill>
                <a:effectLst/>
              </a:rPr>
              <a:t>KPIs such as patient wait time and patient flow efficiency</a:t>
            </a:r>
            <a:endParaRPr kumimoji="0" lang="en-US" altLang="en-US" sz="1600" b="0" i="0" u="none" strike="noStrike" cap="none" normalizeH="0" baseline="0" dirty="0">
              <a:ln>
                <a:noFill/>
              </a:ln>
              <a:solidFill>
                <a:schemeClr val="tx1">
                  <a:lumMod val="65000"/>
                  <a:lumOff val="35000"/>
                </a:schemeClr>
              </a:solidFill>
              <a:effectLst/>
            </a:endParaRPr>
          </a:p>
        </p:txBody>
      </p:sp>
      <p:sp>
        <p:nvSpPr>
          <p:cNvPr id="4" name="TextBox 3">
            <a:extLst>
              <a:ext uri="{FF2B5EF4-FFF2-40B4-BE49-F238E27FC236}">
                <a16:creationId xmlns:a16="http://schemas.microsoft.com/office/drawing/2014/main" id="{CD3477ED-29AE-446F-2C62-B6748C38DA8C}"/>
              </a:ext>
            </a:extLst>
          </p:cNvPr>
          <p:cNvSpPr txBox="1"/>
          <p:nvPr/>
        </p:nvSpPr>
        <p:spPr>
          <a:xfrm>
            <a:off x="592394" y="1638207"/>
            <a:ext cx="6140244" cy="461665"/>
          </a:xfrm>
          <a:prstGeom prst="rect">
            <a:avLst/>
          </a:prstGeom>
          <a:noFill/>
        </p:spPr>
        <p:txBody>
          <a:bodyPr wrap="square">
            <a:spAutoFit/>
          </a:bodyPr>
          <a:lstStyle/>
          <a:p>
            <a:pPr>
              <a:spcAft>
                <a:spcPts val="600"/>
              </a:spcAft>
            </a:pPr>
            <a:r>
              <a:rPr lang="en-US" sz="2400" b="1" dirty="0"/>
              <a:t>In-Scope:-</a:t>
            </a:r>
          </a:p>
        </p:txBody>
      </p:sp>
    </p:spTree>
    <p:extLst>
      <p:ext uri="{BB962C8B-B14F-4D97-AF65-F5344CB8AC3E}">
        <p14:creationId xmlns:p14="http://schemas.microsoft.com/office/powerpoint/2010/main" val="40389096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B299CAB-C506-454B-90FC-406572829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8D99311-F254-40F1-8AB5-EE3E7B9B68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1758576"/>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D89E3CB-00ED-4691-9F0F-F23EA35647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016" y="2444376"/>
            <a:ext cx="10824184" cy="3727824"/>
          </a:xfrm>
          <a:prstGeom prst="rect">
            <a:avLst/>
          </a:prstGeom>
          <a:solidFill>
            <a:schemeClr val="accent2">
              <a:lumMod val="20000"/>
              <a:lumOff val="80000"/>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BC92CA13-AC34-A9F2-8C36-C462EF21154B}"/>
              </a:ext>
            </a:extLst>
          </p:cNvPr>
          <p:cNvSpPr>
            <a:spLocks noChangeArrowheads="1"/>
          </p:cNvSpPr>
          <p:nvPr/>
        </p:nvSpPr>
        <p:spPr bwMode="auto">
          <a:xfrm>
            <a:off x="1153938" y="2606348"/>
            <a:ext cx="8959892" cy="282854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lumMod val="65000"/>
                    <a:lumOff val="35000"/>
                  </a:schemeClr>
                </a:solidFill>
                <a:effectLst/>
              </a:rPr>
              <a:t>Changes to </a:t>
            </a:r>
            <a:r>
              <a:rPr kumimoji="0" lang="en-US" altLang="en-US" sz="1600" b="1" i="0" u="none" strike="noStrike" cap="none" normalizeH="0" baseline="0" dirty="0">
                <a:ln>
                  <a:noFill/>
                </a:ln>
                <a:solidFill>
                  <a:schemeClr val="tx1">
                    <a:lumMod val="65000"/>
                    <a:lumOff val="35000"/>
                  </a:schemeClr>
                </a:solidFill>
                <a:effectLst/>
              </a:rPr>
              <a:t>clinical treatment procedures or medical practices</a:t>
            </a:r>
            <a:r>
              <a:rPr kumimoji="0" lang="en-US" altLang="en-US" sz="1600" b="0" i="0" u="none" strike="noStrike" cap="none" normalizeH="0" baseline="0" dirty="0">
                <a:ln>
                  <a:noFill/>
                </a:ln>
                <a:solidFill>
                  <a:schemeClr val="tx1">
                    <a:lumMod val="65000"/>
                    <a:lumOff val="35000"/>
                  </a:schemeClr>
                </a:solidFill>
                <a:effectLst/>
              </a:rPr>
              <a:t>.</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lumMod val="65000"/>
                    <a:lumOff val="35000"/>
                  </a:schemeClr>
                </a:solidFill>
                <a:effectLst/>
              </a:rPr>
              <a:t>Hiring new staff or major organizational staffing changes.</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lumMod val="65000"/>
                    <a:lumOff val="35000"/>
                  </a:schemeClr>
                </a:solidFill>
                <a:effectLst/>
              </a:rPr>
              <a:t>Construction or physical expansion of hospital infrastructure.</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lumMod val="65000"/>
                    <a:lumOff val="35000"/>
                  </a:schemeClr>
                </a:solidFill>
                <a:effectLst/>
              </a:rPr>
              <a:t>Procurement of large medical equipment outside workflow improvements.</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lumMod val="65000"/>
                    <a:lumOff val="35000"/>
                  </a:schemeClr>
                </a:solidFill>
                <a:effectLst/>
              </a:rPr>
              <a:t>Changes to hospital policies unrelated to operational efficiency.</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lumMod val="65000"/>
                    <a:lumOff val="35000"/>
                  </a:schemeClr>
                </a:solidFill>
                <a:effectLst/>
              </a:rPr>
              <a:t>System upgrades unrelated to </a:t>
            </a:r>
            <a:r>
              <a:rPr kumimoji="0" lang="en-US" altLang="en-US" sz="1600" b="1" i="0" u="none" strike="noStrike" cap="none" normalizeH="0" baseline="0" dirty="0">
                <a:ln>
                  <a:noFill/>
                </a:ln>
                <a:solidFill>
                  <a:schemeClr val="tx1">
                    <a:lumMod val="65000"/>
                    <a:lumOff val="35000"/>
                  </a:schemeClr>
                </a:solidFill>
                <a:effectLst/>
              </a:rPr>
              <a:t>registration, scheduling, or workflow management</a:t>
            </a:r>
            <a:endParaRPr kumimoji="0" lang="en-US" altLang="en-US" sz="1600" b="0" i="0" u="none" strike="noStrike" cap="none" normalizeH="0" baseline="0" dirty="0">
              <a:ln>
                <a:noFill/>
              </a:ln>
              <a:solidFill>
                <a:schemeClr val="tx1">
                  <a:lumMod val="65000"/>
                  <a:lumOff val="35000"/>
                </a:schemeClr>
              </a:solidFill>
              <a:effectLst/>
            </a:endParaRPr>
          </a:p>
        </p:txBody>
      </p:sp>
      <p:sp>
        <p:nvSpPr>
          <p:cNvPr id="4" name="TextBox 3">
            <a:extLst>
              <a:ext uri="{FF2B5EF4-FFF2-40B4-BE49-F238E27FC236}">
                <a16:creationId xmlns:a16="http://schemas.microsoft.com/office/drawing/2014/main" id="{E4352B89-BB8D-B1D0-C7BD-32C7AB0819A4}"/>
              </a:ext>
            </a:extLst>
          </p:cNvPr>
          <p:cNvSpPr txBox="1"/>
          <p:nvPr/>
        </p:nvSpPr>
        <p:spPr>
          <a:xfrm>
            <a:off x="583694" y="1913072"/>
            <a:ext cx="6096000" cy="369332"/>
          </a:xfrm>
          <a:prstGeom prst="rect">
            <a:avLst/>
          </a:prstGeom>
          <a:noFill/>
        </p:spPr>
        <p:txBody>
          <a:bodyPr wrap="square">
            <a:spAutoFit/>
          </a:bodyPr>
          <a:lstStyle/>
          <a:p>
            <a:pPr>
              <a:spcAft>
                <a:spcPts val="600"/>
              </a:spcAft>
            </a:pPr>
            <a:r>
              <a:rPr lang="en-US" b="1" dirty="0"/>
              <a:t>Out-of-Scope:-</a:t>
            </a:r>
          </a:p>
        </p:txBody>
      </p:sp>
    </p:spTree>
    <p:extLst>
      <p:ext uri="{BB962C8B-B14F-4D97-AF65-F5344CB8AC3E}">
        <p14:creationId xmlns:p14="http://schemas.microsoft.com/office/powerpoint/2010/main" val="36573268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6AC3602-3348-4F31-9E43-076B03514E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112438-B585-C151-23A2-D413AB045070}"/>
              </a:ext>
            </a:extLst>
          </p:cNvPr>
          <p:cNvSpPr>
            <a:spLocks noGrp="1"/>
          </p:cNvSpPr>
          <p:nvPr>
            <p:ph type="title"/>
          </p:nvPr>
        </p:nvSpPr>
        <p:spPr>
          <a:xfrm>
            <a:off x="838201" y="300580"/>
            <a:ext cx="9829800" cy="1089529"/>
          </a:xfrm>
        </p:spPr>
        <p:txBody>
          <a:bodyPr>
            <a:normAutofit/>
          </a:bodyPr>
          <a:lstStyle/>
          <a:p>
            <a:r>
              <a:rPr lang="en-US" sz="3600" b="1">
                <a:solidFill>
                  <a:srgbClr val="FFFFFF"/>
                </a:solidFill>
              </a:rPr>
              <a:t>Requirements</a:t>
            </a:r>
          </a:p>
        </p:txBody>
      </p:sp>
      <p:sp>
        <p:nvSpPr>
          <p:cNvPr id="11" name="Graphic 11">
            <a:extLst>
              <a:ext uri="{FF2B5EF4-FFF2-40B4-BE49-F238E27FC236}">
                <a16:creationId xmlns:a16="http://schemas.microsoft.com/office/drawing/2014/main" id="{394094B0-A6C9-44BE-9042-66EF0612F6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03882" y="59182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p>
        </p:txBody>
      </p:sp>
      <p:sp>
        <p:nvSpPr>
          <p:cNvPr id="13" name="Graphic 10">
            <a:extLst>
              <a:ext uri="{FF2B5EF4-FFF2-40B4-BE49-F238E27FC236}">
                <a16:creationId xmlns:a16="http://schemas.microsoft.com/office/drawing/2014/main" id="{64C2CA96-0B16-4AA7-B340-33044D2385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62662" y="82112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D50D7A8-F1D5-4306-8A9B-DD7A73EB8B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88342" y="1336268"/>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p>
        </p:txBody>
      </p:sp>
      <p:graphicFrame>
        <p:nvGraphicFramePr>
          <p:cNvPr id="5" name="Subtitle 2">
            <a:extLst>
              <a:ext uri="{FF2B5EF4-FFF2-40B4-BE49-F238E27FC236}">
                <a16:creationId xmlns:a16="http://schemas.microsoft.com/office/drawing/2014/main" id="{CF7DD3E3-1662-2773-2872-02C54B7FB38A}"/>
              </a:ext>
            </a:extLst>
          </p:cNvPr>
          <p:cNvGraphicFramePr>
            <a:graphicFrameLocks noGrp="1"/>
          </p:cNvGraphicFramePr>
          <p:nvPr>
            <p:ph idx="1"/>
            <p:extLst>
              <p:ext uri="{D42A27DB-BD31-4B8C-83A1-F6EECF244321}">
                <p14:modId xmlns:p14="http://schemas.microsoft.com/office/powerpoint/2010/main" val="163535934"/>
              </p:ext>
            </p:extLst>
          </p:nvPr>
        </p:nvGraphicFramePr>
        <p:xfrm>
          <a:off x="838200" y="2211233"/>
          <a:ext cx="10515600" cy="39657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934190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C78AC-2A70-67C7-0A35-CC8FDE667357}"/>
              </a:ext>
            </a:extLst>
          </p:cNvPr>
          <p:cNvSpPr>
            <a:spLocks noGrp="1"/>
          </p:cNvSpPr>
          <p:nvPr>
            <p:ph type="title"/>
          </p:nvPr>
        </p:nvSpPr>
        <p:spPr>
          <a:xfrm>
            <a:off x="838199" y="114300"/>
            <a:ext cx="4533901" cy="904009"/>
          </a:xfrm>
        </p:spPr>
        <p:txBody>
          <a:bodyPr>
            <a:normAutofit fontScale="90000"/>
          </a:bodyPr>
          <a:lstStyle/>
          <a:p>
            <a:r>
              <a:rPr lang="en-US" sz="2000" b="1" dirty="0"/>
              <a:t>Process Analysis</a:t>
            </a:r>
            <a:br>
              <a:rPr lang="en-US" sz="2000" b="1" dirty="0"/>
            </a:br>
            <a:br>
              <a:rPr lang="en-US" sz="2000" b="1" dirty="0"/>
            </a:br>
            <a:r>
              <a:rPr lang="en-US" sz="2000" b="1" dirty="0"/>
              <a:t>As-Is-Process:-</a:t>
            </a:r>
            <a:br>
              <a:rPr lang="en-US" sz="2000" b="1" dirty="0"/>
            </a:br>
            <a:endParaRPr lang="en-US" sz="2000" b="1" dirty="0"/>
          </a:p>
        </p:txBody>
      </p:sp>
      <p:sp>
        <p:nvSpPr>
          <p:cNvPr id="3" name="Oval 2">
            <a:extLst>
              <a:ext uri="{FF2B5EF4-FFF2-40B4-BE49-F238E27FC236}">
                <a16:creationId xmlns:a16="http://schemas.microsoft.com/office/drawing/2014/main" id="{301B273C-8822-271B-F995-0A3CA858FE02}"/>
              </a:ext>
            </a:extLst>
          </p:cNvPr>
          <p:cNvSpPr/>
          <p:nvPr/>
        </p:nvSpPr>
        <p:spPr>
          <a:xfrm>
            <a:off x="0" y="1236518"/>
            <a:ext cx="1402772" cy="67540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Start</a:t>
            </a:r>
          </a:p>
        </p:txBody>
      </p:sp>
      <p:cxnSp>
        <p:nvCxnSpPr>
          <p:cNvPr id="5" name="Straight Arrow Connector 4">
            <a:extLst>
              <a:ext uri="{FF2B5EF4-FFF2-40B4-BE49-F238E27FC236}">
                <a16:creationId xmlns:a16="http://schemas.microsoft.com/office/drawing/2014/main" id="{8F346D0A-8CB3-7957-20DE-F724E31E51CE}"/>
              </a:ext>
            </a:extLst>
          </p:cNvPr>
          <p:cNvCxnSpPr>
            <a:cxnSpLocks/>
          </p:cNvCxnSpPr>
          <p:nvPr/>
        </p:nvCxnSpPr>
        <p:spPr>
          <a:xfrm>
            <a:off x="1267691" y="1574222"/>
            <a:ext cx="41563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 name="Rectangle 5">
            <a:extLst>
              <a:ext uri="{FF2B5EF4-FFF2-40B4-BE49-F238E27FC236}">
                <a16:creationId xmlns:a16="http://schemas.microsoft.com/office/drawing/2014/main" id="{85249B47-9196-BEE1-D08B-49EC4570293B}"/>
              </a:ext>
            </a:extLst>
          </p:cNvPr>
          <p:cNvSpPr/>
          <p:nvPr/>
        </p:nvSpPr>
        <p:spPr>
          <a:xfrm>
            <a:off x="1683327" y="1236518"/>
            <a:ext cx="1267691" cy="904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Patient Arrives</a:t>
            </a:r>
          </a:p>
        </p:txBody>
      </p:sp>
      <p:cxnSp>
        <p:nvCxnSpPr>
          <p:cNvPr id="10" name="Straight Arrow Connector 9">
            <a:extLst>
              <a:ext uri="{FF2B5EF4-FFF2-40B4-BE49-F238E27FC236}">
                <a16:creationId xmlns:a16="http://schemas.microsoft.com/office/drawing/2014/main" id="{BD7F94DE-62CB-98A8-3357-B31D755932F3}"/>
              </a:ext>
            </a:extLst>
          </p:cNvPr>
          <p:cNvCxnSpPr>
            <a:cxnSpLocks/>
          </p:cNvCxnSpPr>
          <p:nvPr/>
        </p:nvCxnSpPr>
        <p:spPr>
          <a:xfrm>
            <a:off x="2686049" y="1574222"/>
            <a:ext cx="52993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37FD6819-5E86-F0C1-7024-21747616FB80}"/>
              </a:ext>
            </a:extLst>
          </p:cNvPr>
          <p:cNvSpPr/>
          <p:nvPr/>
        </p:nvSpPr>
        <p:spPr>
          <a:xfrm>
            <a:off x="3215986" y="1236518"/>
            <a:ext cx="1402772" cy="904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Manual Registration</a:t>
            </a:r>
          </a:p>
        </p:txBody>
      </p:sp>
      <p:cxnSp>
        <p:nvCxnSpPr>
          <p:cNvPr id="14" name="Straight Arrow Connector 13">
            <a:extLst>
              <a:ext uri="{FF2B5EF4-FFF2-40B4-BE49-F238E27FC236}">
                <a16:creationId xmlns:a16="http://schemas.microsoft.com/office/drawing/2014/main" id="{F9F2D8C5-FC01-008B-8F06-58CBF5CBA419}"/>
              </a:ext>
            </a:extLst>
          </p:cNvPr>
          <p:cNvCxnSpPr>
            <a:cxnSpLocks/>
          </p:cNvCxnSpPr>
          <p:nvPr/>
        </p:nvCxnSpPr>
        <p:spPr>
          <a:xfrm>
            <a:off x="4618758" y="1558636"/>
            <a:ext cx="41044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Rectangle 14">
            <a:extLst>
              <a:ext uri="{FF2B5EF4-FFF2-40B4-BE49-F238E27FC236}">
                <a16:creationId xmlns:a16="http://schemas.microsoft.com/office/drawing/2014/main" id="{545E850E-E398-620D-8841-90591FB8637A}"/>
              </a:ext>
            </a:extLst>
          </p:cNvPr>
          <p:cNvSpPr/>
          <p:nvPr/>
        </p:nvSpPr>
        <p:spPr>
          <a:xfrm>
            <a:off x="5000622" y="1236527"/>
            <a:ext cx="1402772" cy="90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Waiting Queue</a:t>
            </a:r>
          </a:p>
        </p:txBody>
      </p:sp>
      <p:cxnSp>
        <p:nvCxnSpPr>
          <p:cNvPr id="17" name="Straight Arrow Connector 16">
            <a:extLst>
              <a:ext uri="{FF2B5EF4-FFF2-40B4-BE49-F238E27FC236}">
                <a16:creationId xmlns:a16="http://schemas.microsoft.com/office/drawing/2014/main" id="{B819BE46-1445-6851-E5F5-30C7724F4A4D}"/>
              </a:ext>
            </a:extLst>
          </p:cNvPr>
          <p:cNvCxnSpPr>
            <a:cxnSpLocks/>
          </p:cNvCxnSpPr>
          <p:nvPr/>
        </p:nvCxnSpPr>
        <p:spPr>
          <a:xfrm>
            <a:off x="6431973" y="1558636"/>
            <a:ext cx="35328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0B2D0CB8-A7AD-2FE9-851D-0C5D36E02387}"/>
              </a:ext>
            </a:extLst>
          </p:cNvPr>
          <p:cNvSpPr/>
          <p:nvPr/>
        </p:nvSpPr>
        <p:spPr>
          <a:xfrm>
            <a:off x="6796948" y="1236518"/>
            <a:ext cx="1506686" cy="8572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Doctor Consultation</a:t>
            </a:r>
          </a:p>
        </p:txBody>
      </p:sp>
      <p:cxnSp>
        <p:nvCxnSpPr>
          <p:cNvPr id="28" name="Straight Arrow Connector 27">
            <a:extLst>
              <a:ext uri="{FF2B5EF4-FFF2-40B4-BE49-F238E27FC236}">
                <a16:creationId xmlns:a16="http://schemas.microsoft.com/office/drawing/2014/main" id="{842E1028-4CBA-B6E7-AF9F-2F2C4E2D9464}"/>
              </a:ext>
            </a:extLst>
          </p:cNvPr>
          <p:cNvCxnSpPr>
            <a:cxnSpLocks/>
          </p:cNvCxnSpPr>
          <p:nvPr/>
        </p:nvCxnSpPr>
        <p:spPr>
          <a:xfrm>
            <a:off x="8291944" y="1574222"/>
            <a:ext cx="40524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1" name="Rectangle 30">
            <a:extLst>
              <a:ext uri="{FF2B5EF4-FFF2-40B4-BE49-F238E27FC236}">
                <a16:creationId xmlns:a16="http://schemas.microsoft.com/office/drawing/2014/main" id="{500AD684-E10B-C8BE-3A24-8FE96373AB82}"/>
              </a:ext>
            </a:extLst>
          </p:cNvPr>
          <p:cNvSpPr/>
          <p:nvPr/>
        </p:nvSpPr>
        <p:spPr>
          <a:xfrm>
            <a:off x="8697189" y="1236518"/>
            <a:ext cx="1645228" cy="8806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Diagnostics</a:t>
            </a:r>
          </a:p>
        </p:txBody>
      </p:sp>
      <p:cxnSp>
        <p:nvCxnSpPr>
          <p:cNvPr id="35" name="Straight Arrow Connector 34">
            <a:extLst>
              <a:ext uri="{FF2B5EF4-FFF2-40B4-BE49-F238E27FC236}">
                <a16:creationId xmlns:a16="http://schemas.microsoft.com/office/drawing/2014/main" id="{5D7C946C-C438-7846-D362-2227AC429595}"/>
              </a:ext>
            </a:extLst>
          </p:cNvPr>
          <p:cNvCxnSpPr/>
          <p:nvPr/>
        </p:nvCxnSpPr>
        <p:spPr>
          <a:xfrm>
            <a:off x="9518073" y="2078172"/>
            <a:ext cx="0" cy="5922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6" name="Rectangle 35">
            <a:extLst>
              <a:ext uri="{FF2B5EF4-FFF2-40B4-BE49-F238E27FC236}">
                <a16:creationId xmlns:a16="http://schemas.microsoft.com/office/drawing/2014/main" id="{8E1792D9-A5A6-24B1-C956-2F5AB4930B8C}"/>
              </a:ext>
            </a:extLst>
          </p:cNvPr>
          <p:cNvSpPr/>
          <p:nvPr/>
        </p:nvSpPr>
        <p:spPr>
          <a:xfrm>
            <a:off x="8624451" y="2670464"/>
            <a:ext cx="2047003" cy="8806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Billing &amp; Discharge</a:t>
            </a:r>
            <a:br>
              <a:rPr lang="en-US"/>
            </a:br>
            <a:endParaRPr lang="en-US"/>
          </a:p>
        </p:txBody>
      </p:sp>
      <p:cxnSp>
        <p:nvCxnSpPr>
          <p:cNvPr id="39" name="Straight Arrow Connector 38">
            <a:extLst>
              <a:ext uri="{FF2B5EF4-FFF2-40B4-BE49-F238E27FC236}">
                <a16:creationId xmlns:a16="http://schemas.microsoft.com/office/drawing/2014/main" id="{A1E38460-6697-1982-1307-5522851C4F34}"/>
              </a:ext>
            </a:extLst>
          </p:cNvPr>
          <p:cNvCxnSpPr/>
          <p:nvPr/>
        </p:nvCxnSpPr>
        <p:spPr>
          <a:xfrm>
            <a:off x="9647952" y="3636818"/>
            <a:ext cx="0" cy="6546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0" name="Oval 39">
            <a:extLst>
              <a:ext uri="{FF2B5EF4-FFF2-40B4-BE49-F238E27FC236}">
                <a16:creationId xmlns:a16="http://schemas.microsoft.com/office/drawing/2014/main" id="{69BE861E-09E4-D606-3096-48397AA8AB1C}"/>
              </a:ext>
            </a:extLst>
          </p:cNvPr>
          <p:cNvSpPr/>
          <p:nvPr/>
        </p:nvSpPr>
        <p:spPr>
          <a:xfrm>
            <a:off x="8821870" y="4307021"/>
            <a:ext cx="1849584" cy="68060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End</a:t>
            </a:r>
          </a:p>
        </p:txBody>
      </p:sp>
    </p:spTree>
    <p:extLst>
      <p:ext uri="{BB962C8B-B14F-4D97-AF65-F5344CB8AC3E}">
        <p14:creationId xmlns:p14="http://schemas.microsoft.com/office/powerpoint/2010/main" val="38598086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E2092-2A7D-F998-553E-84E6244F0A5D}"/>
              </a:ext>
            </a:extLst>
          </p:cNvPr>
          <p:cNvSpPr>
            <a:spLocks noGrp="1"/>
          </p:cNvSpPr>
          <p:nvPr>
            <p:ph type="title"/>
          </p:nvPr>
        </p:nvSpPr>
        <p:spPr>
          <a:xfrm>
            <a:off x="93519" y="157308"/>
            <a:ext cx="3179618" cy="383020"/>
          </a:xfrm>
        </p:spPr>
        <p:txBody>
          <a:bodyPr>
            <a:normAutofit/>
          </a:bodyPr>
          <a:lstStyle/>
          <a:p>
            <a:r>
              <a:rPr lang="en-US" sz="1800" b="1" dirty="0"/>
              <a:t>To- be Business Process:-</a:t>
            </a:r>
          </a:p>
        </p:txBody>
      </p:sp>
      <p:sp>
        <p:nvSpPr>
          <p:cNvPr id="3" name="Oval 2">
            <a:extLst>
              <a:ext uri="{FF2B5EF4-FFF2-40B4-BE49-F238E27FC236}">
                <a16:creationId xmlns:a16="http://schemas.microsoft.com/office/drawing/2014/main" id="{CCC72904-338E-45FC-4B06-851AB82A3C86}"/>
              </a:ext>
            </a:extLst>
          </p:cNvPr>
          <p:cNvSpPr/>
          <p:nvPr/>
        </p:nvSpPr>
        <p:spPr>
          <a:xfrm>
            <a:off x="93519" y="680604"/>
            <a:ext cx="1153391" cy="63384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Start</a:t>
            </a:r>
          </a:p>
        </p:txBody>
      </p:sp>
      <p:cxnSp>
        <p:nvCxnSpPr>
          <p:cNvPr id="5" name="Straight Arrow Connector 4">
            <a:extLst>
              <a:ext uri="{FF2B5EF4-FFF2-40B4-BE49-F238E27FC236}">
                <a16:creationId xmlns:a16="http://schemas.microsoft.com/office/drawing/2014/main" id="{36BB2A46-6A44-8FF0-768F-A911A551D337}"/>
              </a:ext>
            </a:extLst>
          </p:cNvPr>
          <p:cNvCxnSpPr/>
          <p:nvPr/>
        </p:nvCxnSpPr>
        <p:spPr>
          <a:xfrm>
            <a:off x="1246910" y="997527"/>
            <a:ext cx="4572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 name="Rectangle 5">
            <a:extLst>
              <a:ext uri="{FF2B5EF4-FFF2-40B4-BE49-F238E27FC236}">
                <a16:creationId xmlns:a16="http://schemas.microsoft.com/office/drawing/2014/main" id="{0E37C20A-0B85-35B9-7B52-6B9C2E99D8ED}"/>
              </a:ext>
            </a:extLst>
          </p:cNvPr>
          <p:cNvSpPr/>
          <p:nvPr/>
        </p:nvSpPr>
        <p:spPr>
          <a:xfrm>
            <a:off x="1683328" y="628649"/>
            <a:ext cx="2057399" cy="7377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Patient Arrives at Hospital</a:t>
            </a:r>
          </a:p>
        </p:txBody>
      </p:sp>
      <p:cxnSp>
        <p:nvCxnSpPr>
          <p:cNvPr id="8" name="Straight Arrow Connector 7">
            <a:extLst>
              <a:ext uri="{FF2B5EF4-FFF2-40B4-BE49-F238E27FC236}">
                <a16:creationId xmlns:a16="http://schemas.microsoft.com/office/drawing/2014/main" id="{5F3E6BE3-94C5-EF60-668A-9210189DD500}"/>
              </a:ext>
            </a:extLst>
          </p:cNvPr>
          <p:cNvCxnSpPr/>
          <p:nvPr/>
        </p:nvCxnSpPr>
        <p:spPr>
          <a:xfrm>
            <a:off x="3761508" y="997527"/>
            <a:ext cx="49876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EFE3A997-8CBF-AC3D-10D3-C77BA63E5A3B}"/>
              </a:ext>
            </a:extLst>
          </p:cNvPr>
          <p:cNvSpPr/>
          <p:nvPr/>
        </p:nvSpPr>
        <p:spPr>
          <a:xfrm>
            <a:off x="4260271" y="628650"/>
            <a:ext cx="2358736" cy="8468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Digital Patient Registration System</a:t>
            </a:r>
            <a:br>
              <a:rPr lang="en-US" dirty="0"/>
            </a:br>
            <a:endParaRPr lang="en-US" dirty="0"/>
          </a:p>
        </p:txBody>
      </p:sp>
      <p:cxnSp>
        <p:nvCxnSpPr>
          <p:cNvPr id="11" name="Straight Arrow Connector 10">
            <a:extLst>
              <a:ext uri="{FF2B5EF4-FFF2-40B4-BE49-F238E27FC236}">
                <a16:creationId xmlns:a16="http://schemas.microsoft.com/office/drawing/2014/main" id="{6620795F-F824-0C6E-AA64-49CAE57BDCD1}"/>
              </a:ext>
            </a:extLst>
          </p:cNvPr>
          <p:cNvCxnSpPr>
            <a:cxnSpLocks/>
            <a:stCxn id="9" idx="3"/>
          </p:cNvCxnSpPr>
          <p:nvPr/>
        </p:nvCxnSpPr>
        <p:spPr>
          <a:xfrm>
            <a:off x="6619007" y="1052084"/>
            <a:ext cx="602673" cy="545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EE1D6BD7-1EB6-EA90-B244-033CA12819DE}"/>
              </a:ext>
            </a:extLst>
          </p:cNvPr>
          <p:cNvSpPr/>
          <p:nvPr/>
        </p:nvSpPr>
        <p:spPr>
          <a:xfrm>
            <a:off x="7232073" y="654625"/>
            <a:ext cx="2701636" cy="8832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Automated Appointment Scheduling</a:t>
            </a:r>
            <a:br>
              <a:rPr lang="en-US" dirty="0"/>
            </a:br>
            <a:endParaRPr lang="en-US" dirty="0"/>
          </a:p>
        </p:txBody>
      </p:sp>
      <p:cxnSp>
        <p:nvCxnSpPr>
          <p:cNvPr id="14" name="Straight Arrow Connector 13">
            <a:extLst>
              <a:ext uri="{FF2B5EF4-FFF2-40B4-BE49-F238E27FC236}">
                <a16:creationId xmlns:a16="http://schemas.microsoft.com/office/drawing/2014/main" id="{9DB92220-1D39-2EB2-7A36-33EBF480B02B}"/>
              </a:ext>
            </a:extLst>
          </p:cNvPr>
          <p:cNvCxnSpPr>
            <a:cxnSpLocks/>
          </p:cNvCxnSpPr>
          <p:nvPr/>
        </p:nvCxnSpPr>
        <p:spPr>
          <a:xfrm>
            <a:off x="7850332" y="1340426"/>
            <a:ext cx="0" cy="4156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CF79F1BD-D959-C7B6-64EC-9D22A3C63AF2}"/>
              </a:ext>
            </a:extLst>
          </p:cNvPr>
          <p:cNvSpPr/>
          <p:nvPr/>
        </p:nvSpPr>
        <p:spPr>
          <a:xfrm>
            <a:off x="6431971" y="1808022"/>
            <a:ext cx="2815934" cy="7273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Department Notification System</a:t>
            </a:r>
            <a:br>
              <a:rPr lang="en-US" dirty="0"/>
            </a:br>
            <a:endParaRPr lang="en-US" dirty="0"/>
          </a:p>
        </p:txBody>
      </p:sp>
      <p:cxnSp>
        <p:nvCxnSpPr>
          <p:cNvPr id="20" name="Straight Arrow Connector 19">
            <a:extLst>
              <a:ext uri="{FF2B5EF4-FFF2-40B4-BE49-F238E27FC236}">
                <a16:creationId xmlns:a16="http://schemas.microsoft.com/office/drawing/2014/main" id="{73151A47-DAFC-8FE5-D12F-CAD3BD24AB5E}"/>
              </a:ext>
            </a:extLst>
          </p:cNvPr>
          <p:cNvCxnSpPr>
            <a:cxnSpLocks/>
          </p:cNvCxnSpPr>
          <p:nvPr/>
        </p:nvCxnSpPr>
        <p:spPr>
          <a:xfrm>
            <a:off x="7850332" y="2535384"/>
            <a:ext cx="0" cy="32211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Rectangle 20">
            <a:extLst>
              <a:ext uri="{FF2B5EF4-FFF2-40B4-BE49-F238E27FC236}">
                <a16:creationId xmlns:a16="http://schemas.microsoft.com/office/drawing/2014/main" id="{2293CCEB-84FF-6A2D-392F-1AB023A12F6C}"/>
              </a:ext>
            </a:extLst>
          </p:cNvPr>
          <p:cNvSpPr/>
          <p:nvPr/>
        </p:nvSpPr>
        <p:spPr>
          <a:xfrm>
            <a:off x="6431972" y="2867889"/>
            <a:ext cx="2951020" cy="6026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Doctor Consultation</a:t>
            </a:r>
            <a:br>
              <a:rPr lang="en-US" dirty="0"/>
            </a:br>
            <a:endParaRPr lang="en-US" dirty="0"/>
          </a:p>
        </p:txBody>
      </p:sp>
      <p:cxnSp>
        <p:nvCxnSpPr>
          <p:cNvPr id="24" name="Straight Arrow Connector 23">
            <a:extLst>
              <a:ext uri="{FF2B5EF4-FFF2-40B4-BE49-F238E27FC236}">
                <a16:creationId xmlns:a16="http://schemas.microsoft.com/office/drawing/2014/main" id="{28945558-CB44-FA16-7BEC-6BB3634D88DE}"/>
              </a:ext>
            </a:extLst>
          </p:cNvPr>
          <p:cNvCxnSpPr/>
          <p:nvPr/>
        </p:nvCxnSpPr>
        <p:spPr>
          <a:xfrm>
            <a:off x="7886700" y="3418599"/>
            <a:ext cx="0" cy="4156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5" name="Rectangle 24">
            <a:extLst>
              <a:ext uri="{FF2B5EF4-FFF2-40B4-BE49-F238E27FC236}">
                <a16:creationId xmlns:a16="http://schemas.microsoft.com/office/drawing/2014/main" id="{BE8C58B6-B55F-5571-03B7-9A0A8448989F}"/>
              </a:ext>
            </a:extLst>
          </p:cNvPr>
          <p:cNvSpPr/>
          <p:nvPr/>
        </p:nvSpPr>
        <p:spPr>
          <a:xfrm>
            <a:off x="6338453" y="3834235"/>
            <a:ext cx="3387436" cy="6546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Diagnostic Tests (Lab / Imaging)</a:t>
            </a:r>
            <a:br>
              <a:rPr lang="en-US" dirty="0"/>
            </a:br>
            <a:endParaRPr lang="en-US" dirty="0"/>
          </a:p>
        </p:txBody>
      </p:sp>
      <p:cxnSp>
        <p:nvCxnSpPr>
          <p:cNvPr id="27" name="Straight Arrow Connector 26">
            <a:extLst>
              <a:ext uri="{FF2B5EF4-FFF2-40B4-BE49-F238E27FC236}">
                <a16:creationId xmlns:a16="http://schemas.microsoft.com/office/drawing/2014/main" id="{272F5A78-A693-D758-BEB4-895128BE011A}"/>
              </a:ext>
            </a:extLst>
          </p:cNvPr>
          <p:cNvCxnSpPr/>
          <p:nvPr/>
        </p:nvCxnSpPr>
        <p:spPr>
          <a:xfrm>
            <a:off x="7938649" y="4488862"/>
            <a:ext cx="0" cy="38446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8" name="Rectangle 27">
            <a:extLst>
              <a:ext uri="{FF2B5EF4-FFF2-40B4-BE49-F238E27FC236}">
                <a16:creationId xmlns:a16="http://schemas.microsoft.com/office/drawing/2014/main" id="{23CE347D-06C3-F4DC-5A64-7355C3C999AC}"/>
              </a:ext>
            </a:extLst>
          </p:cNvPr>
          <p:cNvSpPr/>
          <p:nvPr/>
        </p:nvSpPr>
        <p:spPr>
          <a:xfrm>
            <a:off x="6359233" y="4852536"/>
            <a:ext cx="2961408" cy="4572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Digital Billing System</a:t>
            </a:r>
            <a:br>
              <a:rPr lang="en-US" dirty="0"/>
            </a:br>
            <a:endParaRPr lang="en-US" dirty="0"/>
          </a:p>
        </p:txBody>
      </p:sp>
      <p:cxnSp>
        <p:nvCxnSpPr>
          <p:cNvPr id="30" name="Straight Arrow Connector 29">
            <a:extLst>
              <a:ext uri="{FF2B5EF4-FFF2-40B4-BE49-F238E27FC236}">
                <a16:creationId xmlns:a16="http://schemas.microsoft.com/office/drawing/2014/main" id="{A1C7C3E9-9858-5E75-4456-5EBC3CA66A63}"/>
              </a:ext>
            </a:extLst>
          </p:cNvPr>
          <p:cNvCxnSpPr>
            <a:cxnSpLocks/>
          </p:cNvCxnSpPr>
          <p:nvPr/>
        </p:nvCxnSpPr>
        <p:spPr>
          <a:xfrm>
            <a:off x="7923063" y="5247398"/>
            <a:ext cx="0" cy="3013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3" name="Rectangle 32">
            <a:extLst>
              <a:ext uri="{FF2B5EF4-FFF2-40B4-BE49-F238E27FC236}">
                <a16:creationId xmlns:a16="http://schemas.microsoft.com/office/drawing/2014/main" id="{68E3CD89-D257-6E6A-1373-EB8F27110DDC}"/>
              </a:ext>
            </a:extLst>
          </p:cNvPr>
          <p:cNvSpPr/>
          <p:nvPr/>
        </p:nvSpPr>
        <p:spPr>
          <a:xfrm>
            <a:off x="6338453" y="5548727"/>
            <a:ext cx="2743194" cy="4987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Patient Discharge</a:t>
            </a:r>
            <a:br>
              <a:rPr lang="en-US" dirty="0"/>
            </a:br>
            <a:endParaRPr lang="en-US" dirty="0"/>
          </a:p>
        </p:txBody>
      </p:sp>
      <p:cxnSp>
        <p:nvCxnSpPr>
          <p:cNvPr id="38" name="Straight Arrow Connector 37">
            <a:extLst>
              <a:ext uri="{FF2B5EF4-FFF2-40B4-BE49-F238E27FC236}">
                <a16:creationId xmlns:a16="http://schemas.microsoft.com/office/drawing/2014/main" id="{559DFD50-A966-7BC2-B05B-44B2B9635F7A}"/>
              </a:ext>
            </a:extLst>
          </p:cNvPr>
          <p:cNvCxnSpPr>
            <a:stCxn id="33" idx="2"/>
          </p:cNvCxnSpPr>
          <p:nvPr/>
        </p:nvCxnSpPr>
        <p:spPr>
          <a:xfrm>
            <a:off x="7710050" y="6047492"/>
            <a:ext cx="0" cy="27017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9" name="Oval 38">
            <a:extLst>
              <a:ext uri="{FF2B5EF4-FFF2-40B4-BE49-F238E27FC236}">
                <a16:creationId xmlns:a16="http://schemas.microsoft.com/office/drawing/2014/main" id="{7E6B297D-FAAB-2370-2A95-13A177B8AA41}"/>
              </a:ext>
            </a:extLst>
          </p:cNvPr>
          <p:cNvSpPr/>
          <p:nvPr/>
        </p:nvSpPr>
        <p:spPr>
          <a:xfrm>
            <a:off x="6998274" y="6348821"/>
            <a:ext cx="1683327" cy="3013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End</a:t>
            </a:r>
          </a:p>
        </p:txBody>
      </p:sp>
    </p:spTree>
    <p:extLst>
      <p:ext uri="{BB962C8B-B14F-4D97-AF65-F5344CB8AC3E}">
        <p14:creationId xmlns:p14="http://schemas.microsoft.com/office/powerpoint/2010/main" val="17333852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F05ACD0-FF4A-4F8F-B5C5-6A4EBD0D1B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C9AFA28-B5ED-4346-9AF7-68A157F16C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2" name="Title 1">
            <a:extLst>
              <a:ext uri="{FF2B5EF4-FFF2-40B4-BE49-F238E27FC236}">
                <a16:creationId xmlns:a16="http://schemas.microsoft.com/office/drawing/2014/main" id="{5505AB90-73F1-4527-B23F-BE34C6A05179}"/>
              </a:ext>
            </a:extLst>
          </p:cNvPr>
          <p:cNvSpPr>
            <a:spLocks noGrp="1"/>
          </p:cNvSpPr>
          <p:nvPr>
            <p:ph type="ctrTitle"/>
          </p:nvPr>
        </p:nvSpPr>
        <p:spPr>
          <a:xfrm>
            <a:off x="685800" y="685800"/>
            <a:ext cx="3359602" cy="1232113"/>
          </a:xfrm>
        </p:spPr>
        <p:txBody>
          <a:bodyPr anchor="b">
            <a:normAutofit/>
          </a:bodyPr>
          <a:lstStyle/>
          <a:p>
            <a:r>
              <a:rPr lang="en-US" sz="3200" b="1" dirty="0">
                <a:solidFill>
                  <a:srgbClr val="595959"/>
                </a:solidFill>
              </a:rPr>
              <a:t>Data Analysis:-</a:t>
            </a:r>
            <a:br>
              <a:rPr lang="en-US" sz="3200" dirty="0">
                <a:solidFill>
                  <a:srgbClr val="595959"/>
                </a:solidFill>
              </a:rPr>
            </a:br>
            <a:endParaRPr lang="en-US" sz="3200" dirty="0">
              <a:solidFill>
                <a:srgbClr val="595959"/>
              </a:solidFill>
            </a:endParaRPr>
          </a:p>
        </p:txBody>
      </p:sp>
      <p:sp>
        <p:nvSpPr>
          <p:cNvPr id="3" name="Subtitle 2">
            <a:extLst>
              <a:ext uri="{FF2B5EF4-FFF2-40B4-BE49-F238E27FC236}">
                <a16:creationId xmlns:a16="http://schemas.microsoft.com/office/drawing/2014/main" id="{08CC4E69-1781-9C55-CBC6-ABF321782590}"/>
              </a:ext>
            </a:extLst>
          </p:cNvPr>
          <p:cNvSpPr>
            <a:spLocks noGrp="1"/>
          </p:cNvSpPr>
          <p:nvPr>
            <p:ph type="subTitle" idx="1"/>
          </p:nvPr>
        </p:nvSpPr>
        <p:spPr>
          <a:xfrm>
            <a:off x="1764717" y="1528352"/>
            <a:ext cx="4561369" cy="732461"/>
          </a:xfrm>
        </p:spPr>
        <p:txBody>
          <a:bodyPr anchor="t">
            <a:normAutofit/>
          </a:bodyPr>
          <a:lstStyle/>
          <a:p>
            <a:r>
              <a:rPr lang="en-US" sz="1400" b="1" dirty="0">
                <a:solidFill>
                  <a:srgbClr val="595959"/>
                </a:solidFill>
              </a:rPr>
              <a:t>Average Patient Waiting Time by Department</a:t>
            </a:r>
          </a:p>
        </p:txBody>
      </p:sp>
      <p:graphicFrame>
        <p:nvGraphicFramePr>
          <p:cNvPr id="6" name="Chart 5">
            <a:extLst>
              <a:ext uri="{FF2B5EF4-FFF2-40B4-BE49-F238E27FC236}">
                <a16:creationId xmlns:a16="http://schemas.microsoft.com/office/drawing/2014/main" id="{0C359873-EC16-F6EC-9507-5AEA8472F10F}"/>
              </a:ext>
            </a:extLst>
          </p:cNvPr>
          <p:cNvGraphicFramePr>
            <a:graphicFrameLocks/>
          </p:cNvGraphicFramePr>
          <p:nvPr>
            <p:extLst>
              <p:ext uri="{D42A27DB-BD31-4B8C-83A1-F6EECF244321}">
                <p14:modId xmlns:p14="http://schemas.microsoft.com/office/powerpoint/2010/main" val="531270292"/>
              </p:ext>
            </p:extLst>
          </p:nvPr>
        </p:nvGraphicFramePr>
        <p:xfrm>
          <a:off x="4045401" y="1775966"/>
          <a:ext cx="4732020" cy="2948940"/>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a:extLst>
              <a:ext uri="{FF2B5EF4-FFF2-40B4-BE49-F238E27FC236}">
                <a16:creationId xmlns:a16="http://schemas.microsoft.com/office/drawing/2014/main" id="{D6D83E51-52A1-723C-0E7D-EEEF68E170FA}"/>
              </a:ext>
            </a:extLst>
          </p:cNvPr>
          <p:cNvSpPr txBox="1"/>
          <p:nvPr/>
        </p:nvSpPr>
        <p:spPr>
          <a:xfrm>
            <a:off x="2072148" y="5067806"/>
            <a:ext cx="5723682" cy="1077218"/>
          </a:xfrm>
          <a:prstGeom prst="rect">
            <a:avLst/>
          </a:prstGeom>
          <a:noFill/>
        </p:spPr>
        <p:txBody>
          <a:bodyPr wrap="square">
            <a:spAutoFit/>
          </a:bodyPr>
          <a:lstStyle/>
          <a:p>
            <a:pPr>
              <a:buFont typeface="Arial" panose="020B0604020202020204" pitchFamily="34" charset="0"/>
              <a:buChar char="•"/>
            </a:pPr>
            <a:r>
              <a:rPr lang="en-US" sz="1600" dirty="0"/>
              <a:t>Orthopedics department shows the highest waiting time (~56 minutes).</a:t>
            </a:r>
          </a:p>
          <a:p>
            <a:pPr>
              <a:buFont typeface="Arial" panose="020B0604020202020204" pitchFamily="34" charset="0"/>
              <a:buChar char="•"/>
            </a:pPr>
            <a:r>
              <a:rPr lang="en-US" sz="1600" dirty="0"/>
              <a:t>Cardiology has the lowest waiting time (~28 minutes).</a:t>
            </a:r>
          </a:p>
          <a:p>
            <a:pPr>
              <a:buFont typeface="Arial" panose="020B0604020202020204" pitchFamily="34" charset="0"/>
              <a:buChar char="•"/>
            </a:pPr>
            <a:r>
              <a:rPr lang="en-US" sz="1600" dirty="0"/>
              <a:t>Resource allocation may need improvement in Orthopedics.</a:t>
            </a:r>
          </a:p>
        </p:txBody>
      </p:sp>
    </p:spTree>
    <p:extLst>
      <p:ext uri="{BB962C8B-B14F-4D97-AF65-F5344CB8AC3E}">
        <p14:creationId xmlns:p14="http://schemas.microsoft.com/office/powerpoint/2010/main" val="12242293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299CAB-C506-454B-90FC-406572829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8D99311-F254-40F1-8AB5-EE3E7B9B68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1758576"/>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D89E3CB-00ED-4691-9F0F-F23EA35647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016" y="2444376"/>
            <a:ext cx="10824184" cy="3727824"/>
          </a:xfrm>
          <a:prstGeom prst="rect">
            <a:avLst/>
          </a:prstGeom>
          <a:solidFill>
            <a:schemeClr val="accent2">
              <a:lumMod val="20000"/>
              <a:lumOff val="80000"/>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1">
            <a:extLst>
              <a:ext uri="{FF2B5EF4-FFF2-40B4-BE49-F238E27FC236}">
                <a16:creationId xmlns:a16="http://schemas.microsoft.com/office/drawing/2014/main" id="{E12BA327-9BAA-E9A8-E4BC-9646141FA3A4}"/>
              </a:ext>
            </a:extLst>
          </p:cNvPr>
          <p:cNvSpPr>
            <a:spLocks noChangeArrowheads="1"/>
          </p:cNvSpPr>
          <p:nvPr/>
        </p:nvSpPr>
        <p:spPr bwMode="auto">
          <a:xfrm>
            <a:off x="682016" y="5084466"/>
            <a:ext cx="8959892" cy="116554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fontScale="92500"/>
          </a:bodyPr>
          <a:lstStyle/>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1400" b="0" i="0" u="none" strike="noStrike" cap="none" normalizeH="0" baseline="0" dirty="0">
                <a:ln>
                  <a:noFill/>
                </a:ln>
                <a:solidFill>
                  <a:schemeClr val="tx1">
                    <a:lumMod val="65000"/>
                    <a:lumOff val="35000"/>
                  </a:schemeClr>
                </a:solidFill>
                <a:effectLst/>
              </a:rPr>
              <a:t>Patients using </a:t>
            </a:r>
            <a:r>
              <a:rPr kumimoji="0" lang="en-US" altLang="en-US" sz="1400" b="1" i="0" u="none" strike="noStrike" cap="none" normalizeH="0" baseline="0" dirty="0">
                <a:ln>
                  <a:noFill/>
                </a:ln>
                <a:solidFill>
                  <a:schemeClr val="tx1">
                    <a:lumMod val="65000"/>
                    <a:lumOff val="35000"/>
                  </a:schemeClr>
                </a:solidFill>
                <a:effectLst/>
              </a:rPr>
              <a:t>manual registration experience significantly longer waiting times (≈50 minutes)</a:t>
            </a:r>
            <a:r>
              <a:rPr kumimoji="0" lang="en-US" altLang="en-US" sz="1400" b="0" i="0" u="none" strike="noStrike" cap="none" normalizeH="0" baseline="0" dirty="0">
                <a:ln>
                  <a:noFill/>
                </a:ln>
                <a:solidFill>
                  <a:schemeClr val="tx1">
                    <a:lumMod val="65000"/>
                    <a:lumOff val="35000"/>
                  </a:schemeClr>
                </a:solidFill>
                <a:effectLst/>
              </a:rPr>
              <a:t>.</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1400" b="0" i="0" u="none" strike="noStrike" cap="none" normalizeH="0" baseline="0" dirty="0">
                <a:ln>
                  <a:noFill/>
                </a:ln>
                <a:solidFill>
                  <a:schemeClr val="tx1">
                    <a:lumMod val="65000"/>
                    <a:lumOff val="35000"/>
                  </a:schemeClr>
                </a:solidFill>
                <a:effectLst/>
              </a:rPr>
              <a:t>Patients using </a:t>
            </a:r>
            <a:r>
              <a:rPr kumimoji="0" lang="en-US" altLang="en-US" sz="1400" b="1" i="0" u="none" strike="noStrike" cap="none" normalizeH="0" baseline="0" dirty="0">
                <a:ln>
                  <a:noFill/>
                </a:ln>
                <a:solidFill>
                  <a:schemeClr val="tx1">
                    <a:lumMod val="65000"/>
                    <a:lumOff val="35000"/>
                  </a:schemeClr>
                </a:solidFill>
                <a:effectLst/>
              </a:rPr>
              <a:t>digital registration wait much less (≈26 minutes)</a:t>
            </a:r>
            <a:r>
              <a:rPr kumimoji="0" lang="en-US" altLang="en-US" sz="1400" b="0" i="0" u="none" strike="noStrike" cap="none" normalizeH="0" baseline="0" dirty="0">
                <a:ln>
                  <a:noFill/>
                </a:ln>
                <a:solidFill>
                  <a:schemeClr val="tx1">
                    <a:lumMod val="65000"/>
                    <a:lumOff val="35000"/>
                  </a:schemeClr>
                </a:solidFill>
                <a:effectLst/>
              </a:rPr>
              <a:t>.</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1400" b="0" i="0" u="none" strike="noStrike" cap="none" normalizeH="0" baseline="0" dirty="0">
                <a:ln>
                  <a:noFill/>
                </a:ln>
                <a:solidFill>
                  <a:schemeClr val="tx1">
                    <a:lumMod val="65000"/>
                    <a:lumOff val="35000"/>
                  </a:schemeClr>
                </a:solidFill>
                <a:effectLst/>
              </a:rPr>
              <a:t>Digital systems reduce administrative delays and </a:t>
            </a:r>
            <a:r>
              <a:rPr kumimoji="0" lang="en-US" altLang="en-US" sz="1400" b="1" i="0" u="none" strike="noStrike" cap="none" normalizeH="0" baseline="0" dirty="0">
                <a:ln>
                  <a:noFill/>
                </a:ln>
                <a:solidFill>
                  <a:schemeClr val="tx1">
                    <a:lumMod val="65000"/>
                    <a:lumOff val="35000"/>
                  </a:schemeClr>
                </a:solidFill>
                <a:effectLst/>
              </a:rPr>
              <a:t>improve patient flow efficiency</a:t>
            </a:r>
            <a:r>
              <a:rPr kumimoji="0" lang="en-US" altLang="en-US" sz="1400" b="0" i="0" u="none" strike="noStrike" cap="none" normalizeH="0" baseline="0" dirty="0">
                <a:ln>
                  <a:noFill/>
                </a:ln>
                <a:solidFill>
                  <a:schemeClr val="tx1">
                    <a:lumMod val="65000"/>
                    <a:lumOff val="35000"/>
                  </a:schemeClr>
                </a:solidFill>
                <a:effectLst/>
              </a:rPr>
              <a:t>.</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1400" b="0" i="0" u="none" strike="noStrike" cap="none" normalizeH="0" baseline="0" dirty="0">
                <a:ln>
                  <a:noFill/>
                </a:ln>
                <a:solidFill>
                  <a:schemeClr val="tx1">
                    <a:lumMod val="65000"/>
                    <a:lumOff val="35000"/>
                  </a:schemeClr>
                </a:solidFill>
                <a:effectLst/>
              </a:rPr>
              <a:t>Implementing a </a:t>
            </a:r>
            <a:r>
              <a:rPr kumimoji="0" lang="en-US" altLang="en-US" sz="1400" b="1" i="0" u="none" strike="noStrike" cap="none" normalizeH="0" baseline="0" dirty="0">
                <a:ln>
                  <a:noFill/>
                </a:ln>
                <a:solidFill>
                  <a:schemeClr val="tx1">
                    <a:lumMod val="65000"/>
                    <a:lumOff val="35000"/>
                  </a:schemeClr>
                </a:solidFill>
                <a:effectLst/>
              </a:rPr>
              <a:t>digital registration system across all departments could reduce waiting times by nearly 50%</a:t>
            </a:r>
            <a:r>
              <a:rPr kumimoji="0" lang="en-US" altLang="en-US" sz="1400" b="0" i="0" u="none" strike="noStrike" cap="none" normalizeH="0" baseline="0" dirty="0">
                <a:ln>
                  <a:noFill/>
                </a:ln>
                <a:solidFill>
                  <a:schemeClr val="tx1">
                    <a:lumMod val="65000"/>
                    <a:lumOff val="35000"/>
                  </a:schemeClr>
                </a:solidFill>
                <a:effectLst/>
              </a:rPr>
              <a:t>.</a:t>
            </a:r>
          </a:p>
        </p:txBody>
      </p:sp>
      <p:graphicFrame>
        <p:nvGraphicFramePr>
          <p:cNvPr id="4" name="Chart 3">
            <a:extLst>
              <a:ext uri="{FF2B5EF4-FFF2-40B4-BE49-F238E27FC236}">
                <a16:creationId xmlns:a16="http://schemas.microsoft.com/office/drawing/2014/main" id="{25AAD8AE-DC74-C8A5-C5C5-A46014EF272E}"/>
              </a:ext>
            </a:extLst>
          </p:cNvPr>
          <p:cNvGraphicFramePr>
            <a:graphicFrameLocks/>
          </p:cNvGraphicFramePr>
          <p:nvPr>
            <p:extLst>
              <p:ext uri="{D42A27DB-BD31-4B8C-83A1-F6EECF244321}">
                <p14:modId xmlns:p14="http://schemas.microsoft.com/office/powerpoint/2010/main" val="4051355664"/>
              </p:ext>
            </p:extLst>
          </p:nvPr>
        </p:nvGraphicFramePr>
        <p:xfrm>
          <a:off x="2610143" y="1944105"/>
          <a:ext cx="4861560" cy="2788920"/>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a:extLst>
              <a:ext uri="{FF2B5EF4-FFF2-40B4-BE49-F238E27FC236}">
                <a16:creationId xmlns:a16="http://schemas.microsoft.com/office/drawing/2014/main" id="{C92F65E7-EF68-E6B8-CA70-A9455C508139}"/>
              </a:ext>
            </a:extLst>
          </p:cNvPr>
          <p:cNvSpPr txBox="1"/>
          <p:nvPr/>
        </p:nvSpPr>
        <p:spPr>
          <a:xfrm>
            <a:off x="2610143" y="1151446"/>
            <a:ext cx="4655896" cy="307777"/>
          </a:xfrm>
          <a:prstGeom prst="rect">
            <a:avLst/>
          </a:prstGeom>
          <a:noFill/>
        </p:spPr>
        <p:txBody>
          <a:bodyPr wrap="square">
            <a:spAutoFit/>
          </a:bodyPr>
          <a:lstStyle/>
          <a:p>
            <a:pPr>
              <a:buNone/>
            </a:pPr>
            <a:r>
              <a:rPr lang="en-US" sz="1400" b="1" dirty="0"/>
              <a:t>Registration</a:t>
            </a:r>
            <a:r>
              <a:rPr lang="en-US" sz="1400" dirty="0"/>
              <a:t> </a:t>
            </a:r>
            <a:r>
              <a:rPr lang="en-US" sz="1400" b="1" dirty="0"/>
              <a:t>Type</a:t>
            </a:r>
            <a:r>
              <a:rPr lang="en-US" sz="1400" dirty="0"/>
              <a:t> </a:t>
            </a:r>
            <a:r>
              <a:rPr lang="en-US" sz="1400" b="1" dirty="0"/>
              <a:t>on</a:t>
            </a:r>
            <a:r>
              <a:rPr lang="en-US" sz="1400" dirty="0"/>
              <a:t> </a:t>
            </a:r>
            <a:r>
              <a:rPr lang="en-US" sz="1400" b="1" dirty="0"/>
              <a:t>Patient</a:t>
            </a:r>
            <a:r>
              <a:rPr lang="en-US" sz="1400" dirty="0"/>
              <a:t> </a:t>
            </a:r>
            <a:r>
              <a:rPr lang="en-US" sz="1400" b="1" dirty="0"/>
              <a:t>Waiting</a:t>
            </a:r>
            <a:r>
              <a:rPr lang="en-US" sz="1400" dirty="0"/>
              <a:t> </a:t>
            </a:r>
            <a:r>
              <a:rPr lang="en-US" sz="1400" b="1" dirty="0"/>
              <a:t>Time</a:t>
            </a:r>
          </a:p>
        </p:txBody>
      </p:sp>
    </p:spTree>
    <p:extLst>
      <p:ext uri="{BB962C8B-B14F-4D97-AF65-F5344CB8AC3E}">
        <p14:creationId xmlns:p14="http://schemas.microsoft.com/office/powerpoint/2010/main" val="24213809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CBE3092D-4105-4026-9B66-A0011E0CA5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2859D57-EC00-30C0-66CB-79EFB24E3C88}"/>
              </a:ext>
            </a:extLst>
          </p:cNvPr>
          <p:cNvSpPr txBox="1"/>
          <p:nvPr/>
        </p:nvSpPr>
        <p:spPr>
          <a:xfrm>
            <a:off x="871442" y="685800"/>
            <a:ext cx="5038916" cy="1474666"/>
          </a:xfrm>
          <a:prstGeom prst="rect">
            <a:avLst/>
          </a:prstGeom>
        </p:spPr>
        <p:txBody>
          <a:bodyPr vert="horz" lIns="91440" tIns="45720" rIns="91440" bIns="45720" rtlCol="0" anchor="b">
            <a:normAutofit/>
          </a:bodyPr>
          <a:lstStyle/>
          <a:p>
            <a:pPr algn="ctr">
              <a:lnSpc>
                <a:spcPct val="90000"/>
              </a:lnSpc>
              <a:spcBef>
                <a:spcPct val="0"/>
              </a:spcBef>
              <a:spcAft>
                <a:spcPts val="600"/>
              </a:spcAft>
            </a:pPr>
            <a:r>
              <a:rPr lang="en-US" sz="3200" b="1" kern="1200">
                <a:solidFill>
                  <a:schemeClr val="tx1">
                    <a:lumMod val="65000"/>
                    <a:lumOff val="35000"/>
                  </a:schemeClr>
                </a:solidFill>
                <a:latin typeface="+mj-lt"/>
                <a:ea typeface="+mj-ea"/>
                <a:cs typeface="+mj-cs"/>
              </a:rPr>
              <a:t>Wait Time by Day</a:t>
            </a:r>
          </a:p>
        </p:txBody>
      </p:sp>
      <p:sp>
        <p:nvSpPr>
          <p:cNvPr id="3" name="TextBox 2">
            <a:extLst>
              <a:ext uri="{FF2B5EF4-FFF2-40B4-BE49-F238E27FC236}">
                <a16:creationId xmlns:a16="http://schemas.microsoft.com/office/drawing/2014/main" id="{1835574E-AA1F-14C5-D3A0-B6C07751B105}"/>
              </a:ext>
            </a:extLst>
          </p:cNvPr>
          <p:cNvSpPr txBox="1"/>
          <p:nvPr/>
        </p:nvSpPr>
        <p:spPr>
          <a:xfrm>
            <a:off x="871442" y="2447336"/>
            <a:ext cx="5038916" cy="3724862"/>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000">
                <a:solidFill>
                  <a:schemeClr val="tx1">
                    <a:lumMod val="65000"/>
                    <a:lumOff val="35000"/>
                  </a:schemeClr>
                </a:solidFill>
              </a:rPr>
              <a:t>Average waiting time remains </a:t>
            </a:r>
            <a:r>
              <a:rPr lang="en-US" sz="2000" b="1">
                <a:solidFill>
                  <a:schemeClr val="tx1">
                    <a:lumMod val="65000"/>
                    <a:lumOff val="35000"/>
                  </a:schemeClr>
                </a:solidFill>
              </a:rPr>
              <a:t>relatively consistent throughout the week (~42–44 minutes)</a:t>
            </a:r>
            <a:r>
              <a:rPr lang="en-US" sz="2000">
                <a:solidFill>
                  <a:schemeClr val="tx1">
                    <a:lumMod val="65000"/>
                    <a:lumOff val="35000"/>
                  </a:schemeClr>
                </a:solidFill>
              </a:rPr>
              <a:t>.</a:t>
            </a:r>
          </a:p>
          <a:p>
            <a:pPr indent="-228600">
              <a:lnSpc>
                <a:spcPct val="90000"/>
              </a:lnSpc>
              <a:spcAft>
                <a:spcPts val="600"/>
              </a:spcAft>
              <a:buFont typeface="Arial" panose="020B0604020202020204" pitchFamily="34" charset="0"/>
              <a:buChar char="•"/>
            </a:pPr>
            <a:r>
              <a:rPr lang="en-US" sz="2000" b="1">
                <a:solidFill>
                  <a:schemeClr val="tx1">
                    <a:lumMod val="65000"/>
                    <a:lumOff val="35000"/>
                  </a:schemeClr>
                </a:solidFill>
              </a:rPr>
              <a:t>Friday shows slightly higher waiting times</a:t>
            </a:r>
            <a:r>
              <a:rPr lang="en-US" sz="2000">
                <a:solidFill>
                  <a:schemeClr val="tx1">
                    <a:lumMod val="65000"/>
                    <a:lumOff val="35000"/>
                  </a:schemeClr>
                </a:solidFill>
              </a:rPr>
              <a:t>, possibly due to increased patient visits before the weekend.</a:t>
            </a:r>
          </a:p>
          <a:p>
            <a:pPr indent="-228600">
              <a:lnSpc>
                <a:spcPct val="90000"/>
              </a:lnSpc>
              <a:spcAft>
                <a:spcPts val="600"/>
              </a:spcAft>
              <a:buFont typeface="Arial" panose="020B0604020202020204" pitchFamily="34" charset="0"/>
              <a:buChar char="•"/>
            </a:pPr>
            <a:r>
              <a:rPr lang="en-US" sz="2000">
                <a:solidFill>
                  <a:schemeClr val="tx1">
                    <a:lumMod val="65000"/>
                    <a:lumOff val="35000"/>
                  </a:schemeClr>
                </a:solidFill>
              </a:rPr>
              <a:t>Monday also shows moderately high wait times due to </a:t>
            </a:r>
            <a:r>
              <a:rPr lang="en-US" sz="2000" b="1">
                <a:solidFill>
                  <a:schemeClr val="tx1">
                    <a:lumMod val="65000"/>
                    <a:lumOff val="35000"/>
                  </a:schemeClr>
                </a:solidFill>
              </a:rPr>
              <a:t>start-of-week patient inflow</a:t>
            </a:r>
            <a:r>
              <a:rPr lang="en-US" sz="2000">
                <a:solidFill>
                  <a:schemeClr val="tx1">
                    <a:lumMod val="65000"/>
                    <a:lumOff val="35000"/>
                  </a:schemeClr>
                </a:solidFill>
              </a:rPr>
              <a:t>.</a:t>
            </a:r>
          </a:p>
          <a:p>
            <a:pPr indent="-228600">
              <a:lnSpc>
                <a:spcPct val="90000"/>
              </a:lnSpc>
              <a:spcAft>
                <a:spcPts val="600"/>
              </a:spcAft>
              <a:buFont typeface="Arial" panose="020B0604020202020204" pitchFamily="34" charset="0"/>
              <a:buChar char="•"/>
            </a:pPr>
            <a:r>
              <a:rPr lang="en-US" sz="2000">
                <a:solidFill>
                  <a:schemeClr val="tx1">
                    <a:lumMod val="65000"/>
                    <a:lumOff val="35000"/>
                  </a:schemeClr>
                </a:solidFill>
              </a:rPr>
              <a:t>Hospitals may need </a:t>
            </a:r>
            <a:r>
              <a:rPr lang="en-US" sz="2000" b="1">
                <a:solidFill>
                  <a:schemeClr val="tx1">
                    <a:lumMod val="65000"/>
                    <a:lumOff val="35000"/>
                  </a:schemeClr>
                </a:solidFill>
              </a:rPr>
              <a:t>better staff scheduling on high-demand days</a:t>
            </a:r>
            <a:r>
              <a:rPr lang="en-US" sz="2000">
                <a:solidFill>
                  <a:schemeClr val="tx1">
                    <a:lumMod val="65000"/>
                    <a:lumOff val="35000"/>
                  </a:schemeClr>
                </a:solidFill>
              </a:rPr>
              <a:t> to reduce delays.</a:t>
            </a:r>
          </a:p>
        </p:txBody>
      </p:sp>
      <p:sp>
        <p:nvSpPr>
          <p:cNvPr id="29" name="Rectangle 28">
            <a:extLst>
              <a:ext uri="{FF2B5EF4-FFF2-40B4-BE49-F238E27FC236}">
                <a16:creationId xmlns:a16="http://schemas.microsoft.com/office/drawing/2014/main" id="{D9759409-BDF8-4BFD-9AF3-4B5C04C2A1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81800" y="0"/>
            <a:ext cx="5410200" cy="6858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hart 3">
            <a:extLst>
              <a:ext uri="{FF2B5EF4-FFF2-40B4-BE49-F238E27FC236}">
                <a16:creationId xmlns:a16="http://schemas.microsoft.com/office/drawing/2014/main" id="{257ADBBF-556B-6D20-CF8F-44021C16D018}"/>
              </a:ext>
            </a:extLst>
          </p:cNvPr>
          <p:cNvGraphicFramePr>
            <a:graphicFrameLocks/>
          </p:cNvGraphicFramePr>
          <p:nvPr>
            <p:extLst>
              <p:ext uri="{D42A27DB-BD31-4B8C-83A1-F6EECF244321}">
                <p14:modId xmlns:p14="http://schemas.microsoft.com/office/powerpoint/2010/main" val="159596898"/>
              </p:ext>
            </p:extLst>
          </p:nvPr>
        </p:nvGraphicFramePr>
        <p:xfrm>
          <a:off x="6781800" y="685799"/>
          <a:ext cx="5262715" cy="578382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5534786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CBE3092D-4105-4026-9B66-A0011E0CA5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00AE532-9464-4FA7-D7A9-4C1EE3292848}"/>
              </a:ext>
            </a:extLst>
          </p:cNvPr>
          <p:cNvSpPr txBox="1"/>
          <p:nvPr/>
        </p:nvSpPr>
        <p:spPr>
          <a:xfrm>
            <a:off x="871442" y="685800"/>
            <a:ext cx="5038916" cy="1474666"/>
          </a:xfrm>
          <a:prstGeom prst="rect">
            <a:avLst/>
          </a:prstGeom>
        </p:spPr>
        <p:txBody>
          <a:bodyPr vert="horz" lIns="91440" tIns="45720" rIns="91440" bIns="45720" rtlCol="0" anchor="b">
            <a:normAutofit/>
          </a:bodyPr>
          <a:lstStyle/>
          <a:p>
            <a:pPr algn="ctr">
              <a:lnSpc>
                <a:spcPct val="90000"/>
              </a:lnSpc>
              <a:spcBef>
                <a:spcPct val="0"/>
              </a:spcBef>
              <a:spcAft>
                <a:spcPts val="600"/>
              </a:spcAft>
            </a:pPr>
            <a:r>
              <a:rPr lang="en-US" sz="3200" b="1" kern="1200">
                <a:solidFill>
                  <a:schemeClr val="tx1">
                    <a:lumMod val="65000"/>
                    <a:lumOff val="35000"/>
                  </a:schemeClr>
                </a:solidFill>
                <a:latin typeface="+mj-lt"/>
                <a:ea typeface="+mj-ea"/>
                <a:cs typeface="+mj-cs"/>
              </a:rPr>
              <a:t>Staff Availability by Department</a:t>
            </a:r>
          </a:p>
        </p:txBody>
      </p:sp>
      <p:sp>
        <p:nvSpPr>
          <p:cNvPr id="3" name="TextBox 2">
            <a:extLst>
              <a:ext uri="{FF2B5EF4-FFF2-40B4-BE49-F238E27FC236}">
                <a16:creationId xmlns:a16="http://schemas.microsoft.com/office/drawing/2014/main" id="{8C3C43D9-9F34-1CB8-50F2-EBA298793DC9}"/>
              </a:ext>
            </a:extLst>
          </p:cNvPr>
          <p:cNvSpPr txBox="1"/>
          <p:nvPr/>
        </p:nvSpPr>
        <p:spPr>
          <a:xfrm>
            <a:off x="871442" y="2447336"/>
            <a:ext cx="5038916" cy="3724862"/>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000" b="1">
                <a:solidFill>
                  <a:schemeClr val="tx1">
                    <a:lumMod val="65000"/>
                    <a:lumOff val="35000"/>
                  </a:schemeClr>
                </a:solidFill>
              </a:rPr>
              <a:t>Radiology has the highest staff availability</a:t>
            </a:r>
            <a:r>
              <a:rPr lang="en-US" sz="2000">
                <a:solidFill>
                  <a:schemeClr val="tx1">
                    <a:lumMod val="65000"/>
                    <a:lumOff val="35000"/>
                  </a:schemeClr>
                </a:solidFill>
              </a:rPr>
              <a:t>, which helps maintain moderate waiting times.</a:t>
            </a:r>
          </a:p>
          <a:p>
            <a:pPr indent="-228600">
              <a:lnSpc>
                <a:spcPct val="90000"/>
              </a:lnSpc>
              <a:spcAft>
                <a:spcPts val="600"/>
              </a:spcAft>
              <a:buFont typeface="Arial" panose="020B0604020202020204" pitchFamily="34" charset="0"/>
              <a:buChar char="•"/>
            </a:pPr>
            <a:r>
              <a:rPr lang="en-US" sz="2000" b="1">
                <a:solidFill>
                  <a:schemeClr val="tx1">
                    <a:lumMod val="65000"/>
                    <a:lumOff val="35000"/>
                  </a:schemeClr>
                </a:solidFill>
              </a:rPr>
              <a:t>Cardiology and Orthopedics have lower staff availability compared to patient demand</a:t>
            </a:r>
            <a:r>
              <a:rPr lang="en-US" sz="2000">
                <a:solidFill>
                  <a:schemeClr val="tx1">
                    <a:lumMod val="65000"/>
                    <a:lumOff val="35000"/>
                  </a:schemeClr>
                </a:solidFill>
              </a:rPr>
              <a:t>.</a:t>
            </a:r>
          </a:p>
          <a:p>
            <a:pPr indent="-228600">
              <a:lnSpc>
                <a:spcPct val="90000"/>
              </a:lnSpc>
              <a:spcAft>
                <a:spcPts val="600"/>
              </a:spcAft>
              <a:buFont typeface="Arial" panose="020B0604020202020204" pitchFamily="34" charset="0"/>
              <a:buChar char="•"/>
            </a:pPr>
            <a:r>
              <a:rPr lang="en-US" sz="2000">
                <a:solidFill>
                  <a:schemeClr val="tx1">
                    <a:lumMod val="65000"/>
                    <a:lumOff val="35000"/>
                  </a:schemeClr>
                </a:solidFill>
              </a:rPr>
              <a:t>Limited staffing in high-demand departments may contribute to </a:t>
            </a:r>
            <a:r>
              <a:rPr lang="en-US" sz="2000" b="1">
                <a:solidFill>
                  <a:schemeClr val="tx1">
                    <a:lumMod val="65000"/>
                    <a:lumOff val="35000"/>
                  </a:schemeClr>
                </a:solidFill>
              </a:rPr>
              <a:t>longer patient waiting times</a:t>
            </a:r>
            <a:r>
              <a:rPr lang="en-US" sz="2000">
                <a:solidFill>
                  <a:schemeClr val="tx1">
                    <a:lumMod val="65000"/>
                    <a:lumOff val="35000"/>
                  </a:schemeClr>
                </a:solidFill>
              </a:rPr>
              <a:t>.</a:t>
            </a:r>
          </a:p>
          <a:p>
            <a:pPr indent="-228600">
              <a:lnSpc>
                <a:spcPct val="90000"/>
              </a:lnSpc>
              <a:spcAft>
                <a:spcPts val="600"/>
              </a:spcAft>
              <a:buFont typeface="Arial" panose="020B0604020202020204" pitchFamily="34" charset="0"/>
              <a:buChar char="•"/>
            </a:pPr>
            <a:r>
              <a:rPr lang="en-US" sz="2000">
                <a:solidFill>
                  <a:schemeClr val="tx1">
                    <a:lumMod val="65000"/>
                    <a:lumOff val="35000"/>
                  </a:schemeClr>
                </a:solidFill>
              </a:rPr>
              <a:t>Optimizing </a:t>
            </a:r>
            <a:r>
              <a:rPr lang="en-US" sz="2000" b="1">
                <a:solidFill>
                  <a:schemeClr val="tx1">
                    <a:lumMod val="65000"/>
                    <a:lumOff val="35000"/>
                  </a:schemeClr>
                </a:solidFill>
              </a:rPr>
              <a:t>staff allocation during peak hours</a:t>
            </a:r>
            <a:r>
              <a:rPr lang="en-US" sz="2000">
                <a:solidFill>
                  <a:schemeClr val="tx1">
                    <a:lumMod val="65000"/>
                    <a:lumOff val="35000"/>
                  </a:schemeClr>
                </a:solidFill>
              </a:rPr>
              <a:t> can significantly improve hospital efficiency.</a:t>
            </a:r>
          </a:p>
        </p:txBody>
      </p:sp>
      <p:sp>
        <p:nvSpPr>
          <p:cNvPr id="20" name="Rectangle 19">
            <a:extLst>
              <a:ext uri="{FF2B5EF4-FFF2-40B4-BE49-F238E27FC236}">
                <a16:creationId xmlns:a16="http://schemas.microsoft.com/office/drawing/2014/main" id="{D9759409-BDF8-4BFD-9AF3-4B5C04C2A1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81800" y="0"/>
            <a:ext cx="5410200" cy="6858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hart 3">
            <a:extLst>
              <a:ext uri="{FF2B5EF4-FFF2-40B4-BE49-F238E27FC236}">
                <a16:creationId xmlns:a16="http://schemas.microsoft.com/office/drawing/2014/main" id="{CDAEE2A9-8410-00B7-99B0-A76E4F83D80C}"/>
              </a:ext>
            </a:extLst>
          </p:cNvPr>
          <p:cNvGraphicFramePr>
            <a:graphicFrameLocks/>
          </p:cNvGraphicFramePr>
          <p:nvPr>
            <p:extLst>
              <p:ext uri="{D42A27DB-BD31-4B8C-83A1-F6EECF244321}">
                <p14:modId xmlns:p14="http://schemas.microsoft.com/office/powerpoint/2010/main" val="1076623827"/>
              </p:ext>
            </p:extLst>
          </p:nvPr>
        </p:nvGraphicFramePr>
        <p:xfrm>
          <a:off x="6656439" y="353961"/>
          <a:ext cx="5535561" cy="581823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9635182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92E6BC6C-4A83-4551-8FFE-1708120A67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EFA9B6C6-A247-48A8-9A1C-1E36FA9456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pSp>
        <p:nvGrpSpPr>
          <p:cNvPr id="31" name="Group 30">
            <a:extLst>
              <a:ext uri="{FF2B5EF4-FFF2-40B4-BE49-F238E27FC236}">
                <a16:creationId xmlns:a16="http://schemas.microsoft.com/office/drawing/2014/main" id="{E15EAE4E-5508-44B8-B920-1B8BA1D20EE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741794" y="1931746"/>
            <a:ext cx="465456" cy="581432"/>
            <a:chOff x="6741794" y="1931746"/>
            <a:chExt cx="465456" cy="581432"/>
          </a:xfrm>
          <a:solidFill>
            <a:srgbClr val="FFFFFF"/>
          </a:solidFill>
        </p:grpSpPr>
        <p:sp>
          <p:nvSpPr>
            <p:cNvPr id="32"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757334" y="19317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grpFill/>
            <a:ln w="603" cap="flat">
              <a:noFill/>
              <a:prstDash val="solid"/>
              <a:miter/>
            </a:ln>
          </p:spPr>
          <p:txBody>
            <a:bodyPr rtlCol="0" anchor="ctr"/>
            <a:lstStyle/>
            <a:p>
              <a:endParaRPr lang="en-US">
                <a:solidFill>
                  <a:srgbClr val="FFFFFF"/>
                </a:solidFill>
              </a:endParaRPr>
            </a:p>
          </p:txBody>
        </p:sp>
        <p:sp>
          <p:nvSpPr>
            <p:cNvPr id="33"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16112" y="214158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grpFill/>
            <a:ln w="422" cap="flat">
              <a:noFill/>
              <a:prstDash val="solid"/>
              <a:miter/>
            </a:ln>
          </p:spPr>
          <p:txBody>
            <a:bodyPr rtlCol="0" anchor="ctr"/>
            <a:lstStyle/>
            <a:p>
              <a:endParaRPr lang="en-US">
                <a:solidFill>
                  <a:srgbClr val="FFFFFF"/>
                </a:solidFill>
              </a:endParaRPr>
            </a:p>
          </p:txBody>
        </p:sp>
        <p:sp>
          <p:nvSpPr>
            <p:cNvPr id="34"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741794" y="23854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grpFill/>
            <a:ln w="610" cap="flat">
              <a:noFill/>
              <a:prstDash val="solid"/>
              <a:miter/>
            </a:ln>
          </p:spPr>
          <p:txBody>
            <a:bodyPr rtlCol="0" anchor="ctr"/>
            <a:lstStyle/>
            <a:p>
              <a:endParaRPr lang="en-US">
                <a:solidFill>
                  <a:srgbClr val="FFFFFF"/>
                </a:solidFill>
              </a:endParaRPr>
            </a:p>
          </p:txBody>
        </p:sp>
      </p:grpSp>
      <p:cxnSp>
        <p:nvCxnSpPr>
          <p:cNvPr id="35" name="Straight Connector 34">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75145" y="3496322"/>
            <a:ext cx="0" cy="335280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graphicFrame>
        <p:nvGraphicFramePr>
          <p:cNvPr id="4" name="Table 3">
            <a:extLst>
              <a:ext uri="{FF2B5EF4-FFF2-40B4-BE49-F238E27FC236}">
                <a16:creationId xmlns:a16="http://schemas.microsoft.com/office/drawing/2014/main" id="{CCC379B2-4021-C638-7961-069F423CD8E7}"/>
              </a:ext>
            </a:extLst>
          </p:cNvPr>
          <p:cNvGraphicFramePr>
            <a:graphicFrameLocks noGrp="1"/>
          </p:cNvGraphicFramePr>
          <p:nvPr>
            <p:extLst>
              <p:ext uri="{D42A27DB-BD31-4B8C-83A1-F6EECF244321}">
                <p14:modId xmlns:p14="http://schemas.microsoft.com/office/powerpoint/2010/main" val="2993087450"/>
              </p:ext>
            </p:extLst>
          </p:nvPr>
        </p:nvGraphicFramePr>
        <p:xfrm>
          <a:off x="7480300" y="1670879"/>
          <a:ext cx="4171688" cy="4470068"/>
        </p:xfrm>
        <a:graphic>
          <a:graphicData uri="http://schemas.openxmlformats.org/drawingml/2006/table">
            <a:tbl>
              <a:tblPr>
                <a:tableStyleId>{5C22544A-7EE6-4342-B048-85BDC9FD1C3A}</a:tableStyleId>
              </a:tblPr>
              <a:tblGrid>
                <a:gridCol w="1268648">
                  <a:extLst>
                    <a:ext uri="{9D8B030D-6E8A-4147-A177-3AD203B41FA5}">
                      <a16:colId xmlns:a16="http://schemas.microsoft.com/office/drawing/2014/main" val="1229469154"/>
                    </a:ext>
                  </a:extLst>
                </a:gridCol>
                <a:gridCol w="743514">
                  <a:extLst>
                    <a:ext uri="{9D8B030D-6E8A-4147-A177-3AD203B41FA5}">
                      <a16:colId xmlns:a16="http://schemas.microsoft.com/office/drawing/2014/main" val="2207498462"/>
                    </a:ext>
                  </a:extLst>
                </a:gridCol>
                <a:gridCol w="908422">
                  <a:extLst>
                    <a:ext uri="{9D8B030D-6E8A-4147-A177-3AD203B41FA5}">
                      <a16:colId xmlns:a16="http://schemas.microsoft.com/office/drawing/2014/main" val="670585843"/>
                    </a:ext>
                  </a:extLst>
                </a:gridCol>
                <a:gridCol w="1251104">
                  <a:extLst>
                    <a:ext uri="{9D8B030D-6E8A-4147-A177-3AD203B41FA5}">
                      <a16:colId xmlns:a16="http://schemas.microsoft.com/office/drawing/2014/main" val="56098637"/>
                    </a:ext>
                  </a:extLst>
                </a:gridCol>
              </a:tblGrid>
              <a:tr h="445603">
                <a:tc>
                  <a:txBody>
                    <a:bodyPr/>
                    <a:lstStyle/>
                    <a:p>
                      <a:pPr>
                        <a:buNone/>
                      </a:pPr>
                      <a:r>
                        <a:rPr lang="en-US" sz="1200"/>
                        <a:t>Risk</a:t>
                      </a:r>
                    </a:p>
                  </a:txBody>
                  <a:tcPr marL="59366" marR="59366" marT="29683" marB="29683" anchor="ctr"/>
                </a:tc>
                <a:tc>
                  <a:txBody>
                    <a:bodyPr/>
                    <a:lstStyle/>
                    <a:p>
                      <a:pPr>
                        <a:buNone/>
                      </a:pPr>
                      <a:r>
                        <a:rPr lang="en-US" sz="1200"/>
                        <a:t>Impact</a:t>
                      </a:r>
                    </a:p>
                  </a:txBody>
                  <a:tcPr marL="59366" marR="59366" marT="29683" marB="29683" anchor="ctr"/>
                </a:tc>
                <a:tc>
                  <a:txBody>
                    <a:bodyPr/>
                    <a:lstStyle/>
                    <a:p>
                      <a:pPr>
                        <a:buNone/>
                      </a:pPr>
                      <a:r>
                        <a:rPr lang="en-US" sz="1200"/>
                        <a:t>Probability</a:t>
                      </a:r>
                    </a:p>
                  </a:txBody>
                  <a:tcPr marL="59366" marR="59366" marT="29683" marB="29683" anchor="ctr"/>
                </a:tc>
                <a:tc>
                  <a:txBody>
                    <a:bodyPr/>
                    <a:lstStyle/>
                    <a:p>
                      <a:pPr>
                        <a:buNone/>
                      </a:pPr>
                      <a:r>
                        <a:rPr lang="en-US" sz="1200"/>
                        <a:t>Mitigation Strategy</a:t>
                      </a:r>
                    </a:p>
                  </a:txBody>
                  <a:tcPr marL="59366" marR="59366" marT="29683" marB="29683" anchor="ctr"/>
                </a:tc>
                <a:extLst>
                  <a:ext uri="{0D108BD9-81ED-4DB2-BD59-A6C34878D82A}">
                    <a16:rowId xmlns:a16="http://schemas.microsoft.com/office/drawing/2014/main" val="2264076445"/>
                  </a:ext>
                </a:extLst>
              </a:tr>
              <a:tr h="804893">
                <a:tc>
                  <a:txBody>
                    <a:bodyPr/>
                    <a:lstStyle/>
                    <a:p>
                      <a:pPr>
                        <a:buNone/>
                      </a:pPr>
                      <a:r>
                        <a:rPr lang="en-US" sz="1200"/>
                        <a:t>Resistance from hospital staff to adopt digital systems</a:t>
                      </a:r>
                    </a:p>
                  </a:txBody>
                  <a:tcPr marL="59366" marR="59366" marT="29683" marB="29683" anchor="ctr"/>
                </a:tc>
                <a:tc>
                  <a:txBody>
                    <a:bodyPr/>
                    <a:lstStyle/>
                    <a:p>
                      <a:pPr>
                        <a:buNone/>
                      </a:pPr>
                      <a:r>
                        <a:rPr lang="en-US" sz="1200"/>
                        <a:t>High</a:t>
                      </a:r>
                    </a:p>
                  </a:txBody>
                  <a:tcPr marL="59366" marR="59366" marT="29683" marB="29683" anchor="ctr"/>
                </a:tc>
                <a:tc>
                  <a:txBody>
                    <a:bodyPr/>
                    <a:lstStyle/>
                    <a:p>
                      <a:pPr>
                        <a:buNone/>
                      </a:pPr>
                      <a:r>
                        <a:rPr lang="en-US" sz="1200"/>
                        <a:t>Medium</a:t>
                      </a:r>
                    </a:p>
                  </a:txBody>
                  <a:tcPr marL="59366" marR="59366" marT="29683" marB="29683" anchor="ctr"/>
                </a:tc>
                <a:tc>
                  <a:txBody>
                    <a:bodyPr/>
                    <a:lstStyle/>
                    <a:p>
                      <a:pPr>
                        <a:buNone/>
                      </a:pPr>
                      <a:r>
                        <a:rPr lang="en-US" sz="1200"/>
                        <a:t>Provide training and awareness sessions</a:t>
                      </a:r>
                    </a:p>
                  </a:txBody>
                  <a:tcPr marL="59366" marR="59366" marT="29683" marB="29683" anchor="ctr"/>
                </a:tc>
                <a:extLst>
                  <a:ext uri="{0D108BD9-81ED-4DB2-BD59-A6C34878D82A}">
                    <a16:rowId xmlns:a16="http://schemas.microsoft.com/office/drawing/2014/main" val="268827295"/>
                  </a:ext>
                </a:extLst>
              </a:tr>
              <a:tr h="804893">
                <a:tc>
                  <a:txBody>
                    <a:bodyPr/>
                    <a:lstStyle/>
                    <a:p>
                      <a:pPr>
                        <a:buNone/>
                      </a:pPr>
                      <a:r>
                        <a:rPr lang="en-US" sz="1200"/>
                        <a:t>Technical issues with digital registration system</a:t>
                      </a:r>
                    </a:p>
                  </a:txBody>
                  <a:tcPr marL="59366" marR="59366" marT="29683" marB="29683" anchor="ctr"/>
                </a:tc>
                <a:tc>
                  <a:txBody>
                    <a:bodyPr/>
                    <a:lstStyle/>
                    <a:p>
                      <a:pPr>
                        <a:buNone/>
                      </a:pPr>
                      <a:r>
                        <a:rPr lang="en-US" sz="1200"/>
                        <a:t>Medium</a:t>
                      </a:r>
                    </a:p>
                  </a:txBody>
                  <a:tcPr marL="59366" marR="59366" marT="29683" marB="29683" anchor="ctr"/>
                </a:tc>
                <a:tc>
                  <a:txBody>
                    <a:bodyPr/>
                    <a:lstStyle/>
                    <a:p>
                      <a:pPr>
                        <a:buNone/>
                      </a:pPr>
                      <a:r>
                        <a:rPr lang="en-US" sz="1200"/>
                        <a:t>Medium</a:t>
                      </a:r>
                    </a:p>
                  </a:txBody>
                  <a:tcPr marL="59366" marR="59366" marT="29683" marB="29683" anchor="ctr"/>
                </a:tc>
                <a:tc>
                  <a:txBody>
                    <a:bodyPr/>
                    <a:lstStyle/>
                    <a:p>
                      <a:pPr>
                        <a:buNone/>
                      </a:pPr>
                      <a:r>
                        <a:rPr lang="en-US" sz="1200"/>
                        <a:t>Ensure IT support and regular system maintenance</a:t>
                      </a:r>
                    </a:p>
                  </a:txBody>
                  <a:tcPr marL="59366" marR="59366" marT="29683" marB="29683" anchor="ctr"/>
                </a:tc>
                <a:extLst>
                  <a:ext uri="{0D108BD9-81ED-4DB2-BD59-A6C34878D82A}">
                    <a16:rowId xmlns:a16="http://schemas.microsoft.com/office/drawing/2014/main" val="3845052577"/>
                  </a:ext>
                </a:extLst>
              </a:tr>
              <a:tr h="984538">
                <a:tc>
                  <a:txBody>
                    <a:bodyPr/>
                    <a:lstStyle/>
                    <a:p>
                      <a:pPr>
                        <a:buNone/>
                      </a:pPr>
                      <a:r>
                        <a:rPr lang="en-US" sz="1200"/>
                        <a:t>Data privacy and security risks</a:t>
                      </a:r>
                    </a:p>
                  </a:txBody>
                  <a:tcPr marL="59366" marR="59366" marT="29683" marB="29683" anchor="ctr"/>
                </a:tc>
                <a:tc>
                  <a:txBody>
                    <a:bodyPr/>
                    <a:lstStyle/>
                    <a:p>
                      <a:pPr>
                        <a:buNone/>
                      </a:pPr>
                      <a:r>
                        <a:rPr lang="en-US" sz="1200"/>
                        <a:t>High</a:t>
                      </a:r>
                    </a:p>
                  </a:txBody>
                  <a:tcPr marL="59366" marR="59366" marT="29683" marB="29683" anchor="ctr"/>
                </a:tc>
                <a:tc>
                  <a:txBody>
                    <a:bodyPr/>
                    <a:lstStyle/>
                    <a:p>
                      <a:pPr>
                        <a:buNone/>
                      </a:pPr>
                      <a:r>
                        <a:rPr lang="en-US" sz="1200"/>
                        <a:t>Low</a:t>
                      </a:r>
                    </a:p>
                  </a:txBody>
                  <a:tcPr marL="59366" marR="59366" marT="29683" marB="29683" anchor="ctr"/>
                </a:tc>
                <a:tc>
                  <a:txBody>
                    <a:bodyPr/>
                    <a:lstStyle/>
                    <a:p>
                      <a:pPr>
                        <a:buNone/>
                      </a:pPr>
                      <a:r>
                        <a:rPr lang="en-US" sz="1200"/>
                        <a:t>Implement secure data management and access control</a:t>
                      </a:r>
                    </a:p>
                  </a:txBody>
                  <a:tcPr marL="59366" marR="59366" marT="29683" marB="29683" anchor="ctr"/>
                </a:tc>
                <a:extLst>
                  <a:ext uri="{0D108BD9-81ED-4DB2-BD59-A6C34878D82A}">
                    <a16:rowId xmlns:a16="http://schemas.microsoft.com/office/drawing/2014/main" val="1655018582"/>
                  </a:ext>
                </a:extLst>
              </a:tr>
              <a:tr h="625248">
                <a:tc>
                  <a:txBody>
                    <a:bodyPr/>
                    <a:lstStyle/>
                    <a:p>
                      <a:pPr>
                        <a:buNone/>
                      </a:pPr>
                      <a:r>
                        <a:rPr lang="en-US" sz="1200"/>
                        <a:t>Insufficient staff during peak hours</a:t>
                      </a:r>
                    </a:p>
                  </a:txBody>
                  <a:tcPr marL="59366" marR="59366" marT="29683" marB="29683" anchor="ctr"/>
                </a:tc>
                <a:tc>
                  <a:txBody>
                    <a:bodyPr/>
                    <a:lstStyle/>
                    <a:p>
                      <a:pPr>
                        <a:buNone/>
                      </a:pPr>
                      <a:r>
                        <a:rPr lang="en-US" sz="1200"/>
                        <a:t>High</a:t>
                      </a:r>
                    </a:p>
                  </a:txBody>
                  <a:tcPr marL="59366" marR="59366" marT="29683" marB="29683" anchor="ctr"/>
                </a:tc>
                <a:tc>
                  <a:txBody>
                    <a:bodyPr/>
                    <a:lstStyle/>
                    <a:p>
                      <a:pPr>
                        <a:buNone/>
                      </a:pPr>
                      <a:r>
                        <a:rPr lang="en-US" sz="1200"/>
                        <a:t>High</a:t>
                      </a:r>
                    </a:p>
                  </a:txBody>
                  <a:tcPr marL="59366" marR="59366" marT="29683" marB="29683" anchor="ctr"/>
                </a:tc>
                <a:tc>
                  <a:txBody>
                    <a:bodyPr/>
                    <a:lstStyle/>
                    <a:p>
                      <a:pPr>
                        <a:buNone/>
                      </a:pPr>
                      <a:r>
                        <a:rPr lang="en-US" sz="1200"/>
                        <a:t>Optimize staff scheduling using data insights</a:t>
                      </a:r>
                    </a:p>
                  </a:txBody>
                  <a:tcPr marL="59366" marR="59366" marT="29683" marB="29683" anchor="ctr"/>
                </a:tc>
                <a:extLst>
                  <a:ext uri="{0D108BD9-81ED-4DB2-BD59-A6C34878D82A}">
                    <a16:rowId xmlns:a16="http://schemas.microsoft.com/office/drawing/2014/main" val="3981823020"/>
                  </a:ext>
                </a:extLst>
              </a:tr>
              <a:tr h="804893">
                <a:tc>
                  <a:txBody>
                    <a:bodyPr/>
                    <a:lstStyle/>
                    <a:p>
                      <a:pPr>
                        <a:buNone/>
                      </a:pPr>
                      <a:r>
                        <a:rPr lang="en-US" sz="1200"/>
                        <a:t>System downtime affecting patient flow</a:t>
                      </a:r>
                    </a:p>
                  </a:txBody>
                  <a:tcPr marL="59366" marR="59366" marT="29683" marB="29683" anchor="ctr"/>
                </a:tc>
                <a:tc>
                  <a:txBody>
                    <a:bodyPr/>
                    <a:lstStyle/>
                    <a:p>
                      <a:pPr>
                        <a:buNone/>
                      </a:pPr>
                      <a:r>
                        <a:rPr lang="en-US" sz="1200"/>
                        <a:t>Medium</a:t>
                      </a:r>
                    </a:p>
                  </a:txBody>
                  <a:tcPr marL="59366" marR="59366" marT="29683" marB="29683" anchor="ctr"/>
                </a:tc>
                <a:tc>
                  <a:txBody>
                    <a:bodyPr/>
                    <a:lstStyle/>
                    <a:p>
                      <a:pPr>
                        <a:buNone/>
                      </a:pPr>
                      <a:r>
                        <a:rPr lang="en-US" sz="1200"/>
                        <a:t>Low</a:t>
                      </a:r>
                    </a:p>
                  </a:txBody>
                  <a:tcPr marL="59366" marR="59366" marT="29683" marB="29683" anchor="ctr"/>
                </a:tc>
                <a:tc>
                  <a:txBody>
                    <a:bodyPr/>
                    <a:lstStyle/>
                    <a:p>
                      <a:pPr>
                        <a:buNone/>
                      </a:pPr>
                      <a:r>
                        <a:rPr lang="en-US" sz="1200" dirty="0"/>
                        <a:t>Create backup procedures and system monitoring</a:t>
                      </a:r>
                    </a:p>
                  </a:txBody>
                  <a:tcPr marL="59366" marR="59366" marT="29683" marB="29683" anchor="ctr"/>
                </a:tc>
                <a:extLst>
                  <a:ext uri="{0D108BD9-81ED-4DB2-BD59-A6C34878D82A}">
                    <a16:rowId xmlns:a16="http://schemas.microsoft.com/office/drawing/2014/main" val="1652612026"/>
                  </a:ext>
                </a:extLst>
              </a:tr>
            </a:tbl>
          </a:graphicData>
        </a:graphic>
      </p:graphicFrame>
      <p:graphicFrame>
        <p:nvGraphicFramePr>
          <p:cNvPr id="20" name="TextBox 2">
            <a:extLst>
              <a:ext uri="{FF2B5EF4-FFF2-40B4-BE49-F238E27FC236}">
                <a16:creationId xmlns:a16="http://schemas.microsoft.com/office/drawing/2014/main" id="{26E2B72A-52DD-BADE-183C-2F5C602D3DD2}"/>
              </a:ext>
            </a:extLst>
          </p:cNvPr>
          <p:cNvGraphicFramePr/>
          <p:nvPr>
            <p:extLst>
              <p:ext uri="{D42A27DB-BD31-4B8C-83A1-F6EECF244321}">
                <p14:modId xmlns:p14="http://schemas.microsoft.com/office/powerpoint/2010/main" val="3754970708"/>
              </p:ext>
            </p:extLst>
          </p:nvPr>
        </p:nvGraphicFramePr>
        <p:xfrm>
          <a:off x="1078029" y="1579896"/>
          <a:ext cx="6326620" cy="3956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154803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9" name="Rectangle 48">
            <a:extLst>
              <a:ext uri="{FF2B5EF4-FFF2-40B4-BE49-F238E27FC236}">
                <a16:creationId xmlns:a16="http://schemas.microsoft.com/office/drawing/2014/main" id="{78532AE1-3E02-470C-B898-A0C62F2E99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E7401DF7-4687-415B-A91D-DB43BEEBDF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464612" cy="6858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8EFC09D2-72D2-4174-A2DF-1017D0FEB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912" y="685800"/>
            <a:ext cx="6048935" cy="5486400"/>
          </a:xfrm>
          <a:prstGeom prst="rect">
            <a:avLst/>
          </a:prstGeom>
          <a:solidFill>
            <a:schemeClr val="bg1"/>
          </a:solidFill>
          <a:ln w="1270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30157FF5-18D0-04FB-4931-E63C76E43D03}"/>
              </a:ext>
            </a:extLst>
          </p:cNvPr>
          <p:cNvSpPr txBox="1"/>
          <p:nvPr/>
        </p:nvSpPr>
        <p:spPr>
          <a:xfrm>
            <a:off x="1368613" y="2447337"/>
            <a:ext cx="4773616" cy="3171970"/>
          </a:xfrm>
          <a:prstGeom prst="rect">
            <a:avLst/>
          </a:prstGeom>
        </p:spPr>
        <p:txBody>
          <a:bodyPr vert="horz" lIns="91440" tIns="45720" rIns="91440" bIns="45720" rtlCol="0" anchor="t">
            <a:normAutofit/>
          </a:bodyPr>
          <a:lstStyle/>
          <a:p>
            <a:pPr>
              <a:lnSpc>
                <a:spcPct val="90000"/>
              </a:lnSpc>
              <a:spcAft>
                <a:spcPts val="600"/>
              </a:spcAft>
            </a:pPr>
            <a:r>
              <a:rPr lang="en-US" b="1" dirty="0">
                <a:solidFill>
                  <a:schemeClr val="tx1">
                    <a:lumMod val="65000"/>
                    <a:lumOff val="35000"/>
                  </a:schemeClr>
                </a:solidFill>
              </a:rPr>
              <a:t>Solution Recommendation:-</a:t>
            </a:r>
          </a:p>
          <a:p>
            <a:pPr indent="-228600">
              <a:lnSpc>
                <a:spcPct val="90000"/>
              </a:lnSpc>
              <a:spcAft>
                <a:spcPts val="600"/>
              </a:spcAft>
              <a:buFont typeface="Arial" panose="020B0604020202020204" pitchFamily="34" charset="0"/>
              <a:buChar char="•"/>
            </a:pPr>
            <a:r>
              <a:rPr lang="en-US" sz="1100" b="1" dirty="0">
                <a:solidFill>
                  <a:schemeClr val="tx1">
                    <a:lumMod val="65000"/>
                    <a:lumOff val="35000"/>
                  </a:schemeClr>
                </a:solidFill>
              </a:rPr>
              <a:t>Implement a digital patient registration system</a:t>
            </a:r>
            <a:r>
              <a:rPr lang="en-US" sz="1100" dirty="0">
                <a:solidFill>
                  <a:schemeClr val="tx1">
                    <a:lumMod val="65000"/>
                    <a:lumOff val="35000"/>
                  </a:schemeClr>
                </a:solidFill>
              </a:rPr>
              <a:t> to reduce manual paperwork and speed up the check-in process.</a:t>
            </a:r>
          </a:p>
          <a:p>
            <a:pPr indent="-228600">
              <a:lnSpc>
                <a:spcPct val="90000"/>
              </a:lnSpc>
              <a:spcAft>
                <a:spcPts val="600"/>
              </a:spcAft>
              <a:buFont typeface="Arial" panose="020B0604020202020204" pitchFamily="34" charset="0"/>
              <a:buChar char="•"/>
            </a:pPr>
            <a:r>
              <a:rPr lang="en-US" sz="1100" b="1" dirty="0">
                <a:solidFill>
                  <a:schemeClr val="tx1">
                    <a:lumMod val="65000"/>
                    <a:lumOff val="35000"/>
                  </a:schemeClr>
                </a:solidFill>
              </a:rPr>
              <a:t>Introduce an automated appointment scheduling and queue management system</a:t>
            </a:r>
            <a:r>
              <a:rPr lang="en-US" sz="1100" dirty="0">
                <a:solidFill>
                  <a:schemeClr val="tx1">
                    <a:lumMod val="65000"/>
                    <a:lumOff val="35000"/>
                  </a:schemeClr>
                </a:solidFill>
              </a:rPr>
              <a:t> to reduce waiting time and manage patient flow efficiently.</a:t>
            </a:r>
          </a:p>
          <a:p>
            <a:pPr indent="-228600">
              <a:lnSpc>
                <a:spcPct val="90000"/>
              </a:lnSpc>
              <a:spcAft>
                <a:spcPts val="600"/>
              </a:spcAft>
              <a:buFont typeface="Arial" panose="020B0604020202020204" pitchFamily="34" charset="0"/>
              <a:buChar char="•"/>
            </a:pPr>
            <a:r>
              <a:rPr lang="en-US" sz="1100" b="1" dirty="0">
                <a:solidFill>
                  <a:schemeClr val="tx1">
                    <a:lumMod val="65000"/>
                    <a:lumOff val="35000"/>
                  </a:schemeClr>
                </a:solidFill>
              </a:rPr>
              <a:t>Optimize staff scheduling using data insights</a:t>
            </a:r>
            <a:r>
              <a:rPr lang="en-US" sz="1100" dirty="0">
                <a:solidFill>
                  <a:schemeClr val="tx1">
                    <a:lumMod val="65000"/>
                    <a:lumOff val="35000"/>
                  </a:schemeClr>
                </a:solidFill>
              </a:rPr>
              <a:t> to ensure adequate staff availability during peak hours.</a:t>
            </a:r>
          </a:p>
          <a:p>
            <a:pPr indent="-228600">
              <a:lnSpc>
                <a:spcPct val="90000"/>
              </a:lnSpc>
              <a:spcAft>
                <a:spcPts val="600"/>
              </a:spcAft>
              <a:buFont typeface="Arial" panose="020B0604020202020204" pitchFamily="34" charset="0"/>
              <a:buChar char="•"/>
            </a:pPr>
            <a:r>
              <a:rPr lang="en-US" sz="1100" b="1" dirty="0">
                <a:solidFill>
                  <a:schemeClr val="tx1">
                    <a:lumMod val="65000"/>
                    <a:lumOff val="35000"/>
                  </a:schemeClr>
                </a:solidFill>
              </a:rPr>
              <a:t>Improve inter-department communication through a centralized digital system</a:t>
            </a:r>
            <a:r>
              <a:rPr lang="en-US" sz="1100" dirty="0">
                <a:solidFill>
                  <a:schemeClr val="tx1">
                    <a:lumMod val="65000"/>
                    <a:lumOff val="35000"/>
                  </a:schemeClr>
                </a:solidFill>
              </a:rPr>
              <a:t> so departments receive real-time patient updates.</a:t>
            </a:r>
          </a:p>
          <a:p>
            <a:pPr indent="-228600">
              <a:lnSpc>
                <a:spcPct val="90000"/>
              </a:lnSpc>
              <a:spcAft>
                <a:spcPts val="600"/>
              </a:spcAft>
              <a:buFont typeface="Arial" panose="020B0604020202020204" pitchFamily="34" charset="0"/>
              <a:buChar char="•"/>
            </a:pPr>
            <a:r>
              <a:rPr lang="en-US" sz="1100" b="1" dirty="0">
                <a:solidFill>
                  <a:schemeClr val="tx1">
                    <a:lumMod val="65000"/>
                    <a:lumOff val="35000"/>
                  </a:schemeClr>
                </a:solidFill>
              </a:rPr>
              <a:t>Implement digital billing and discharge processes</a:t>
            </a:r>
            <a:r>
              <a:rPr lang="en-US" sz="1100" dirty="0">
                <a:solidFill>
                  <a:schemeClr val="tx1">
                    <a:lumMod val="65000"/>
                    <a:lumOff val="35000"/>
                  </a:schemeClr>
                </a:solidFill>
              </a:rPr>
              <a:t> to streamline the final stage of patient visits.</a:t>
            </a:r>
          </a:p>
          <a:p>
            <a:pPr indent="-228600">
              <a:lnSpc>
                <a:spcPct val="90000"/>
              </a:lnSpc>
              <a:spcAft>
                <a:spcPts val="600"/>
              </a:spcAft>
              <a:buFont typeface="Arial" panose="020B0604020202020204" pitchFamily="34" charset="0"/>
              <a:buChar char="•"/>
            </a:pPr>
            <a:r>
              <a:rPr lang="en-US" sz="1100" b="1" dirty="0">
                <a:solidFill>
                  <a:schemeClr val="tx1">
                    <a:lumMod val="65000"/>
                    <a:lumOff val="35000"/>
                  </a:schemeClr>
                </a:solidFill>
              </a:rPr>
              <a:t>Provide staff training for new digital tools and workflows</a:t>
            </a:r>
            <a:r>
              <a:rPr lang="en-US" sz="1100" dirty="0">
                <a:solidFill>
                  <a:schemeClr val="tx1">
                    <a:lumMod val="65000"/>
                    <a:lumOff val="35000"/>
                  </a:schemeClr>
                </a:solidFill>
              </a:rPr>
              <a:t> to ensure smooth adoption and effective use of the system.</a:t>
            </a:r>
          </a:p>
        </p:txBody>
      </p:sp>
      <p:pic>
        <p:nvPicPr>
          <p:cNvPr id="7" name="Graphic 6" descr="Stethoscope">
            <a:extLst>
              <a:ext uri="{FF2B5EF4-FFF2-40B4-BE49-F238E27FC236}">
                <a16:creationId xmlns:a16="http://schemas.microsoft.com/office/drawing/2014/main" id="{84619874-37DB-DCBF-AB61-C908B055390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37339" y="1738031"/>
            <a:ext cx="3381935" cy="3381935"/>
          </a:xfrm>
          <a:prstGeom prst="rect">
            <a:avLst/>
          </a:prstGeom>
        </p:spPr>
      </p:pic>
    </p:spTree>
    <p:extLst>
      <p:ext uri="{BB962C8B-B14F-4D97-AF65-F5344CB8AC3E}">
        <p14:creationId xmlns:p14="http://schemas.microsoft.com/office/powerpoint/2010/main" val="31401027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299CAB-C506-454B-90FC-406572829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8D99311-F254-40F1-8AB5-EE3E7B9B68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1758576"/>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D89E3CB-00ED-4691-9F0F-F23EA35647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016" y="2444376"/>
            <a:ext cx="10824184" cy="3727824"/>
          </a:xfrm>
          <a:prstGeom prst="rect">
            <a:avLst/>
          </a:prstGeom>
          <a:solidFill>
            <a:schemeClr val="accent2">
              <a:lumMod val="20000"/>
              <a:lumOff val="80000"/>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0DDC33B-476F-6ECE-BB9A-F52A0C26D9A4}"/>
              </a:ext>
            </a:extLst>
          </p:cNvPr>
          <p:cNvSpPr txBox="1"/>
          <p:nvPr/>
        </p:nvSpPr>
        <p:spPr>
          <a:xfrm>
            <a:off x="1616054" y="2768321"/>
            <a:ext cx="8959892" cy="2828543"/>
          </a:xfrm>
          <a:prstGeom prst="rect">
            <a:avLst/>
          </a:prstGeom>
        </p:spPr>
        <p:txBody>
          <a:bodyPr vert="horz" lIns="91440" tIns="45720" rIns="91440" bIns="45720" rtlCol="0" anchor="t">
            <a:normAutofit/>
          </a:bodyPr>
          <a:lstStyle/>
          <a:p>
            <a:pPr>
              <a:lnSpc>
                <a:spcPct val="90000"/>
              </a:lnSpc>
              <a:spcAft>
                <a:spcPts val="600"/>
              </a:spcAft>
            </a:pPr>
            <a:r>
              <a:rPr lang="en-US" sz="2000" b="1" dirty="0">
                <a:solidFill>
                  <a:schemeClr val="tx1">
                    <a:lumMod val="65000"/>
                    <a:lumOff val="35000"/>
                  </a:schemeClr>
                </a:solidFill>
              </a:rPr>
              <a:t>Expected Business Impact</a:t>
            </a:r>
          </a:p>
          <a:p>
            <a:pPr indent="-228600">
              <a:lnSpc>
                <a:spcPct val="90000"/>
              </a:lnSpc>
              <a:spcAft>
                <a:spcPts val="600"/>
              </a:spcAft>
              <a:buFont typeface="Arial" panose="020B0604020202020204" pitchFamily="34" charset="0"/>
              <a:buChar char="•"/>
            </a:pPr>
            <a:r>
              <a:rPr lang="en-US" sz="1400" b="1" dirty="0">
                <a:solidFill>
                  <a:schemeClr val="tx1">
                    <a:lumMod val="65000"/>
                    <a:lumOff val="35000"/>
                  </a:schemeClr>
                </a:solidFill>
              </a:rPr>
              <a:t>Reduce patient waiting time by 20–30%</a:t>
            </a:r>
            <a:r>
              <a:rPr lang="en-US" sz="1400" dirty="0">
                <a:solidFill>
                  <a:schemeClr val="tx1">
                    <a:lumMod val="65000"/>
                    <a:lumOff val="35000"/>
                  </a:schemeClr>
                </a:solidFill>
              </a:rPr>
              <a:t> across registration, consultation, and diagnostics processes.</a:t>
            </a:r>
          </a:p>
          <a:p>
            <a:pPr indent="-228600">
              <a:lnSpc>
                <a:spcPct val="90000"/>
              </a:lnSpc>
              <a:spcAft>
                <a:spcPts val="600"/>
              </a:spcAft>
              <a:buFont typeface="Arial" panose="020B0604020202020204" pitchFamily="34" charset="0"/>
              <a:buChar char="•"/>
            </a:pPr>
            <a:r>
              <a:rPr lang="en-US" sz="1400" b="1" dirty="0">
                <a:solidFill>
                  <a:schemeClr val="tx1">
                    <a:lumMod val="65000"/>
                    <a:lumOff val="35000"/>
                  </a:schemeClr>
                </a:solidFill>
              </a:rPr>
              <a:t>Improve staff scheduling efficiency</a:t>
            </a:r>
            <a:r>
              <a:rPr lang="en-US" sz="1400" dirty="0">
                <a:solidFill>
                  <a:schemeClr val="tx1">
                    <a:lumMod val="65000"/>
                    <a:lumOff val="35000"/>
                  </a:schemeClr>
                </a:solidFill>
              </a:rPr>
              <a:t>, ensuring the right number of staff are available during peak hours.</a:t>
            </a:r>
          </a:p>
          <a:p>
            <a:pPr indent="-228600">
              <a:lnSpc>
                <a:spcPct val="90000"/>
              </a:lnSpc>
              <a:spcAft>
                <a:spcPts val="600"/>
              </a:spcAft>
              <a:buFont typeface="Arial" panose="020B0604020202020204" pitchFamily="34" charset="0"/>
              <a:buChar char="•"/>
            </a:pPr>
            <a:r>
              <a:rPr lang="en-US" sz="1400" b="1" dirty="0">
                <a:solidFill>
                  <a:schemeClr val="tx1">
                    <a:lumMod val="65000"/>
                    <a:lumOff val="35000"/>
                  </a:schemeClr>
                </a:solidFill>
              </a:rPr>
              <a:t>Increase hospital resource utilization</a:t>
            </a:r>
            <a:r>
              <a:rPr lang="en-US" sz="1400" dirty="0">
                <a:solidFill>
                  <a:schemeClr val="tx1">
                    <a:lumMod val="65000"/>
                    <a:lumOff val="35000"/>
                  </a:schemeClr>
                </a:solidFill>
              </a:rPr>
              <a:t>, including beds, diagnostic equipment, and operating rooms.</a:t>
            </a:r>
          </a:p>
          <a:p>
            <a:pPr indent="-228600">
              <a:lnSpc>
                <a:spcPct val="90000"/>
              </a:lnSpc>
              <a:spcAft>
                <a:spcPts val="600"/>
              </a:spcAft>
              <a:buFont typeface="Arial" panose="020B0604020202020204" pitchFamily="34" charset="0"/>
              <a:buChar char="•"/>
            </a:pPr>
            <a:r>
              <a:rPr lang="en-US" sz="1400" b="1" dirty="0">
                <a:solidFill>
                  <a:schemeClr val="tx1">
                    <a:lumMod val="65000"/>
                    <a:lumOff val="35000"/>
                  </a:schemeClr>
                </a:solidFill>
              </a:rPr>
              <a:t>Improve communication between departments</a:t>
            </a:r>
            <a:r>
              <a:rPr lang="en-US" sz="1400" dirty="0">
                <a:solidFill>
                  <a:schemeClr val="tx1">
                    <a:lumMod val="65000"/>
                    <a:lumOff val="35000"/>
                  </a:schemeClr>
                </a:solidFill>
              </a:rPr>
              <a:t>, reducing delays in patient movement and coordination.</a:t>
            </a:r>
          </a:p>
          <a:p>
            <a:pPr indent="-228600">
              <a:lnSpc>
                <a:spcPct val="90000"/>
              </a:lnSpc>
              <a:spcAft>
                <a:spcPts val="600"/>
              </a:spcAft>
              <a:buFont typeface="Arial" panose="020B0604020202020204" pitchFamily="34" charset="0"/>
              <a:buChar char="•"/>
            </a:pPr>
            <a:r>
              <a:rPr lang="en-US" sz="1400" b="1" dirty="0">
                <a:solidFill>
                  <a:schemeClr val="tx1">
                    <a:lumMod val="65000"/>
                    <a:lumOff val="35000"/>
                  </a:schemeClr>
                </a:solidFill>
              </a:rPr>
              <a:t>Reduce manual paperwork and administrative workload</a:t>
            </a:r>
            <a:r>
              <a:rPr lang="en-US" sz="1400" dirty="0">
                <a:solidFill>
                  <a:schemeClr val="tx1">
                    <a:lumMod val="65000"/>
                    <a:lumOff val="35000"/>
                  </a:schemeClr>
                </a:solidFill>
              </a:rPr>
              <a:t> through digital registration and automated workflows.</a:t>
            </a:r>
          </a:p>
          <a:p>
            <a:pPr indent="-228600">
              <a:lnSpc>
                <a:spcPct val="90000"/>
              </a:lnSpc>
              <a:spcAft>
                <a:spcPts val="600"/>
              </a:spcAft>
              <a:buFont typeface="Arial" panose="020B0604020202020204" pitchFamily="34" charset="0"/>
              <a:buChar char="•"/>
            </a:pPr>
            <a:r>
              <a:rPr lang="en-US" sz="1400" b="1" dirty="0">
                <a:solidFill>
                  <a:schemeClr val="tx1">
                    <a:lumMod val="65000"/>
                    <a:lumOff val="35000"/>
                  </a:schemeClr>
                </a:solidFill>
              </a:rPr>
              <a:t>Enhance overall patient experience</a:t>
            </a:r>
            <a:r>
              <a:rPr lang="en-US" sz="1400" dirty="0">
                <a:solidFill>
                  <a:schemeClr val="tx1">
                    <a:lumMod val="65000"/>
                    <a:lumOff val="35000"/>
                  </a:schemeClr>
                </a:solidFill>
              </a:rPr>
              <a:t> by providing faster, more organized, and efficient healthcare services.</a:t>
            </a:r>
          </a:p>
        </p:txBody>
      </p:sp>
    </p:spTree>
    <p:extLst>
      <p:ext uri="{BB962C8B-B14F-4D97-AF65-F5344CB8AC3E}">
        <p14:creationId xmlns:p14="http://schemas.microsoft.com/office/powerpoint/2010/main" val="30825454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CB299CAB-C506-454B-90FC-406572829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8D99311-F254-40F1-8AB5-EE3E7B9B68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1758576"/>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7D89E3CB-00ED-4691-9F0F-F23EA35647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016" y="2444376"/>
            <a:ext cx="10824184" cy="3727824"/>
          </a:xfrm>
          <a:prstGeom prst="rect">
            <a:avLst/>
          </a:prstGeom>
          <a:solidFill>
            <a:schemeClr val="accent2">
              <a:lumMod val="20000"/>
              <a:lumOff val="80000"/>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A10D832-0052-5154-16B5-17C854E0D96A}"/>
              </a:ext>
            </a:extLst>
          </p:cNvPr>
          <p:cNvSpPr txBox="1"/>
          <p:nvPr/>
        </p:nvSpPr>
        <p:spPr>
          <a:xfrm>
            <a:off x="1476906" y="2152095"/>
            <a:ext cx="8959892" cy="2828543"/>
          </a:xfrm>
          <a:prstGeom prst="rect">
            <a:avLst/>
          </a:prstGeom>
        </p:spPr>
        <p:txBody>
          <a:bodyPr vert="horz" lIns="91440" tIns="45720" rIns="91440" bIns="45720" rtlCol="0" anchor="t">
            <a:normAutofit/>
          </a:bodyPr>
          <a:lstStyle/>
          <a:p>
            <a:pPr>
              <a:lnSpc>
                <a:spcPct val="90000"/>
              </a:lnSpc>
              <a:spcAft>
                <a:spcPts val="600"/>
              </a:spcAft>
            </a:pPr>
            <a:r>
              <a:rPr lang="en-US" sz="2000" b="1" dirty="0">
                <a:solidFill>
                  <a:schemeClr val="tx1">
                    <a:lumMod val="65000"/>
                    <a:lumOff val="35000"/>
                  </a:schemeClr>
                </a:solidFill>
              </a:rPr>
              <a:t>Conclusion</a:t>
            </a:r>
          </a:p>
          <a:p>
            <a:pPr indent="-228600">
              <a:lnSpc>
                <a:spcPct val="90000"/>
              </a:lnSpc>
              <a:spcAft>
                <a:spcPts val="600"/>
              </a:spcAft>
              <a:buFont typeface="Arial" panose="020B0604020202020204" pitchFamily="34" charset="0"/>
              <a:buChar char="•"/>
            </a:pPr>
            <a:r>
              <a:rPr lang="en-US" sz="1700" dirty="0">
                <a:solidFill>
                  <a:schemeClr val="tx1">
                    <a:lumMod val="65000"/>
                    <a:lumOff val="35000"/>
                  </a:schemeClr>
                </a:solidFill>
              </a:rPr>
              <a:t>The analysis identified key operational challenges in hospital workflows, including </a:t>
            </a:r>
            <a:r>
              <a:rPr lang="en-US" sz="1700" b="1" dirty="0">
                <a:solidFill>
                  <a:schemeClr val="tx1">
                    <a:lumMod val="65000"/>
                    <a:lumOff val="35000"/>
                  </a:schemeClr>
                </a:solidFill>
              </a:rPr>
              <a:t>long patient waiting times, inefficient staff scheduling, and manual processes</a:t>
            </a:r>
            <a:r>
              <a:rPr lang="en-US" sz="1700" dirty="0">
                <a:solidFill>
                  <a:schemeClr val="tx1">
                    <a:lumMod val="65000"/>
                    <a:lumOff val="35000"/>
                  </a:schemeClr>
                </a:solidFill>
              </a:rPr>
              <a:t>.</a:t>
            </a:r>
          </a:p>
          <a:p>
            <a:pPr indent="-228600">
              <a:lnSpc>
                <a:spcPct val="90000"/>
              </a:lnSpc>
              <a:spcAft>
                <a:spcPts val="600"/>
              </a:spcAft>
              <a:buFont typeface="Arial" panose="020B0604020202020204" pitchFamily="34" charset="0"/>
              <a:buChar char="•"/>
            </a:pPr>
            <a:r>
              <a:rPr lang="en-US" sz="1700" dirty="0">
                <a:solidFill>
                  <a:schemeClr val="tx1">
                    <a:lumMod val="65000"/>
                    <a:lumOff val="35000"/>
                  </a:schemeClr>
                </a:solidFill>
              </a:rPr>
              <a:t>Through </a:t>
            </a:r>
            <a:r>
              <a:rPr lang="en-US" sz="1700" b="1" dirty="0">
                <a:solidFill>
                  <a:schemeClr val="tx1">
                    <a:lumMod val="65000"/>
                    <a:lumOff val="35000"/>
                  </a:schemeClr>
                </a:solidFill>
              </a:rPr>
              <a:t>process analysis (AS-IS and TO-BE workflows)</a:t>
            </a:r>
            <a:r>
              <a:rPr lang="en-US" sz="1700" dirty="0">
                <a:solidFill>
                  <a:schemeClr val="tx1">
                    <a:lumMod val="65000"/>
                    <a:lumOff val="35000"/>
                  </a:schemeClr>
                </a:solidFill>
              </a:rPr>
              <a:t> and basic data insights, several opportunities for operational improvement were identified.</a:t>
            </a:r>
          </a:p>
          <a:p>
            <a:pPr indent="-228600">
              <a:lnSpc>
                <a:spcPct val="90000"/>
              </a:lnSpc>
              <a:spcAft>
                <a:spcPts val="600"/>
              </a:spcAft>
              <a:buFont typeface="Arial" panose="020B0604020202020204" pitchFamily="34" charset="0"/>
              <a:buChar char="•"/>
            </a:pPr>
            <a:r>
              <a:rPr lang="en-US" sz="1700" dirty="0">
                <a:solidFill>
                  <a:schemeClr val="tx1">
                    <a:lumMod val="65000"/>
                    <a:lumOff val="35000"/>
                  </a:schemeClr>
                </a:solidFill>
              </a:rPr>
              <a:t>The proposed solutions, including </a:t>
            </a:r>
            <a:r>
              <a:rPr lang="en-US" sz="1700" b="1" dirty="0">
                <a:solidFill>
                  <a:schemeClr val="tx1">
                    <a:lumMod val="65000"/>
                    <a:lumOff val="35000"/>
                  </a:schemeClr>
                </a:solidFill>
              </a:rPr>
              <a:t>digital patient registration, automated scheduling, and improved inter-department communication</a:t>
            </a:r>
            <a:r>
              <a:rPr lang="en-US" sz="1700" dirty="0">
                <a:solidFill>
                  <a:schemeClr val="tx1">
                    <a:lumMod val="65000"/>
                    <a:lumOff val="35000"/>
                  </a:schemeClr>
                </a:solidFill>
              </a:rPr>
              <a:t>, can streamline hospital operations.</a:t>
            </a:r>
          </a:p>
          <a:p>
            <a:pPr indent="-228600">
              <a:lnSpc>
                <a:spcPct val="90000"/>
              </a:lnSpc>
              <a:spcAft>
                <a:spcPts val="600"/>
              </a:spcAft>
              <a:buFont typeface="Arial" panose="020B0604020202020204" pitchFamily="34" charset="0"/>
              <a:buChar char="•"/>
            </a:pPr>
            <a:r>
              <a:rPr lang="en-US" sz="1700" dirty="0">
                <a:solidFill>
                  <a:schemeClr val="tx1">
                    <a:lumMod val="65000"/>
                    <a:lumOff val="35000"/>
                  </a:schemeClr>
                </a:solidFill>
              </a:rPr>
              <a:t>Implementing these improvements is expected to </a:t>
            </a:r>
            <a:r>
              <a:rPr lang="en-US" sz="1700" b="1" dirty="0">
                <a:solidFill>
                  <a:schemeClr val="tx1">
                    <a:lumMod val="65000"/>
                    <a:lumOff val="35000"/>
                  </a:schemeClr>
                </a:solidFill>
              </a:rPr>
              <a:t>reduce patient waiting time, improve resource utilization, and enhance overall patient experience</a:t>
            </a:r>
            <a:r>
              <a:rPr lang="en-US" sz="1700" dirty="0">
                <a:solidFill>
                  <a:schemeClr val="tx1">
                    <a:lumMod val="65000"/>
                    <a:lumOff val="35000"/>
                  </a:schemeClr>
                </a:solidFill>
              </a:rPr>
              <a:t>.</a:t>
            </a:r>
          </a:p>
        </p:txBody>
      </p:sp>
    </p:spTree>
    <p:extLst>
      <p:ext uri="{BB962C8B-B14F-4D97-AF65-F5344CB8AC3E}">
        <p14:creationId xmlns:p14="http://schemas.microsoft.com/office/powerpoint/2010/main" val="1883595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715</TotalTime>
  <Words>1079</Words>
  <Application>Microsoft Office PowerPoint</Application>
  <PresentationFormat>Widescreen</PresentationFormat>
  <Paragraphs>138</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Aptos</vt:lpstr>
      <vt:lpstr>Aptos Display</vt:lpstr>
      <vt:lpstr>Arial</vt:lpstr>
      <vt:lpstr>Office Theme</vt:lpstr>
      <vt:lpstr>Enhancing Operational Efficiency in a Multispecialty Hospital</vt:lpstr>
      <vt:lpstr>Project Overview:- This project analyzes operational inefficiencies in a multispecialty hospital and proposes digital workflow solutions to reduce patient wait times and improve resource utilization. </vt:lpstr>
      <vt:lpstr>PowerPoint Presentation</vt:lpstr>
      <vt:lpstr>Business Objectives:-</vt:lpstr>
      <vt:lpstr>Stakeholder Analysis:-</vt:lpstr>
      <vt:lpstr>Scope Management Plan</vt:lpstr>
      <vt:lpstr>PowerPoint Presentation</vt:lpstr>
      <vt:lpstr>PowerPoint Presentation</vt:lpstr>
      <vt:lpstr>Requirements</vt:lpstr>
      <vt:lpstr>Process Analysis  As-Is-Process:- </vt:lpstr>
      <vt:lpstr>To- be Business Process:-</vt:lpstr>
      <vt:lpstr>Data Analysis:-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Vaishnavi Ankush Suryawanshi Suryawanshi</dc:creator>
  <cp:lastModifiedBy>Vaishnavi Ankush Suryawanshi Suryawanshi</cp:lastModifiedBy>
  <cp:revision>3</cp:revision>
  <dcterms:created xsi:type="dcterms:W3CDTF">2026-03-14T08:39:23Z</dcterms:created>
  <dcterms:modified xsi:type="dcterms:W3CDTF">2026-03-16T17:28:25Z</dcterms:modified>
</cp:coreProperties>
</file>