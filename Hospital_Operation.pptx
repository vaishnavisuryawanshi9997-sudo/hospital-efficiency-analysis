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6858000" cx="12191675"/>
  <p:notesSz cx="6858000" cy="12191675"/>
  <p:embeddedFontLst>
    <p:embeddedFont>
      <p:font typeface="Instrument Sans SemiBold"/>
      <p:regular r:id="rId15"/>
      <p:bold r:id="rId16"/>
      <p:italic r:id="rId17"/>
      <p:boldItalic r:id="rId18"/>
    </p:embeddedFont>
    <p:embeddedFont>
      <p:font typeface="Instrument Sans Medium"/>
      <p:regular r:id="rId19"/>
      <p:bold r:id="rId20"/>
      <p:italic r:id="rId21"/>
      <p:boldItalic r:id="rId22"/>
    </p:embeddedFont>
    <p:embeddedFont>
      <p:font typeface="Instrument Sans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strumentSansMedium-bold.fntdata"/><Relationship Id="rId22" Type="http://schemas.openxmlformats.org/officeDocument/2006/relationships/font" Target="fonts/InstrumentSansMedium-boldItalic.fntdata"/><Relationship Id="rId21" Type="http://schemas.openxmlformats.org/officeDocument/2006/relationships/font" Target="fonts/InstrumentSansMedium-italic.fntdata"/><Relationship Id="rId24" Type="http://schemas.openxmlformats.org/officeDocument/2006/relationships/font" Target="fonts/InstrumentSans-bold.fntdata"/><Relationship Id="rId23" Type="http://schemas.openxmlformats.org/officeDocument/2006/relationships/font" Target="fonts/InstrumentSans-regular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InstrumentSans-boldItalic.fntdata"/><Relationship Id="rId25" Type="http://schemas.openxmlformats.org/officeDocument/2006/relationships/font" Target="fonts/InstrumentSans-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font" Target="fonts/InstrumentSansSemiBold-regular.fntdata"/><Relationship Id="rId14" Type="http://schemas.openxmlformats.org/officeDocument/2006/relationships/slide" Target="slides/slide10.xml"/><Relationship Id="rId17" Type="http://schemas.openxmlformats.org/officeDocument/2006/relationships/font" Target="fonts/InstrumentSansSemiBold-italic.fntdata"/><Relationship Id="rId16" Type="http://schemas.openxmlformats.org/officeDocument/2006/relationships/font" Target="fonts/InstrumentSansSemiBold-bold.fntdata"/><Relationship Id="rId19" Type="http://schemas.openxmlformats.org/officeDocument/2006/relationships/font" Target="fonts/InstrumentSansMedium-regular.fntdata"/><Relationship Id="rId18" Type="http://schemas.openxmlformats.org/officeDocument/2006/relationships/font" Target="fonts/InstrumentSansSemiBold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" name="Google Shape;16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" name="Google Shape;2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" name="Google Shape;4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" name="Google Shape;6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" name="Google Shape;100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" name="Google Shape;126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0" name="Google Shape;150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8" name="Google Shape;168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8" name="Google Shape;178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master 1">
  <p:cSld name="Slide master 1">
    <p:bg>
      <p:bgPr>
        <a:solidFill>
          <a:srgbClr val="000000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EEE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3.png"/><Relationship Id="rId4" Type="http://schemas.openxmlformats.org/officeDocument/2006/relationships/image" Target="../media/image16.png"/><Relationship Id="rId5" Type="http://schemas.openxmlformats.org/officeDocument/2006/relationships/image" Target="../media/image1.png"/><Relationship Id="rId6" Type="http://schemas.openxmlformats.org/officeDocument/2006/relationships/image" Target="../media/image5.png"/><Relationship Id="rId7" Type="http://schemas.openxmlformats.org/officeDocument/2006/relationships/image" Target="../media/image4.png"/><Relationship Id="rId8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Relationship Id="rId4" Type="http://schemas.openxmlformats.org/officeDocument/2006/relationships/image" Target="../media/image1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Relationship Id="rId4" Type="http://schemas.openxmlformats.org/officeDocument/2006/relationships/image" Target="../media/image10.png"/><Relationship Id="rId11" Type="http://schemas.openxmlformats.org/officeDocument/2006/relationships/image" Target="../media/image19.png"/><Relationship Id="rId10" Type="http://schemas.openxmlformats.org/officeDocument/2006/relationships/image" Target="../media/image17.png"/><Relationship Id="rId12" Type="http://schemas.openxmlformats.org/officeDocument/2006/relationships/image" Target="../media/image18.png"/><Relationship Id="rId9" Type="http://schemas.openxmlformats.org/officeDocument/2006/relationships/image" Target="../media/image28.png"/><Relationship Id="rId5" Type="http://schemas.openxmlformats.org/officeDocument/2006/relationships/image" Target="../media/image26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Relationship Id="rId8" Type="http://schemas.openxmlformats.org/officeDocument/2006/relationships/image" Target="../media/image2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5.png"/><Relationship Id="rId4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91215" y="0"/>
            <a:ext cx="4800480" cy="6858000"/>
          </a:xfrm>
          <a:custGeom>
            <a:rect b="b" l="l" r="r" t="t"/>
            <a:pathLst>
              <a:path extrusionOk="0" h="100000" w="100000">
                <a:moveTo>
                  <a:pt x="879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13180" y="99900"/>
                </a:lnTo>
                <a:lnTo>
                  <a:pt x="8110" y="91990"/>
                </a:lnTo>
                <a:lnTo>
                  <a:pt x="4200" y="84670"/>
                </a:lnTo>
                <a:lnTo>
                  <a:pt x="2640" y="81150"/>
                </a:lnTo>
                <a:lnTo>
                  <a:pt x="1270" y="77440"/>
                </a:lnTo>
                <a:lnTo>
                  <a:pt x="490" y="74610"/>
                </a:lnTo>
                <a:lnTo>
                  <a:pt x="0" y="71480"/>
                </a:lnTo>
                <a:lnTo>
                  <a:pt x="200" y="67290"/>
                </a:lnTo>
                <a:lnTo>
                  <a:pt x="1270" y="63280"/>
                </a:lnTo>
                <a:lnTo>
                  <a:pt x="2830" y="59860"/>
                </a:lnTo>
                <a:lnTo>
                  <a:pt x="5080" y="56050"/>
                </a:lnTo>
                <a:lnTo>
                  <a:pt x="6840" y="52540"/>
                </a:lnTo>
                <a:lnTo>
                  <a:pt x="7910" y="49610"/>
                </a:lnTo>
                <a:lnTo>
                  <a:pt x="8690" y="45700"/>
                </a:lnTo>
                <a:lnTo>
                  <a:pt x="8790" y="40140"/>
                </a:lnTo>
                <a:lnTo>
                  <a:pt x="8590" y="36520"/>
                </a:lnTo>
                <a:lnTo>
                  <a:pt x="8110" y="31930"/>
                </a:lnTo>
                <a:lnTo>
                  <a:pt x="6540" y="21970"/>
                </a:lnTo>
                <a:lnTo>
                  <a:pt x="6150" y="14750"/>
                </a:lnTo>
                <a:lnTo>
                  <a:pt x="6450" y="10350"/>
                </a:lnTo>
                <a:lnTo>
                  <a:pt x="6930" y="7030"/>
                </a:lnTo>
                <a:lnTo>
                  <a:pt x="7910" y="2640"/>
                </a:lnTo>
                <a:close/>
              </a:path>
            </a:pathLst>
          </a:custGeom>
          <a:noFill/>
          <a:ln>
            <a:noFill/>
          </a:ln>
        </p:spPr>
      </p:pic>
      <p:pic>
        <p:nvPicPr>
          <p:cNvPr descr="preencoded.png" id="20" name="Google Shape;20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224434" y="2616200"/>
            <a:ext cx="1625559" cy="1625600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4"/>
          <p:cNvSpPr/>
          <p:nvPr/>
        </p:nvSpPr>
        <p:spPr>
          <a:xfrm>
            <a:off x="661475" y="1626394"/>
            <a:ext cx="6296860" cy="11812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91C53"/>
              </a:buClr>
              <a:buSzPts val="3700"/>
              <a:buFont typeface="Instrument Sans SemiBold"/>
              <a:buNone/>
            </a:pPr>
            <a:r>
              <a:t/>
            </a:r>
            <a:endParaRPr b="0" i="0" sz="3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4"/>
          <p:cNvSpPr/>
          <p:nvPr/>
        </p:nvSpPr>
        <p:spPr>
          <a:xfrm>
            <a:off x="661475" y="2883297"/>
            <a:ext cx="6296860" cy="9449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91C53"/>
              </a:buClr>
              <a:buSzPts val="2950"/>
              <a:buFont typeface="Instrument Sans SemiBold"/>
              <a:buNone/>
            </a:pPr>
            <a:r>
              <a:rPr b="0" i="0" lang="en-US" sz="2950" u="none" cap="none" strike="noStrike">
                <a:solidFill>
                  <a:srgbClr val="091C53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Enhancing Operational Efficiency in a Multispecialty Hospital</a:t>
            </a:r>
            <a:endParaRPr b="0" i="0" sz="2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4"/>
          <p:cNvSpPr/>
          <p:nvPr/>
        </p:nvSpPr>
        <p:spPr>
          <a:xfrm>
            <a:off x="661475" y="4111724"/>
            <a:ext cx="6296860" cy="11198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1450"/>
              <a:buFont typeface="Instrument Sans Medium"/>
              <a:buNone/>
            </a:pPr>
            <a:r>
              <a:rPr b="0" i="0" lang="en-US" sz="1450" u="none" cap="none" strike="noStrike">
                <a:solidFill>
                  <a:srgbClr val="1E3063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     A data-driven analysis of patient wait times and workflow bottlenecks, with a digital-first roadmap to improve hospital operations.   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1650"/>
              </a:spcBef>
              <a:spcAft>
                <a:spcPts val="0"/>
              </a:spcAft>
              <a:buClr>
                <a:srgbClr val="1E3063"/>
              </a:buClr>
              <a:buSzPts val="1450"/>
              <a:buFont typeface="Instrument Sans Medium"/>
              <a:buNone/>
            </a:pPr>
            <a:r>
              <a:rPr b="0" i="0" lang="en-US" sz="1450" u="none" cap="none" strike="noStrike">
                <a:solidFill>
                  <a:srgbClr val="1E3063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 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oogle Shape;29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800480" cy="6858000"/>
          </a:xfrm>
          <a:custGeom>
            <a:rect b="b" l="l" r="r" t="t"/>
            <a:pathLst>
              <a:path extrusionOk="0" h="100000" w="100000">
                <a:moveTo>
                  <a:pt x="0" y="0"/>
                </a:moveTo>
                <a:lnTo>
                  <a:pt x="91210" y="0"/>
                </a:lnTo>
                <a:lnTo>
                  <a:pt x="92090" y="2640"/>
                </a:lnTo>
                <a:lnTo>
                  <a:pt x="93070" y="7030"/>
                </a:lnTo>
                <a:lnTo>
                  <a:pt x="93650" y="11330"/>
                </a:lnTo>
                <a:lnTo>
                  <a:pt x="93850" y="14750"/>
                </a:lnTo>
                <a:lnTo>
                  <a:pt x="93460" y="21970"/>
                </a:lnTo>
                <a:lnTo>
                  <a:pt x="91990" y="31150"/>
                </a:lnTo>
                <a:lnTo>
                  <a:pt x="91410" y="36520"/>
                </a:lnTo>
                <a:lnTo>
                  <a:pt x="91210" y="40040"/>
                </a:lnTo>
                <a:lnTo>
                  <a:pt x="91310" y="45700"/>
                </a:lnTo>
                <a:lnTo>
                  <a:pt x="91890" y="48930"/>
                </a:lnTo>
                <a:lnTo>
                  <a:pt x="93160" y="52540"/>
                </a:lnTo>
                <a:lnTo>
                  <a:pt x="94920" y="56050"/>
                </a:lnTo>
                <a:lnTo>
                  <a:pt x="97170" y="59860"/>
                </a:lnTo>
                <a:lnTo>
                  <a:pt x="98730" y="63280"/>
                </a:lnTo>
                <a:lnTo>
                  <a:pt x="99800" y="67290"/>
                </a:lnTo>
                <a:lnTo>
                  <a:pt x="100000" y="71480"/>
                </a:lnTo>
                <a:lnTo>
                  <a:pt x="99710" y="73630"/>
                </a:lnTo>
                <a:lnTo>
                  <a:pt x="99020" y="76460"/>
                </a:lnTo>
                <a:lnTo>
                  <a:pt x="97750" y="80180"/>
                </a:lnTo>
                <a:lnTo>
                  <a:pt x="96390" y="83400"/>
                </a:lnTo>
                <a:lnTo>
                  <a:pt x="91890" y="91990"/>
                </a:lnTo>
                <a:lnTo>
                  <a:pt x="89450" y="96000"/>
                </a:lnTo>
                <a:lnTo>
                  <a:pt x="86720" y="100000"/>
                </a:lnTo>
                <a:lnTo>
                  <a:pt x="0" y="100000"/>
                </a:lnTo>
                <a:close/>
              </a:path>
            </a:pathLst>
          </a:custGeom>
          <a:noFill/>
          <a:ln>
            <a:noFill/>
          </a:ln>
        </p:spPr>
      </p:pic>
      <p:pic>
        <p:nvPicPr>
          <p:cNvPr descr="preencoded.png" id="30" name="Google Shape;30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431" y="638373"/>
            <a:ext cx="4185835" cy="5581253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5"/>
          <p:cNvSpPr/>
          <p:nvPr/>
        </p:nvSpPr>
        <p:spPr>
          <a:xfrm>
            <a:off x="5233360" y="564753"/>
            <a:ext cx="6296860" cy="3718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91C53"/>
              </a:buClr>
              <a:buSzPts val="2300"/>
              <a:buFont typeface="Instrument Sans SemiBold"/>
              <a:buNone/>
            </a:pPr>
            <a:r>
              <a:rPr b="0" i="0" lang="en-US" sz="2300" u="none" cap="none" strike="noStrike">
                <a:solidFill>
                  <a:srgbClr val="091C53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Executive summary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5"/>
          <p:cNvSpPr/>
          <p:nvPr/>
        </p:nvSpPr>
        <p:spPr>
          <a:xfrm>
            <a:off x="5233360" y="1123950"/>
            <a:ext cx="2015182" cy="2974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91C53"/>
              </a:buClr>
              <a:buSzPts val="1850"/>
              <a:buFont typeface="Instrument Sans SemiBold"/>
              <a:buNone/>
            </a:pPr>
            <a:r>
              <a:rPr b="0" i="0" lang="en-US" sz="1850" u="none" cap="none" strike="noStrike">
                <a:solidFill>
                  <a:srgbClr val="091C53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Key headline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5"/>
          <p:cNvSpPr/>
          <p:nvPr/>
        </p:nvSpPr>
        <p:spPr>
          <a:xfrm>
            <a:off x="5233360" y="1496318"/>
            <a:ext cx="2015182" cy="10862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900"/>
              <a:buFont typeface="Instrument Sans Medium"/>
              <a:buNone/>
            </a:pPr>
            <a:r>
              <a:rPr b="0" i="0" lang="en-US" sz="900" u="none" cap="none" strike="noStrike">
                <a:solidFill>
                  <a:srgbClr val="1E3063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         Across 3 departments and 30 patient visits, the average wait time is 43.0 minutes. Department-level averages range from 28 to 56 minutes — evidence that process design, not patient volume, drives most delay.       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5"/>
          <p:cNvSpPr/>
          <p:nvPr/>
        </p:nvSpPr>
        <p:spPr>
          <a:xfrm>
            <a:off x="7545199" y="1116409"/>
            <a:ext cx="3991272" cy="6207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900"/>
              <a:buFont typeface="Instrument Sans Medium"/>
              <a:buNone/>
            </a:pPr>
            <a:r>
              <a:rPr b="0" i="0" lang="en-US" sz="900" u="none" cap="none" strike="noStrike">
                <a:solidFill>
                  <a:srgbClr val="1E3063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         Notable findings: staffing explains little of the gap hospital-wide (r=0.13). Cardiology's digital registration pilot may confound tech effect vs departmental process differences. Radiology shows a stronger staff–wait correlation (r=0.50), suggesting targeted staffing helps there.       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5" name="Google Shape;35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33360" y="2734171"/>
            <a:ext cx="297550" cy="297557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5"/>
          <p:cNvSpPr/>
          <p:nvPr/>
        </p:nvSpPr>
        <p:spPr>
          <a:xfrm>
            <a:off x="5233360" y="3125391"/>
            <a:ext cx="6296860" cy="1860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1150"/>
              <a:buFont typeface="Instrument Sans SemiBold"/>
              <a:buNone/>
            </a:pPr>
            <a:r>
              <a:rPr b="0" i="0" lang="en-US" sz="1150" u="none" cap="none" strike="noStrike">
                <a:solidFill>
                  <a:srgbClr val="1E3063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43.0 min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5"/>
          <p:cNvSpPr/>
          <p:nvPr/>
        </p:nvSpPr>
        <p:spPr>
          <a:xfrm>
            <a:off x="5233360" y="3356372"/>
            <a:ext cx="6296860" cy="1551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900"/>
              <a:buFont typeface="Instrument Sans Medium"/>
              <a:buNone/>
            </a:pPr>
            <a:r>
              <a:rPr b="0" i="0" lang="en-US" sz="900" u="none" cap="none" strike="noStrike">
                <a:solidFill>
                  <a:srgbClr val="1E3063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Overall average wait time (n=30)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8" name="Google Shape;38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233360" y="3661370"/>
            <a:ext cx="297550" cy="297557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5"/>
          <p:cNvSpPr/>
          <p:nvPr/>
        </p:nvSpPr>
        <p:spPr>
          <a:xfrm>
            <a:off x="5233360" y="4052590"/>
            <a:ext cx="6296860" cy="1860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1150"/>
              <a:buFont typeface="Instrument Sans SemiBold"/>
              <a:buNone/>
            </a:pPr>
            <a:r>
              <a:rPr b="0" i="0" lang="en-US" sz="1150" u="none" cap="none" strike="noStrike">
                <a:solidFill>
                  <a:srgbClr val="1E3063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56 vs 28 min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5"/>
          <p:cNvSpPr/>
          <p:nvPr/>
        </p:nvSpPr>
        <p:spPr>
          <a:xfrm>
            <a:off x="5233360" y="4283571"/>
            <a:ext cx="6296860" cy="1551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900"/>
              <a:buFont typeface="Instrument Sans Medium"/>
              <a:buNone/>
            </a:pPr>
            <a:r>
              <a:rPr b="0" i="0" lang="en-US" sz="900" u="none" cap="none" strike="noStrike">
                <a:solidFill>
                  <a:srgbClr val="1E3063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Widest departmental gap: Orthopedics vs Cardiology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1" name="Google Shape;41;p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233360" y="4588570"/>
            <a:ext cx="297550" cy="297557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5"/>
          <p:cNvSpPr/>
          <p:nvPr/>
        </p:nvSpPr>
        <p:spPr>
          <a:xfrm>
            <a:off x="5233360" y="4979789"/>
            <a:ext cx="6296860" cy="1860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1150"/>
              <a:buFont typeface="Instrument Sans SemiBold"/>
              <a:buNone/>
            </a:pPr>
            <a:r>
              <a:rPr b="0" i="0" lang="en-US" sz="1150" u="none" cap="none" strike="noStrike">
                <a:solidFill>
                  <a:srgbClr val="1E3063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Up to 38%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5"/>
          <p:cNvSpPr/>
          <p:nvPr/>
        </p:nvSpPr>
        <p:spPr>
          <a:xfrm>
            <a:off x="5233360" y="5210770"/>
            <a:ext cx="6296860" cy="1551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900"/>
              <a:buFont typeface="Instrument Sans Medium"/>
              <a:buNone/>
            </a:pPr>
            <a:r>
              <a:rPr b="0" i="0" lang="en-US" sz="900" u="none" cap="none" strike="noStrike">
                <a:solidFill>
                  <a:srgbClr val="1E3063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Estimated wait reduction from digital registration (pilot data)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4" name="Google Shape;44;p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233360" y="5515769"/>
            <a:ext cx="297550" cy="297557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/>
          <p:nvPr/>
        </p:nvSpPr>
        <p:spPr>
          <a:xfrm>
            <a:off x="5233360" y="5906988"/>
            <a:ext cx="6296860" cy="1860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1150"/>
              <a:buFont typeface="Instrument Sans SemiBold"/>
              <a:buNone/>
            </a:pPr>
            <a:r>
              <a:rPr b="0" i="0" lang="en-US" sz="1150" u="none" cap="none" strike="noStrike">
                <a:solidFill>
                  <a:srgbClr val="1E3063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3 departments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5"/>
          <p:cNvSpPr/>
          <p:nvPr/>
        </p:nvSpPr>
        <p:spPr>
          <a:xfrm>
            <a:off x="5233360" y="6137970"/>
            <a:ext cx="6296860" cy="1551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900"/>
              <a:buFont typeface="Instrument Sans Medium"/>
              <a:buNone/>
            </a:pPr>
            <a:r>
              <a:rPr b="0" i="0" lang="en-US" sz="900" u="none" cap="none" strike="noStrike">
                <a:solidFill>
                  <a:srgbClr val="1E3063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Cardiology, Orthopedics, Radiology analyzed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6"/>
          <p:cNvSpPr/>
          <p:nvPr/>
        </p:nvSpPr>
        <p:spPr>
          <a:xfrm>
            <a:off x="661475" y="1372394"/>
            <a:ext cx="10868745" cy="5906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91C53"/>
              </a:buClr>
              <a:buSzPts val="3700"/>
              <a:buFont typeface="Instrument Sans SemiBold"/>
              <a:buNone/>
            </a:pPr>
            <a:r>
              <a:rPr b="0" i="0" lang="en-US" sz="3700" u="none" cap="none" strike="noStrike">
                <a:solidFill>
                  <a:srgbClr val="091C53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Business problem</a:t>
            </a:r>
            <a:endParaRPr b="0" i="0" sz="3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3" name="Google Shape;53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1475" y="2341066"/>
            <a:ext cx="472468" cy="472480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/>
          <p:nvPr/>
        </p:nvSpPr>
        <p:spPr>
          <a:xfrm>
            <a:off x="661475" y="3049786"/>
            <a:ext cx="3465426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1850"/>
              <a:buFont typeface="Instrument Sans SemiBold"/>
              <a:buNone/>
            </a:pPr>
            <a:r>
              <a:rPr b="0" i="0" lang="en-US" sz="1850" u="none" cap="none" strike="noStrike">
                <a:solidFill>
                  <a:srgbClr val="1E3063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Rising wait times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6"/>
          <p:cNvSpPr/>
          <p:nvPr/>
        </p:nvSpPr>
        <p:spPr>
          <a:xfrm>
            <a:off x="661475" y="3458468"/>
            <a:ext cx="3465426" cy="1209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1450"/>
              <a:buFont typeface="Instrument Sans Medium"/>
              <a:buNone/>
            </a:pPr>
            <a:r>
              <a:rPr b="0" i="0" lang="en-US" sz="1450" u="none" cap="none" strike="noStrike">
                <a:solidFill>
                  <a:srgbClr val="1E3063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Inefficient scheduling and workflow bottlenecks increase patient waiting time across departments, degrading throughput and patient experience.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6" name="Google Shape;56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63135" y="2341066"/>
            <a:ext cx="472468" cy="47248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6"/>
          <p:cNvSpPr/>
          <p:nvPr/>
        </p:nvSpPr>
        <p:spPr>
          <a:xfrm>
            <a:off x="4363135" y="3049786"/>
            <a:ext cx="3465426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1850"/>
              <a:buFont typeface="Instrument Sans SemiBold"/>
              <a:buNone/>
            </a:pPr>
            <a:r>
              <a:rPr b="0" i="0" lang="en-US" sz="1850" u="none" cap="none" strike="noStrike">
                <a:solidFill>
                  <a:srgbClr val="1E3063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Low operational visibility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6"/>
          <p:cNvSpPr/>
          <p:nvPr/>
        </p:nvSpPr>
        <p:spPr>
          <a:xfrm>
            <a:off x="4363135" y="3458468"/>
            <a:ext cx="3465426" cy="1209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1450"/>
              <a:buFont typeface="Instrument Sans Medium"/>
              <a:buNone/>
            </a:pPr>
            <a:r>
              <a:rPr b="0" i="0" lang="en-US" sz="1450" u="none" cap="none" strike="noStrike">
                <a:solidFill>
                  <a:srgbClr val="1E3063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Staff availability, queue lengths, and diagnostic capacity are not tracked in real time — delaying tactical decisions and reallocation.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9" name="Google Shape;59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64794" y="2341066"/>
            <a:ext cx="472468" cy="472480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6"/>
          <p:cNvSpPr/>
          <p:nvPr/>
        </p:nvSpPr>
        <p:spPr>
          <a:xfrm>
            <a:off x="8064794" y="3049786"/>
            <a:ext cx="3465426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1850"/>
              <a:buFont typeface="Instrument Sans SemiBold"/>
              <a:buNone/>
            </a:pPr>
            <a:r>
              <a:rPr b="0" i="0" lang="en-US" sz="1850" u="none" cap="none" strike="noStrike">
                <a:solidFill>
                  <a:srgbClr val="1E3063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Manual administration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6"/>
          <p:cNvSpPr/>
          <p:nvPr/>
        </p:nvSpPr>
        <p:spPr>
          <a:xfrm>
            <a:off x="8064794" y="3458468"/>
            <a:ext cx="3465426" cy="1209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1450"/>
              <a:buFont typeface="Instrument Sans Medium"/>
              <a:buNone/>
            </a:pPr>
            <a:r>
              <a:rPr b="0" i="0" lang="en-US" sz="1450" u="none" cap="none" strike="noStrike">
                <a:solidFill>
                  <a:srgbClr val="1E3063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Paper-based registration and fragmented hand-offs create repeated data entry, queueing, and avoidable processing time.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6"/>
          <p:cNvSpPr/>
          <p:nvPr/>
        </p:nvSpPr>
        <p:spPr>
          <a:xfrm>
            <a:off x="661475" y="4880769"/>
            <a:ext cx="10868745" cy="6048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1450"/>
              <a:buFont typeface="Instrument Sans Medium"/>
              <a:buNone/>
            </a:pPr>
            <a:r>
              <a:rPr b="0" i="0" lang="en-US" sz="1450" u="none" cap="none" strike="noStrike">
                <a:solidFill>
                  <a:srgbClr val="1E3063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 These issues combine to produce unpredictable waits, uneven resource utilization, and diminished patient satisfaction — all addressable through process redesign and selective digital enablement.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7"/>
          <p:cNvSpPr/>
          <p:nvPr/>
        </p:nvSpPr>
        <p:spPr>
          <a:xfrm>
            <a:off x="661475" y="603151"/>
            <a:ext cx="10868745" cy="5611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91C53"/>
              </a:buClr>
              <a:buSzPts val="3500"/>
              <a:buFont typeface="Instrument Sans SemiBold"/>
              <a:buNone/>
            </a:pPr>
            <a:r>
              <a:rPr b="0" i="0" lang="en-US" sz="3500" u="none" cap="none" strike="noStrike">
                <a:solidFill>
                  <a:srgbClr val="091C53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Business objectives</a:t>
            </a:r>
            <a:endParaRPr b="0" i="0" sz="3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7"/>
          <p:cNvSpPr/>
          <p:nvPr/>
        </p:nvSpPr>
        <p:spPr>
          <a:xfrm>
            <a:off x="661475" y="1505446"/>
            <a:ext cx="10868745" cy="5601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1400"/>
              <a:buFont typeface="Instrument Sans Medium"/>
              <a:buNone/>
            </a:pPr>
            <a:r>
              <a:rPr b="0" i="0" lang="en-US" sz="1400" u="none" cap="none" strike="noStrike">
                <a:solidFill>
                  <a:srgbClr val="1E3063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     Five measurable objectives align to operational outcomes and KPIs. Targets are intentionally specific to enable post-implementation evaluation.   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0" name="Google Shape;70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1475" y="2257524"/>
            <a:ext cx="3509180" cy="1913334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7"/>
          <p:cNvSpPr/>
          <p:nvPr/>
        </p:nvSpPr>
        <p:spPr>
          <a:xfrm>
            <a:off x="967954" y="2462411"/>
            <a:ext cx="2997820" cy="2804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1750"/>
              <a:buFont typeface="Instrument Sans SemiBold"/>
              <a:buNone/>
            </a:pPr>
            <a:r>
              <a:rPr b="0" i="0" lang="en-US" sz="1750" u="none" cap="none" strike="noStrike">
                <a:solidFill>
                  <a:srgbClr val="1E3063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Reduce patient wait time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7"/>
          <p:cNvSpPr/>
          <p:nvPr/>
        </p:nvSpPr>
        <p:spPr>
          <a:xfrm>
            <a:off x="967954" y="2845197"/>
            <a:ext cx="2997820" cy="5601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1400"/>
              <a:buFont typeface="Instrument Sans Medium"/>
              <a:buNone/>
            </a:pPr>
            <a:r>
              <a:rPr b="0" i="0" lang="en-US" sz="1400" u="none" cap="none" strike="noStrike">
                <a:solidFill>
                  <a:srgbClr val="1E3063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Baseline: 43.0 min avg → Target: 30–35 min avg (20–30% reduction)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3" name="Google Shape;73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41208" y="2257524"/>
            <a:ext cx="3509180" cy="1913334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7"/>
          <p:cNvSpPr/>
          <p:nvPr/>
        </p:nvSpPr>
        <p:spPr>
          <a:xfrm>
            <a:off x="4647687" y="2462411"/>
            <a:ext cx="2997820" cy="5609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1750"/>
              <a:buFont typeface="Instrument Sans SemiBold"/>
              <a:buNone/>
            </a:pPr>
            <a:r>
              <a:rPr b="0" i="0" lang="en-US" sz="1750" u="none" cap="none" strike="noStrike">
                <a:solidFill>
                  <a:srgbClr val="1E3063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Improve staff scheduling efficiency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7"/>
          <p:cNvSpPr/>
          <p:nvPr/>
        </p:nvSpPr>
        <p:spPr>
          <a:xfrm>
            <a:off x="4647687" y="3125688"/>
            <a:ext cx="2997820" cy="8402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1400"/>
              <a:buFont typeface="Instrument Sans Medium"/>
              <a:buNone/>
            </a:pPr>
            <a:r>
              <a:rPr b="0" i="0" lang="en-US" sz="1400" u="none" cap="none" strike="noStrike">
                <a:solidFill>
                  <a:srgbClr val="1E3063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Baseline: static rosters → Target: demand-aligned shifts by department and day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6" name="Google Shape;76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0941" y="2257524"/>
            <a:ext cx="3509180" cy="1913334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7"/>
          <p:cNvSpPr/>
          <p:nvPr/>
        </p:nvSpPr>
        <p:spPr>
          <a:xfrm>
            <a:off x="8327420" y="2462411"/>
            <a:ext cx="2997820" cy="2804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1750"/>
              <a:buFont typeface="Instrument Sans SemiBold"/>
              <a:buNone/>
            </a:pPr>
            <a:r>
              <a:rPr b="0" i="0" lang="en-US" sz="1750" u="none" cap="none" strike="noStrike">
                <a:solidFill>
                  <a:srgbClr val="1E3063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Cut manual paperwork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7"/>
          <p:cNvSpPr/>
          <p:nvPr/>
        </p:nvSpPr>
        <p:spPr>
          <a:xfrm>
            <a:off x="8327420" y="2845197"/>
            <a:ext cx="2997820" cy="8402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1400"/>
              <a:buFont typeface="Instrument Sans Medium"/>
              <a:buNone/>
            </a:pPr>
            <a:r>
              <a:rPr b="0" i="0" lang="en-US" sz="1400" u="none" cap="none" strike="noStrike">
                <a:solidFill>
                  <a:srgbClr val="1E3063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Baseline: ~70% manual registration → Target: digital-first registration across departments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9" name="Google Shape;79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1475" y="4341416"/>
            <a:ext cx="3509180" cy="1913334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7"/>
          <p:cNvSpPr/>
          <p:nvPr/>
        </p:nvSpPr>
        <p:spPr>
          <a:xfrm>
            <a:off x="967954" y="4546302"/>
            <a:ext cx="2997820" cy="5609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1750"/>
              <a:buFont typeface="Instrument Sans SemiBold"/>
              <a:buNone/>
            </a:pPr>
            <a:r>
              <a:rPr b="0" i="0" lang="en-US" sz="1750" u="none" cap="none" strike="noStrike">
                <a:solidFill>
                  <a:srgbClr val="1E3063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Improve cross-department flow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7"/>
          <p:cNvSpPr/>
          <p:nvPr/>
        </p:nvSpPr>
        <p:spPr>
          <a:xfrm>
            <a:off x="967954" y="5209580"/>
            <a:ext cx="2997820" cy="8402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1400"/>
              <a:buFont typeface="Instrument Sans Medium"/>
              <a:buNone/>
            </a:pPr>
            <a:r>
              <a:rPr b="0" i="0" lang="en-US" sz="1400" u="none" cap="none" strike="noStrike">
                <a:solidFill>
                  <a:srgbClr val="1E3063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Baseline: sequential handoffs → Target: real-time notifications and dynamic routing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2" name="Google Shape;82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41208" y="4341416"/>
            <a:ext cx="3509180" cy="1913334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7"/>
          <p:cNvSpPr/>
          <p:nvPr/>
        </p:nvSpPr>
        <p:spPr>
          <a:xfrm>
            <a:off x="4647687" y="4546302"/>
            <a:ext cx="2997820" cy="2804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1750"/>
              <a:buFont typeface="Instrument Sans SemiBold"/>
              <a:buNone/>
            </a:pPr>
            <a:r>
              <a:rPr b="0" i="0" lang="en-US" sz="1750" u="none" cap="none" strike="noStrike">
                <a:solidFill>
                  <a:srgbClr val="1E3063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Enhance patient experience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7"/>
          <p:cNvSpPr/>
          <p:nvPr/>
        </p:nvSpPr>
        <p:spPr>
          <a:xfrm>
            <a:off x="4647687" y="4929088"/>
            <a:ext cx="2997820" cy="8402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1400"/>
              <a:buFont typeface="Instrument Sans Medium"/>
              <a:buNone/>
            </a:pPr>
            <a:r>
              <a:rPr b="0" i="0" lang="en-US" sz="1400" u="none" cap="none" strike="noStrike">
                <a:solidFill>
                  <a:srgbClr val="1E3063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Baseline: not measured → Target: track via standardized post-visit satisfaction score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8"/>
          <p:cNvSpPr/>
          <p:nvPr/>
        </p:nvSpPr>
        <p:spPr>
          <a:xfrm>
            <a:off x="661475" y="523677"/>
            <a:ext cx="10868745" cy="281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91C53"/>
              </a:buClr>
              <a:buSzPts val="1750"/>
              <a:buFont typeface="Instrument Sans SemiBold"/>
              <a:buNone/>
            </a:pPr>
            <a:r>
              <a:rPr b="0" i="0" lang="en-US" sz="1750" u="none" cap="none" strike="noStrike">
                <a:solidFill>
                  <a:srgbClr val="091C53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Scope management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1" name="Google Shape;91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02114" y="1938933"/>
            <a:ext cx="2379603" cy="2379663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8"/>
          <p:cNvSpPr/>
          <p:nvPr/>
        </p:nvSpPr>
        <p:spPr>
          <a:xfrm>
            <a:off x="661475" y="4367014"/>
            <a:ext cx="3660981" cy="140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91C53"/>
              </a:buClr>
              <a:buSzPts val="850"/>
              <a:buFont typeface="Instrument Sans SemiBold"/>
              <a:buNone/>
            </a:pPr>
            <a:r>
              <a:rPr b="0" i="0" lang="en-US" sz="850" u="none" cap="none" strike="noStrike">
                <a:solidFill>
                  <a:srgbClr val="091C53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In-Scope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8"/>
          <p:cNvSpPr/>
          <p:nvPr/>
        </p:nvSpPr>
        <p:spPr>
          <a:xfrm>
            <a:off x="661475" y="4551065"/>
            <a:ext cx="3660981" cy="5927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42240" lvl="0" marL="14224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700"/>
              <a:buFont typeface="Instrument Sans Medium"/>
              <a:buChar char="•"/>
            </a:pPr>
            <a:r>
              <a:rPr b="0" i="0" lang="en-US" sz="700" u="none" cap="none" strike="noStrike">
                <a:solidFill>
                  <a:srgbClr val="1E3063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Analyze workflows from registration to discharge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42240" lvl="0" marL="14224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700"/>
              <a:buFont typeface="Instrument Sans Medium"/>
              <a:buChar char="•"/>
            </a:pPr>
            <a:r>
              <a:rPr b="0" i="0" lang="en-US" sz="700" u="none" cap="none" strike="noStrike">
                <a:solidFill>
                  <a:srgbClr val="1E3063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Collect and analyze wait time, staffing, registration data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42240" lvl="0" marL="14224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700"/>
              <a:buFont typeface="Instrument Sans Medium"/>
              <a:buChar char="•"/>
            </a:pPr>
            <a:r>
              <a:rPr b="0" i="0" lang="en-US" sz="700" u="none" cap="none" strike="noStrike">
                <a:solidFill>
                  <a:srgbClr val="1E3063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Map AS-IS vs TO-BE processes and identify bottlenecks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42240" lvl="0" marL="14224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700"/>
              <a:buFont typeface="Instrument Sans Medium"/>
              <a:buChar char="•"/>
            </a:pPr>
            <a:r>
              <a:rPr b="0" i="0" lang="en-US" sz="700" u="none" cap="none" strike="noStrike">
                <a:solidFill>
                  <a:srgbClr val="1E3063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Recommend digital scheduling &amp; registration solutions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42240" lvl="0" marL="14224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700"/>
              <a:buFont typeface="Instrument Sans Medium"/>
              <a:buChar char="•"/>
            </a:pPr>
            <a:r>
              <a:rPr b="0" i="0" lang="en-US" sz="700" u="none" cap="none" strike="noStrike">
                <a:solidFill>
                  <a:srgbClr val="1E3063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Evaluate improvements using KPIs (wait time, flow efficiency)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4" name="Google Shape;94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71708" y="918567"/>
            <a:ext cx="4541922" cy="4542036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8"/>
          <p:cNvSpPr/>
          <p:nvPr/>
        </p:nvSpPr>
        <p:spPr>
          <a:xfrm>
            <a:off x="4548867" y="5509022"/>
            <a:ext cx="6987603" cy="140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91C53"/>
              </a:buClr>
              <a:buSzPts val="850"/>
              <a:buFont typeface="Instrument Sans SemiBold"/>
              <a:buNone/>
            </a:pPr>
            <a:r>
              <a:rPr b="0" i="0" lang="en-US" sz="850" u="none" cap="none" strike="noStrike">
                <a:solidFill>
                  <a:srgbClr val="091C53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Out-of-Scope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8"/>
          <p:cNvSpPr/>
          <p:nvPr/>
        </p:nvSpPr>
        <p:spPr>
          <a:xfrm>
            <a:off x="4548867" y="5693073"/>
            <a:ext cx="6987603" cy="4711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42240" lvl="0" marL="14224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700"/>
              <a:buFont typeface="Instrument Sans Medium"/>
              <a:buChar char="•"/>
            </a:pPr>
            <a:r>
              <a:rPr b="0" i="0" lang="en-US" sz="700" u="none" cap="none" strike="noStrike">
                <a:solidFill>
                  <a:srgbClr val="1E3063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Clinical treatment protocols or medical practice changes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42240" lvl="0" marL="14224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700"/>
              <a:buFont typeface="Instrument Sans Medium"/>
              <a:buChar char="•"/>
            </a:pPr>
            <a:r>
              <a:rPr b="0" i="0" lang="en-US" sz="700" u="none" cap="none" strike="noStrike">
                <a:solidFill>
                  <a:srgbClr val="1E3063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Major hiring or organizational redesign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42240" lvl="0" marL="14224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700"/>
              <a:buFont typeface="Instrument Sans Medium"/>
              <a:buChar char="•"/>
            </a:pPr>
            <a:r>
              <a:rPr b="0" i="0" lang="en-US" sz="700" u="none" cap="none" strike="noStrike">
                <a:solidFill>
                  <a:srgbClr val="1E3063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Physical construction or capital equipment procurement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42240" lvl="0" marL="14224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700"/>
              <a:buFont typeface="Instrument Sans Medium"/>
              <a:buChar char="•"/>
            </a:pPr>
            <a:r>
              <a:rPr b="0" i="0" lang="en-US" sz="700" u="none" cap="none" strike="noStrike">
                <a:solidFill>
                  <a:srgbClr val="1E3063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System upgrades unrelated to registration/scheduling/workflow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8"/>
          <p:cNvSpPr/>
          <p:nvPr/>
        </p:nvSpPr>
        <p:spPr>
          <a:xfrm>
            <a:off x="661475" y="6227663"/>
            <a:ext cx="11478330" cy="1065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700"/>
              <a:buFont typeface="Instrument Sans Medium"/>
              <a:buNone/>
            </a:pPr>
            <a:r>
              <a:rPr b="0" i="0" lang="en-US" sz="700" u="none" cap="none" strike="noStrike">
                <a:solidFill>
                  <a:srgbClr val="1E3063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 Scope boundaries maintain focus on operational processes and digital interventions that can be piloted and measured quickly.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9"/>
          <p:cNvSpPr/>
          <p:nvPr/>
        </p:nvSpPr>
        <p:spPr>
          <a:xfrm>
            <a:off x="661475" y="632619"/>
            <a:ext cx="10868745" cy="4430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91C53"/>
              </a:buClr>
              <a:buSzPts val="2750"/>
              <a:buFont typeface="Instrument Sans SemiBold"/>
              <a:buNone/>
            </a:pPr>
            <a:r>
              <a:rPr b="0" i="0" lang="en-US" sz="2750" u="none" cap="none" strike="noStrike">
                <a:solidFill>
                  <a:srgbClr val="091C53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Stakeholder analysis</a:t>
            </a:r>
            <a:endParaRPr b="0" i="0" sz="2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4" name="Google Shape;104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7825" y="1381125"/>
            <a:ext cx="2080466" cy="208051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05" name="Google Shape;105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61695" y="1381125"/>
            <a:ext cx="2080466" cy="208051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06" name="Google Shape;106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55565" y="1381125"/>
            <a:ext cx="2080466" cy="208051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07" name="Google Shape;107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249435" y="1381125"/>
            <a:ext cx="2080466" cy="208051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08" name="Google Shape;108;p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443305" y="1381125"/>
            <a:ext cx="2080466" cy="208051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09" name="Google Shape;109;p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61475" y="3674070"/>
            <a:ext cx="354401" cy="35440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9"/>
          <p:cNvSpPr/>
          <p:nvPr/>
        </p:nvSpPr>
        <p:spPr>
          <a:xfrm>
            <a:off x="661475" y="4161334"/>
            <a:ext cx="3534282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1350"/>
              <a:buFont typeface="Instrument Sans SemiBold"/>
              <a:buNone/>
            </a:pPr>
            <a:r>
              <a:rPr b="0" i="0" lang="en-US" sz="1350" u="none" cap="none" strike="noStrike">
                <a:solidFill>
                  <a:srgbClr val="1E3063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Hospital administration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9"/>
          <p:cNvSpPr/>
          <p:nvPr/>
        </p:nvSpPr>
        <p:spPr>
          <a:xfrm>
            <a:off x="661475" y="4446488"/>
            <a:ext cx="3534282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1100"/>
              <a:buFont typeface="Instrument Sans Medium"/>
              <a:buNone/>
            </a:pPr>
            <a:r>
              <a:rPr b="0" i="0" lang="en-US" sz="1100" u="none" cap="none" strike="noStrike">
                <a:solidFill>
                  <a:srgbClr val="1E3063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Decision-makers: require ROI, KPI tracking, phased rollout plan.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2" name="Google Shape;112;p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328607" y="3674070"/>
            <a:ext cx="354401" cy="354409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9"/>
          <p:cNvSpPr/>
          <p:nvPr/>
        </p:nvSpPr>
        <p:spPr>
          <a:xfrm>
            <a:off x="4328607" y="4161334"/>
            <a:ext cx="3534381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1350"/>
              <a:buFont typeface="Instrument Sans SemiBold"/>
              <a:buNone/>
            </a:pPr>
            <a:r>
              <a:rPr b="0" i="0" lang="en-US" sz="1350" u="none" cap="none" strike="noStrike">
                <a:solidFill>
                  <a:srgbClr val="1E3063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Doctors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9"/>
          <p:cNvSpPr/>
          <p:nvPr/>
        </p:nvSpPr>
        <p:spPr>
          <a:xfrm>
            <a:off x="4328607" y="4446488"/>
            <a:ext cx="3534381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1100"/>
              <a:buFont typeface="Instrument Sans Medium"/>
              <a:buNone/>
            </a:pPr>
            <a:r>
              <a:rPr b="0" i="0" lang="en-US" sz="1100" u="none" cap="none" strike="noStrike">
                <a:solidFill>
                  <a:srgbClr val="1E3063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Prioritize patient flow and minimal disruption to clinical time.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5" name="Google Shape;115;p9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995839" y="3674070"/>
            <a:ext cx="354401" cy="354409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9"/>
          <p:cNvSpPr/>
          <p:nvPr/>
        </p:nvSpPr>
        <p:spPr>
          <a:xfrm>
            <a:off x="7995839" y="4161334"/>
            <a:ext cx="3534381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1350"/>
              <a:buFont typeface="Instrument Sans SemiBold"/>
              <a:buNone/>
            </a:pPr>
            <a:r>
              <a:rPr b="0" i="0" lang="en-US" sz="1350" u="none" cap="none" strike="noStrike">
                <a:solidFill>
                  <a:srgbClr val="1E3063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Administrative staff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9"/>
          <p:cNvSpPr/>
          <p:nvPr/>
        </p:nvSpPr>
        <p:spPr>
          <a:xfrm>
            <a:off x="7995839" y="4446488"/>
            <a:ext cx="3534381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1100"/>
              <a:buFont typeface="Instrument Sans Medium"/>
              <a:buNone/>
            </a:pPr>
            <a:r>
              <a:rPr b="0" i="0" lang="en-US" sz="1100" u="none" cap="none" strike="noStrike">
                <a:solidFill>
                  <a:srgbClr val="1E3063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Need streamlined registration and lower manual workload.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8" name="Google Shape;118;p9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61475" y="5055989"/>
            <a:ext cx="354401" cy="354409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9"/>
          <p:cNvSpPr/>
          <p:nvPr/>
        </p:nvSpPr>
        <p:spPr>
          <a:xfrm>
            <a:off x="661475" y="5543252"/>
            <a:ext cx="3534282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1350"/>
              <a:buFont typeface="Instrument Sans SemiBold"/>
              <a:buNone/>
            </a:pPr>
            <a:r>
              <a:rPr b="0" i="0" lang="en-US" sz="1350" u="none" cap="none" strike="noStrike">
                <a:solidFill>
                  <a:srgbClr val="1E3063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IT department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9"/>
          <p:cNvSpPr/>
          <p:nvPr/>
        </p:nvSpPr>
        <p:spPr>
          <a:xfrm>
            <a:off x="661475" y="5828407"/>
            <a:ext cx="3534282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1100"/>
              <a:buFont typeface="Instrument Sans Medium"/>
              <a:buNone/>
            </a:pPr>
            <a:r>
              <a:rPr b="0" i="0" lang="en-US" sz="1100" u="none" cap="none" strike="noStrike">
                <a:solidFill>
                  <a:srgbClr val="1E3063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Responsible for system integration, security, and deployment feasibility.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21" name="Google Shape;121;p9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4328607" y="5055989"/>
            <a:ext cx="354401" cy="354409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9"/>
          <p:cNvSpPr/>
          <p:nvPr/>
        </p:nvSpPr>
        <p:spPr>
          <a:xfrm>
            <a:off x="4328607" y="5543252"/>
            <a:ext cx="3534381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1350"/>
              <a:buFont typeface="Instrument Sans SemiBold"/>
              <a:buNone/>
            </a:pPr>
            <a:r>
              <a:rPr b="0" i="0" lang="en-US" sz="1350" u="none" cap="none" strike="noStrike">
                <a:solidFill>
                  <a:srgbClr val="1E3063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Patients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9"/>
          <p:cNvSpPr/>
          <p:nvPr/>
        </p:nvSpPr>
        <p:spPr>
          <a:xfrm>
            <a:off x="4328607" y="5828407"/>
            <a:ext cx="3534381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1100"/>
              <a:buFont typeface="Instrument Sans Medium"/>
              <a:buNone/>
            </a:pPr>
            <a:r>
              <a:rPr b="0" i="0" lang="en-US" sz="1100" u="none" cap="none" strike="noStrike">
                <a:solidFill>
                  <a:srgbClr val="1E3063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End users: reduced waiting, clearer instructions, improved satisfaction.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0"/>
          <p:cNvSpPr/>
          <p:nvPr/>
        </p:nvSpPr>
        <p:spPr>
          <a:xfrm>
            <a:off x="661475" y="595908"/>
            <a:ext cx="10868745" cy="472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91C53"/>
              </a:buClr>
              <a:buSzPts val="2950"/>
              <a:buFont typeface="Instrument Sans SemiBold"/>
              <a:buNone/>
            </a:pPr>
            <a:r>
              <a:rPr b="0" i="0" lang="en-US" sz="2950" u="none" cap="none" strike="noStrike">
                <a:solidFill>
                  <a:srgbClr val="091C53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Methodology</a:t>
            </a:r>
            <a:endParaRPr b="0" i="0" sz="2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0"/>
          <p:cNvSpPr/>
          <p:nvPr/>
        </p:nvSpPr>
        <p:spPr>
          <a:xfrm>
            <a:off x="661475" y="1385788"/>
            <a:ext cx="302411" cy="1890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1150"/>
              <a:buFont typeface="Instrument Sans"/>
              <a:buNone/>
            </a:pPr>
            <a:r>
              <a:rPr b="0" i="0" lang="en-US" sz="1150" u="none" cap="none" strike="noStrike">
                <a:solidFill>
                  <a:srgbClr val="1E3063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01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0"/>
          <p:cNvSpPr/>
          <p:nvPr/>
        </p:nvSpPr>
        <p:spPr>
          <a:xfrm>
            <a:off x="661475" y="1623715"/>
            <a:ext cx="6935515" cy="19050"/>
          </a:xfrm>
          <a:prstGeom prst="rect">
            <a:avLst/>
          </a:prstGeom>
          <a:solidFill>
            <a:srgbClr val="84C1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10"/>
          <p:cNvSpPr/>
          <p:nvPr/>
        </p:nvSpPr>
        <p:spPr>
          <a:xfrm>
            <a:off x="661475" y="1737420"/>
            <a:ext cx="6935515" cy="236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1450"/>
              <a:buFont typeface="Instrument Sans SemiBold"/>
              <a:buNone/>
            </a:pPr>
            <a:r>
              <a:rPr b="0" i="0" lang="en-US" sz="1450" u="none" cap="none" strike="noStrike">
                <a:solidFill>
                  <a:srgbClr val="1E3063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Data collection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0"/>
          <p:cNvSpPr/>
          <p:nvPr/>
        </p:nvSpPr>
        <p:spPr>
          <a:xfrm>
            <a:off x="661475" y="2094607"/>
            <a:ext cx="6935515" cy="4353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1150"/>
              <a:buFont typeface="Instrument Sans Medium"/>
              <a:buNone/>
            </a:pPr>
            <a:r>
              <a:rPr b="0" i="0" lang="en-US" sz="1150" u="none" cap="none" strike="noStrike">
                <a:solidFill>
                  <a:srgbClr val="1E3063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30 patient visit records across Cardiology, Orthopedics &amp; Radiology: wait time, staff availability, registration type, day of week.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0"/>
          <p:cNvSpPr/>
          <p:nvPr/>
        </p:nvSpPr>
        <p:spPr>
          <a:xfrm>
            <a:off x="661475" y="2764334"/>
            <a:ext cx="302411" cy="1890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1150"/>
              <a:buFont typeface="Instrument Sans"/>
              <a:buNone/>
            </a:pPr>
            <a:r>
              <a:rPr b="0" i="0" lang="en-US" sz="1150" u="none" cap="none" strike="noStrike">
                <a:solidFill>
                  <a:srgbClr val="1E3063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02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0"/>
          <p:cNvSpPr/>
          <p:nvPr/>
        </p:nvSpPr>
        <p:spPr>
          <a:xfrm>
            <a:off x="661475" y="3002260"/>
            <a:ext cx="6935515" cy="19050"/>
          </a:xfrm>
          <a:prstGeom prst="rect">
            <a:avLst/>
          </a:prstGeom>
          <a:solidFill>
            <a:srgbClr val="84C1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10"/>
          <p:cNvSpPr/>
          <p:nvPr/>
        </p:nvSpPr>
        <p:spPr>
          <a:xfrm>
            <a:off x="661475" y="3115965"/>
            <a:ext cx="6935515" cy="236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1450"/>
              <a:buFont typeface="Instrument Sans SemiBold"/>
              <a:buNone/>
            </a:pPr>
            <a:r>
              <a:rPr b="0" i="0" lang="en-US" sz="1450" u="none" cap="none" strike="noStrike">
                <a:solidFill>
                  <a:srgbClr val="1E3063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Process mapping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0"/>
          <p:cNvSpPr/>
          <p:nvPr/>
        </p:nvSpPr>
        <p:spPr>
          <a:xfrm>
            <a:off x="661475" y="3473152"/>
            <a:ext cx="6935515" cy="2176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1150"/>
              <a:buFont typeface="Instrument Sans Medium"/>
              <a:buNone/>
            </a:pPr>
            <a:r>
              <a:rPr b="0" i="0" lang="en-US" sz="1150" u="none" cap="none" strike="noStrike">
                <a:solidFill>
                  <a:srgbClr val="1E3063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AS-IS workflows documented in Lucidchart to identify manual hand-offs and queue points.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0"/>
          <p:cNvSpPr/>
          <p:nvPr/>
        </p:nvSpPr>
        <p:spPr>
          <a:xfrm>
            <a:off x="661475" y="3925193"/>
            <a:ext cx="302411" cy="1890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1150"/>
              <a:buFont typeface="Instrument Sans"/>
              <a:buNone/>
            </a:pPr>
            <a:r>
              <a:rPr b="0" i="0" lang="en-US" sz="1150" u="none" cap="none" strike="noStrike">
                <a:solidFill>
                  <a:srgbClr val="1E3063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03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0"/>
          <p:cNvSpPr/>
          <p:nvPr/>
        </p:nvSpPr>
        <p:spPr>
          <a:xfrm>
            <a:off x="661475" y="4163120"/>
            <a:ext cx="6935515" cy="19050"/>
          </a:xfrm>
          <a:prstGeom prst="rect">
            <a:avLst/>
          </a:prstGeom>
          <a:solidFill>
            <a:srgbClr val="84C1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10"/>
          <p:cNvSpPr/>
          <p:nvPr/>
        </p:nvSpPr>
        <p:spPr>
          <a:xfrm>
            <a:off x="661475" y="4276824"/>
            <a:ext cx="6935515" cy="236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1450"/>
              <a:buFont typeface="Instrument Sans SemiBold"/>
              <a:buNone/>
            </a:pPr>
            <a:r>
              <a:rPr b="0" i="0" lang="en-US" sz="1450" u="none" cap="none" strike="noStrike">
                <a:solidFill>
                  <a:srgbClr val="1E3063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Quantitative analysis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0"/>
          <p:cNvSpPr/>
          <p:nvPr/>
        </p:nvSpPr>
        <p:spPr>
          <a:xfrm>
            <a:off x="661475" y="4634012"/>
            <a:ext cx="6935515" cy="2176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1150"/>
              <a:buFont typeface="Instrument Sans Medium"/>
              <a:buNone/>
            </a:pPr>
            <a:r>
              <a:rPr b="0" i="0" lang="en-US" sz="1150" u="none" cap="none" strike="noStrike">
                <a:solidFill>
                  <a:srgbClr val="1E3063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Pivot tables, distributions, and correlation tests in Excel to isolate drivers of wait time.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0"/>
          <p:cNvSpPr/>
          <p:nvPr/>
        </p:nvSpPr>
        <p:spPr>
          <a:xfrm>
            <a:off x="661475" y="5086052"/>
            <a:ext cx="302411" cy="1890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1150"/>
              <a:buFont typeface="Instrument Sans"/>
              <a:buNone/>
            </a:pPr>
            <a:r>
              <a:rPr b="0" i="0" lang="en-US" sz="1150" u="none" cap="none" strike="noStrike">
                <a:solidFill>
                  <a:srgbClr val="1E3063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04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0"/>
          <p:cNvSpPr/>
          <p:nvPr/>
        </p:nvSpPr>
        <p:spPr>
          <a:xfrm>
            <a:off x="661475" y="5323979"/>
            <a:ext cx="6935515" cy="19050"/>
          </a:xfrm>
          <a:prstGeom prst="rect">
            <a:avLst/>
          </a:prstGeom>
          <a:solidFill>
            <a:srgbClr val="84C1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10"/>
          <p:cNvSpPr/>
          <p:nvPr/>
        </p:nvSpPr>
        <p:spPr>
          <a:xfrm>
            <a:off x="661475" y="5437684"/>
            <a:ext cx="6935515" cy="236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1450"/>
              <a:buFont typeface="Instrument Sans SemiBold"/>
              <a:buNone/>
            </a:pPr>
            <a:r>
              <a:rPr b="0" i="0" lang="en-US" sz="1450" u="none" cap="none" strike="noStrike">
                <a:solidFill>
                  <a:srgbClr val="1E3063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Solution design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0"/>
          <p:cNvSpPr/>
          <p:nvPr/>
        </p:nvSpPr>
        <p:spPr>
          <a:xfrm>
            <a:off x="661475" y="5794871"/>
            <a:ext cx="6935515" cy="2176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1150"/>
              <a:buFont typeface="Instrument Sans Medium"/>
              <a:buNone/>
            </a:pPr>
            <a:r>
              <a:rPr b="0" i="0" lang="en-US" sz="1150" u="none" cap="none" strike="noStrike">
                <a:solidFill>
                  <a:srgbClr val="1E3063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TO-BE processes and targeted digital recommendations built around identified bottlenecks.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46" name="Google Shape;146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28610" y="1840309"/>
            <a:ext cx="2851376" cy="2851448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0"/>
          <p:cNvSpPr/>
          <p:nvPr/>
        </p:nvSpPr>
        <p:spPr>
          <a:xfrm>
            <a:off x="7972226" y="4827786"/>
            <a:ext cx="3564245" cy="870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1150"/>
              <a:buFont typeface="Instrument Sans Medium"/>
              <a:buNone/>
            </a:pPr>
            <a:r>
              <a:rPr b="0" i="0" lang="en-US" sz="1150" u="none" cap="none" strike="noStrike">
                <a:solidFill>
                  <a:srgbClr val="1E3063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 Note: sample size (n=30) is representative for an academic exercise. Recommendations include a validation phase with larger operational data prior to full rollout.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1"/>
          <p:cNvSpPr/>
          <p:nvPr/>
        </p:nvSpPr>
        <p:spPr>
          <a:xfrm>
            <a:off x="661475" y="552748"/>
            <a:ext cx="10868745" cy="5316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91C53"/>
              </a:buClr>
              <a:buSzPts val="3300"/>
              <a:buFont typeface="Instrument Sans SemiBold"/>
              <a:buNone/>
            </a:pPr>
            <a:r>
              <a:rPr b="0" i="0" lang="en-US" sz="3300" u="none" cap="none" strike="noStrike">
                <a:solidFill>
                  <a:srgbClr val="091C53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Process analysis — AS-IS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54" name="Google Shape;154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04882" y="1390551"/>
            <a:ext cx="9781831" cy="422533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1"/>
          <p:cNvSpPr/>
          <p:nvPr/>
        </p:nvSpPr>
        <p:spPr>
          <a:xfrm>
            <a:off x="3539068" y="4491137"/>
            <a:ext cx="1452433" cy="2645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1650"/>
              <a:buFont typeface="Instrument Sans SemiBold"/>
              <a:buNone/>
            </a:pPr>
            <a:r>
              <a:rPr b="0" i="0" lang="en-US" sz="1650" u="none" cap="none" strike="noStrike">
                <a:solidFill>
                  <a:srgbClr val="1E3063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Registration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1"/>
          <p:cNvSpPr/>
          <p:nvPr/>
        </p:nvSpPr>
        <p:spPr>
          <a:xfrm>
            <a:off x="3539068" y="4830924"/>
            <a:ext cx="1452433" cy="40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9000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1300"/>
              <a:buFont typeface="Instrument Sans Medium"/>
              <a:buNone/>
            </a:pPr>
            <a:r>
              <a:rPr b="0" i="0" lang="en-US" sz="1300" u="none" cap="none" strike="noStrike">
                <a:solidFill>
                  <a:srgbClr val="1E3063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manual entry; key bottleneck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1"/>
          <p:cNvSpPr/>
          <p:nvPr/>
        </p:nvSpPr>
        <p:spPr>
          <a:xfrm>
            <a:off x="7268542" y="4491137"/>
            <a:ext cx="1452433" cy="2645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91C53"/>
              </a:buClr>
              <a:buSzPts val="1650"/>
              <a:buFont typeface="Instrument Sans SemiBold"/>
              <a:buNone/>
            </a:pPr>
            <a:r>
              <a:rPr b="0" i="0" lang="en-US" sz="1650" u="none" cap="none" strike="noStrike">
                <a:solidFill>
                  <a:srgbClr val="091C53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Diagnostics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1"/>
          <p:cNvSpPr/>
          <p:nvPr/>
        </p:nvSpPr>
        <p:spPr>
          <a:xfrm>
            <a:off x="7268542" y="4830924"/>
            <a:ext cx="1452433" cy="40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9000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1300"/>
              <a:buFont typeface="Instrument Sans Medium"/>
              <a:buNone/>
            </a:pPr>
            <a:r>
              <a:rPr b="0" i="0" lang="en-US" sz="1300" u="none" cap="none" strike="noStrike">
                <a:solidFill>
                  <a:srgbClr val="1E3063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Tests and imaging performed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1"/>
          <p:cNvSpPr/>
          <p:nvPr/>
        </p:nvSpPr>
        <p:spPr>
          <a:xfrm>
            <a:off x="1678960" y="1771818"/>
            <a:ext cx="1452433" cy="2645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1650"/>
              <a:buFont typeface="Instrument Sans SemiBold"/>
              <a:buNone/>
            </a:pPr>
            <a:r>
              <a:rPr b="0" i="0" lang="en-US" sz="1650" u="none" cap="none" strike="noStrike">
                <a:solidFill>
                  <a:srgbClr val="1E3063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Arrival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1"/>
          <p:cNvSpPr/>
          <p:nvPr/>
        </p:nvSpPr>
        <p:spPr>
          <a:xfrm>
            <a:off x="1678960" y="2111604"/>
            <a:ext cx="1452433" cy="40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9000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1300"/>
              <a:buFont typeface="Instrument Sans Medium"/>
              <a:buNone/>
            </a:pPr>
            <a:r>
              <a:rPr b="0" i="0" lang="en-US" sz="1300" u="none" cap="none" strike="noStrike">
                <a:solidFill>
                  <a:srgbClr val="1E3063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Patient checks in at reception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1"/>
          <p:cNvSpPr/>
          <p:nvPr/>
        </p:nvSpPr>
        <p:spPr>
          <a:xfrm>
            <a:off x="9073245" y="1771818"/>
            <a:ext cx="1452433" cy="5290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1650"/>
              <a:buFont typeface="Instrument Sans SemiBold"/>
              <a:buNone/>
            </a:pPr>
            <a:r>
              <a:rPr b="0" i="0" lang="en-US" sz="1650" u="none" cap="none" strike="noStrike">
                <a:solidFill>
                  <a:srgbClr val="1E3063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Waiting Queue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1"/>
          <p:cNvSpPr/>
          <p:nvPr/>
        </p:nvSpPr>
        <p:spPr>
          <a:xfrm>
            <a:off x="9073245" y="2376144"/>
            <a:ext cx="1452433" cy="603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9000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1300"/>
              <a:buFont typeface="Instrument Sans Medium"/>
              <a:buNone/>
            </a:pPr>
            <a:r>
              <a:rPr b="0" i="0" lang="en-US" sz="1300" u="none" cap="none" strike="noStrike">
                <a:solidFill>
                  <a:srgbClr val="1E3063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Queueing delays; second bottleneck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1"/>
          <p:cNvSpPr/>
          <p:nvPr/>
        </p:nvSpPr>
        <p:spPr>
          <a:xfrm>
            <a:off x="5426952" y="1771818"/>
            <a:ext cx="1452433" cy="2645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91C53"/>
              </a:buClr>
              <a:buSzPts val="1650"/>
              <a:buFont typeface="Instrument Sans SemiBold"/>
              <a:buNone/>
            </a:pPr>
            <a:r>
              <a:rPr b="0" i="0" lang="en-US" sz="1650" u="none" cap="none" strike="noStrike">
                <a:solidFill>
                  <a:srgbClr val="091C53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Consultation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1"/>
          <p:cNvSpPr/>
          <p:nvPr/>
        </p:nvSpPr>
        <p:spPr>
          <a:xfrm>
            <a:off x="5426952" y="2111604"/>
            <a:ext cx="1452433" cy="40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9000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1300"/>
              <a:buFont typeface="Instrument Sans Medium"/>
              <a:buNone/>
            </a:pPr>
            <a:r>
              <a:rPr b="0" i="0" lang="en-US" sz="1300" u="none" cap="none" strike="noStrike">
                <a:solidFill>
                  <a:srgbClr val="1E3063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Doctor evaluates symptoms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1"/>
          <p:cNvSpPr/>
          <p:nvPr/>
        </p:nvSpPr>
        <p:spPr>
          <a:xfrm>
            <a:off x="661475" y="5788124"/>
            <a:ext cx="10868745" cy="5171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1300"/>
              <a:buFont typeface="Instrument Sans Medium"/>
              <a:buNone/>
            </a:pPr>
            <a:r>
              <a:rPr b="0" i="0" lang="en-US" sz="1300" u="none" cap="none" strike="noStrike">
                <a:solidFill>
                  <a:srgbClr val="1E3063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 The current flow is linear and manual: arrival → registration → consultation → diagnostics → waiting → billing/discharge. Registration and queue management are disconnected from real-time departmental load and are responsible for most delay.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2"/>
          <p:cNvSpPr/>
          <p:nvPr/>
        </p:nvSpPr>
        <p:spPr>
          <a:xfrm>
            <a:off x="661475" y="1027113"/>
            <a:ext cx="10868745" cy="5906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91C53"/>
              </a:buClr>
              <a:buSzPts val="3700"/>
              <a:buFont typeface="Instrument Sans SemiBold"/>
              <a:buNone/>
            </a:pPr>
            <a:r>
              <a:rPr b="0" i="0" lang="en-US" sz="3700" u="none" cap="none" strike="noStrike">
                <a:solidFill>
                  <a:srgbClr val="091C53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Data analysis — wait time variation</a:t>
            </a:r>
            <a:endParaRPr b="0" i="0" sz="3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72" name="Google Shape;172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1475" y="2113855"/>
            <a:ext cx="3504219" cy="3504307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12"/>
          <p:cNvSpPr/>
          <p:nvPr/>
        </p:nvSpPr>
        <p:spPr>
          <a:xfrm>
            <a:off x="4633201" y="2571353"/>
            <a:ext cx="7512854" cy="3024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1450"/>
              <a:buFont typeface="Instrument Sans Medium"/>
              <a:buNone/>
            </a:pPr>
            <a:r>
              <a:rPr b="0" i="0" lang="en-US" sz="1450" u="none" cap="none" strike="noStrike">
                <a:solidFill>
                  <a:srgbClr val="1E3063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         Wait time varies twofold across departments:       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2"/>
          <p:cNvSpPr/>
          <p:nvPr/>
        </p:nvSpPr>
        <p:spPr>
          <a:xfrm>
            <a:off x="4633201" y="3043833"/>
            <a:ext cx="6903269" cy="13418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94640" lvl="0" marL="2946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1450"/>
              <a:buFont typeface="Instrument Sans Medium"/>
              <a:buChar char="•"/>
            </a:pPr>
            <a:r>
              <a:rPr b="0" i="0" lang="en-US" sz="1450" u="none" cap="none" strike="noStrike">
                <a:solidFill>
                  <a:srgbClr val="1E3063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Orthopedics: 56 min average — slowest.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4640" lvl="0" marL="2946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1450"/>
              <a:buFont typeface="Instrument Sans Medium"/>
              <a:buChar char="•"/>
            </a:pPr>
            <a:r>
              <a:rPr b="0" i="0" lang="en-US" sz="1450" u="none" cap="none" strike="noStrike">
                <a:solidFill>
                  <a:srgbClr val="1E3063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Cardiology: 28 min average — fastest despite similar staffing.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4640" lvl="0" marL="2946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1450"/>
              <a:buFont typeface="Instrument Sans Medium"/>
              <a:buChar char="•"/>
            </a:pPr>
            <a:r>
              <a:rPr b="0" i="0" lang="en-US" sz="1450" u="none" cap="none" strike="noStrike">
                <a:solidFill>
                  <a:srgbClr val="1E3063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Radiology: 45 min average with highest variability (std dev ≈11.5 min) — least predictable.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2"/>
          <p:cNvSpPr/>
          <p:nvPr/>
        </p:nvSpPr>
        <p:spPr>
          <a:xfrm>
            <a:off x="4633201" y="4555728"/>
            <a:ext cx="6903269" cy="6048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1450"/>
              <a:buFont typeface="Instrument Sans Medium"/>
              <a:buNone/>
            </a:pPr>
            <a:r>
              <a:rPr b="0" i="0" lang="en-US" sz="1450" u="none" cap="none" strike="noStrike">
                <a:solidFill>
                  <a:srgbClr val="1E3063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 Interpretation: departmental processes and coordination explain differences more than headcount or volume.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3"/>
          <p:cNvSpPr/>
          <p:nvPr/>
        </p:nvSpPr>
        <p:spPr>
          <a:xfrm>
            <a:off x="661475" y="813792"/>
            <a:ext cx="10868745" cy="5906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91C53"/>
              </a:buClr>
              <a:buSzPts val="3700"/>
              <a:buFont typeface="Instrument Sans SemiBold"/>
              <a:buNone/>
            </a:pPr>
            <a:r>
              <a:rPr b="0" i="0" lang="en-US" sz="3700" u="none" cap="none" strike="noStrike">
                <a:solidFill>
                  <a:srgbClr val="091C53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Data analysis — staffing correlation</a:t>
            </a:r>
            <a:endParaRPr b="0" i="0" sz="3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82" name="Google Shape;182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1475" y="1900535"/>
            <a:ext cx="5203794" cy="3745805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13"/>
          <p:cNvSpPr/>
          <p:nvPr/>
        </p:nvSpPr>
        <p:spPr>
          <a:xfrm>
            <a:off x="6332776" y="1857970"/>
            <a:ext cx="5813379" cy="3024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1450"/>
              <a:buFont typeface="Instrument Sans Medium"/>
              <a:buNone/>
            </a:pPr>
            <a:r>
              <a:rPr b="0" i="0" lang="en-US" sz="1450" u="none" cap="none" strike="noStrike">
                <a:solidFill>
                  <a:srgbClr val="1E3063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         Summary:       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3"/>
          <p:cNvSpPr/>
          <p:nvPr/>
        </p:nvSpPr>
        <p:spPr>
          <a:xfrm>
            <a:off x="6332776" y="2330450"/>
            <a:ext cx="5203794" cy="19466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94640" lvl="0" marL="2946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1450"/>
              <a:buFont typeface="Instrument Sans Medium"/>
              <a:buChar char="•"/>
            </a:pPr>
            <a:r>
              <a:rPr b="0" i="0" lang="en-US" sz="1450" u="none" cap="none" strike="noStrike">
                <a:solidFill>
                  <a:srgbClr val="1E3063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Hospital-wide correlation between staff availability and wait time is negligible (r=0.13).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4640" lvl="0" marL="2946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1450"/>
              <a:buFont typeface="Instrument Sans Medium"/>
              <a:buChar char="•"/>
            </a:pPr>
            <a:r>
              <a:rPr b="0" i="0" lang="en-US" sz="1450" u="none" cap="none" strike="noStrike">
                <a:solidFill>
                  <a:srgbClr val="1E3063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Radiology is an exception (r=0.50): targeted staffing increases appear effective.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4640" lvl="0" marL="2946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1450"/>
              <a:buFont typeface="Instrument Sans Medium"/>
              <a:buChar char="•"/>
            </a:pPr>
            <a:r>
              <a:rPr b="0" i="0" lang="en-US" sz="1450" u="none" cap="none" strike="noStrike">
                <a:solidFill>
                  <a:srgbClr val="1E3063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Cardiology and Orthopedics show near-zero or negative correlations, indicating process factors dominate.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3"/>
          <p:cNvSpPr/>
          <p:nvPr/>
        </p:nvSpPr>
        <p:spPr>
          <a:xfrm>
            <a:off x="6332776" y="4489748"/>
            <a:ext cx="5203794" cy="1341834"/>
          </a:xfrm>
          <a:prstGeom prst="roundRect">
            <a:avLst>
              <a:gd fmla="val 12678" name="adj"/>
            </a:avLst>
          </a:prstGeom>
          <a:solidFill>
            <a:srgbClr val="CEE6F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6" name="Google Shape;186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21783" y="4776490"/>
            <a:ext cx="236234" cy="189012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13"/>
          <p:cNvSpPr/>
          <p:nvPr/>
        </p:nvSpPr>
        <p:spPr>
          <a:xfrm>
            <a:off x="6947024" y="4707037"/>
            <a:ext cx="4400539" cy="9072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Instrument Sans Medium"/>
              <a:buNone/>
            </a:pPr>
            <a:r>
              <a:rPr b="0" i="0" lang="en-US" sz="1450" u="none" cap="none" strike="noStrike">
                <a:solidFill>
                  <a:srgbClr val="000000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Implication: Operational interventions must combine targeted staffing (where it helps) with process redesign and digital workflow controls.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